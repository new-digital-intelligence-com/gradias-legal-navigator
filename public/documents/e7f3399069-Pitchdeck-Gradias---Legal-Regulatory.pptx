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2"/>
    <p:sldId id="257" r:id="rId3"/>
  </p:sldIdLst>
  <p:sldSz cx="12192000" cy="6858000"/>
  <p:notesSz cx="6858000" cy="9144000"/>
  <p:embeddedFontLst>
    <p:embeddedFont>
      <p:font typeface="Inter" panose="020B0604020202020204" charset="0"/>
      <p:regular r:id="rId5"/>
      <p:bold r:id="rId6"/>
      <p:italic r:id="rId7"/>
      <p:boldItalic r:id="rId8"/>
    </p:embeddedFont>
    <p:embeddedFont>
      <p:font typeface="Inter Light" panose="020B0604020202020204" charset="0"/>
      <p:regular r:id="rId9"/>
      <p:bold r:id="rId10"/>
      <p:italic r:id="rId11"/>
      <p:boldItalic r:id="rId12"/>
    </p:embeddedFont>
    <p:embeddedFont>
      <p:font typeface="Montserrat SemiBold" panose="00000700000000000000" pitchFamily="2" charset="0"/>
      <p:regular r:id="rId13"/>
      <p:bold r:id="rId14"/>
      <p:italic r:id="rId15"/>
      <p:boldItalic r:id="rId16"/>
    </p:embeddedFont>
    <p:embeddedFont>
      <p:font typeface="Poppins" panose="00000500000000000000" pitchFamily="2" charset="0"/>
      <p:regular r:id="rId17"/>
      <p:bold r:id="rId18"/>
      <p:italic r:id="rId19"/>
      <p:boldItalic r:id="rId20"/>
    </p:embeddedFont>
  </p:embeddedFontLst>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F4D372-1483-175D-CB42-E4E52CCBC817}" name="Michael Burian" initials="MB" userId="4f510493322dd37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font" Target="fonts/font12.fntdata"/><Relationship Id="rId2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tableStyles" Target="tableStyle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theme" Target="theme/theme1.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Implementation of the existing controls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Supplier DPAs: standard LLM terms can work if binding and equivalent to the school’s required protection. Obtain prior specific or general written subprocessor authorisation and give advance change notice and an opportunity to object where authorisation is general. Cover the complete service chain, not merely the model vendor. No-training settings do not replace processor terms or transfer safeguards.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Impact assessments: GRADIAS should maintain its own product risk assessment and supply data flows, risks, controls and supplier evidence. The school/controller owns the required DPIA. Covered deployers own the AI Act fundamental-rights assessment. A reusable pack supports, but does not replace, an assessment of actual local use. Consult the supervisor where the applicable unmitigated high-risk trigger requires it.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School DPA: Article 28 requires all mandatory particulars and obligations. Online acceptance must bind the responsible institution through an authorised representative. Keep the accepted version and evidence. US state contracts may need their own addenda. Standard service registration alone does not prove valid institutional authority.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Authorisation: the existing authority-outreach proposal can support adoption and engagement. It does not itself grant school approval. Verify the actual controller/deployer, required local and qualification permissions, legal basis and any consent requirements. Consent is not universally required and is not always valid in education. Check procurement, confidentiality and copyright permissions before a deployment.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Bias and accuracy: preserve teacher overrides as monitoring signals, but use independent qualified reference marking and representative validation. Test rubric-level accuracy, handwriting recognition, unjustified disparities and accessibility/accommodations. Where group data is used, establish the required legal basis and sensitive-data condition. Removing names does not demonstrate freedom from bias. Substantiate performance claims and avoid promising a legally undefined zero-bias certificate.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Recommendation only: implement the proposed teacher-control model as substantive case review by an authorised, capable teacher before a significant grade takes effect. Allow output rejection, item-level correction, evidence review and a reasoned appeal process. An appeal only after an AI decision is not equivalent to prior human decision-making. Preserve mandatory human examiners and moderation. A second-opinion label does not automatically avoid EU high-risk classification or US material-influence triggers. Document any EU Article 6(3) exception and ensure its no-profiling and other conditions hold.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Security and purpose limitation: recommended implementations include access controls, tenant separation, encryption in transit and at rest, separate identifiers, tested recovery and a data-category retention/deletion schedule covering OCR, prompts, outputs, logs and backups. Honour appeal/archive retention duties. Validate all transfer routes, including remote support. No unauthorised training, advertising or cross-customer reuse. GDPR does not universally mandate domestic hosting or a particular encryption product.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Transparency and rights: provide schools with clear notices, intended use, limitations, supplier and transfer information. Enable access, correction and applicable objection or deletion rights without conflating a mark dispute with inaccurate personal data. The processor informs the controller of a breach without undue delay and supports the controller’s statutory deadlines. Establish incident escalation, complaint handling and appeal support.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AI lifecycle and market duties: maintain intended-purpose classification, documented quality/risk controls, suitable tests and technical records. Meet applicable conformity assessment, declaration, CE marking and registration duties. Maintain required logs and post-market monitoring, train users and reassess significant changes. The institution retains its own deployment duties. Follow the rule-specific dates described on slide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Country Word documents and Questions and Answers, Questions 7–15, as of 12 September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 (Articles 5, 6, 9, 22, 28, 32–36 and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https://www.edpb.europa.eu/system/files/documents/2023-10/EDPB_guidelines_202007_controllerprocessor_final_en.pdf (paragraphs 100–110, 128–129 and section 1.6)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https://ico.org.uk/for-organisations/uk-gdpr-guidance-and-resources/controllers-and-processors/controllers-and-processors/what-does-it-mean-if-you-are-a-processor/</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https://ico.org.uk/for-organisations/uk-gdpr-guidance-and-resources/artificial-intelligence/guidance-on-ai-and-data-protection/how-do-we-ensure-fairness-in-ai/what-about-fairness-bias-and-discrimination/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https://eur-lex.europa.eu/eli/reg/2024/1689/oj/eng (Articles 6, 9–27, 43–50 and 72–73)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a:p>
            <a:r>
              <a:t>
Specific norms supporting the controls
School authorization of the teacher
AI Exam Grading - Legal and Regulatory Requirements - Germany.docx
1 Datenschutz-Grundverordnung
Verordnung (EU) 2016/679, insbesondere Art. 4–6, 9, 12–22, 24–39 und 44–49
https://eur-lex.europa.eu/legal-content/DE/TXT/?uri=CELEX:32016R0679
5 Beamtenstatusgesetz
§ 37 BeamtStG
https://www.gesetze-im-internet.de/beamtstg/__37.html
9 Schulgesetz Nordrhein-Westfalen
§§ 48, 57, 120 und 121 SchulG NRW
https://recht.nrw.de/lmi/owa/br_bes_text?anw_nr=2&amp;bes_id=7345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Impact assessments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DPA with school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18 California Education Code
§ 49073.1
https://leginfo.legislature.ca.gov/faces/codes_displaySection.xhtml?sectionNum=49073.1.&amp;lawCode=EDC
DPA with subprocessors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Evidence on bias and accuracy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9 Equality Act 2010
Sections 13, 19–21, 85, 91 and 149; applicable schedules
https://www.legislation.gov.uk/ukpga/2010/15/contents
Recommendation only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3 Grundgesetz und verfassungsrechtliches Prüfungsrecht
Art. 3 Abs. 1, 12 Abs. 1 und 19 Abs. 4 GG; BVerwG 6 B 1.16, Rn. 12–14
https://www.bverwg.de/190516B6B1.16.0
BVerwG 6 C 19.18 zur rechtlichen Festlegung des Bewertungsverfahrens
https://www.bverwg.de/100419U6C19.18.0
AI Exam Grading - Legal and Regulatory Requirements - UK.docx
4 Ofqual General Conditions of Recognition
Conditions A4, A6, A8, C1, D1, G6, H1, H2 and I1, where applicable
https://www.gov.uk/guidance/ofqual-handbook
Ofqual AI regulatory position, updated 16 July 2026
https://www.gov.uk/government/publications/ofquals-approach-to-regulating-the-use-of-artificial-intelligence-in-the-qualifications-sector/ofquals-approach-to-regulating-the-use-of-artificial-intelligence-in-the-qualifications-sector--2
AI Exam Grading - Legal and Regulatory Requirements - US.docx
28 Oklahoma Responsible Technology in Schools Act
70 O.S. § 11-120, enacted by SB 1734 of 2026
https://www.oklegislature.gov/cf_pdf/2025-26%20ENR/SB/SB1734%20ENR.PDF
Security and limited data use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Transparency and student rights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2 Data Protection Act 2018
Schedule 1; Schedule 2 Part 4 paragraph 25; section 164A
https://www.legislation.gov.uk/ukpga/2018/12/contents
AI Exam Grading - Legal and Regulatory Requirements - US.docx
1 Family Educational Rights and Privacy Act
20 USC § 1232g; 34 CFR §§ 99.3, 99.7, 99.10–22, 99.30–33
https://studentprivacy.ed.gov/ferpa
Ongoing AI and market duties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US.docx
26 California automated decisionmaking and risk assessment regulations
11 CCR §§ 7001, 7150–7157 and 7200–7222
https://cppa.ca.gov/regulations/pdf/ccpa_updates_cyber_risk_admt_appr_text.pdf
These provisions apply within the territorial, institutional and material scope and dates described in the accompanying country documents. EU/UK GDPR denotes the respective EU and UK General Data Protection Regulation. EU AI Act denotes Regulation (EU) 2024/1689 as amended. Ofqual references denote the General Conditions of Recognition. CA 11 CCR denotes title 11 of the California Code of Regulations. 70 O.S. denotes title 70 of the Oklahoma Statutes. The proposed implementation measures do not transfer the institution’s own duties to the provider.
</a:t>
            </a:r>
          </a:p>
          <a:p>
            <a:r>
              <a:t>
Institutional authority: existing approval, a central contract or delegated authority can cover the specific use. A separate approval for every teacher action is not universally required. Genuine anonymisation can remove personal-data requirements for subsequent anonymous processing; access to and anonymisation of original records still require lawful authority. Other applicable confidentiality, copyright, employment and institutional rules continue to apply. See Questions 9, 9a and 9b in AI Exam Grading - Legal and Regulatory Requirements Questions Answers.docx, GDPR Articles 5, 6, 24, 28 and 29 and recital 26, and FERPA 34 CFR § 99.31(b)(1). Questions 14 and 15 explain binding electronic processing terms under GDPR Article 28(3), (4) and (9).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preserve="1" userDrawn="1">
  <p:cSld name="Cover">
    <p:bg>
      <p:bgPr>
        <a:solidFill>
          <a:srgbClr val="89B4D6"/>
        </a:solidFill>
        <a:effectLst/>
      </p:bgPr>
    </p:bg>
    <p:spTree>
      <p:nvGrpSpPr>
        <p:cNvPr id="1" name=""/>
        <p:cNvGrpSpPr/>
        <p:nvPr/>
      </p:nvGrpSpPr>
      <p:grpSpPr>
        <a:xfrm>
          <a:off x="0" y="0"/>
          <a:ext cx="0" cy="0"/>
          <a:chOff x="0" y="0"/>
          <a:chExt cx="0" cy="0"/>
        </a:xfrm>
      </p:grpSpPr>
      <p:pic>
        <p:nvPicPr>
          <p:cNvPr id="2" name="Google Shape;93;p2"/>
          <p:cNvPicPr>
            <a:picLocks noChangeAspect="1"/>
          </p:cNvPicPr>
          <p:nvPr/>
        </p:nvPicPr>
        <p:blipFill rotWithShape="1">
          <a:blip r:embed="rId2">
            <a:alphaModFix amt="23000"/>
          </a:blip>
          <a:srcRect/>
          <a:stretch/>
        </p:blipFill>
        <p:spPr>
          <a:xfrm>
            <a:off x="3540262" y="-4983252"/>
            <a:ext cx="16824504" cy="16824504"/>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Default Slide">
    <p:spTree>
      <p:nvGrpSpPr>
        <p:cNvPr id="1" name=""/>
        <p:cNvGrpSpPr/>
        <p:nvPr/>
      </p:nvGrpSpPr>
      <p:grpSpPr>
        <a:xfrm>
          <a:off x="0" y="0"/>
          <a:ext cx="0" cy="0"/>
          <a:chOff x="0" y="0"/>
          <a:chExt cx="0" cy="0"/>
        </a:xfrm>
      </p:grpSpPr>
      <p:sp>
        <p:nvSpPr>
          <p:cNvPr id="7" name="Google Shape;7;p43">
            <a:extLst>
              <a:ext uri="{FF2B5EF4-FFF2-40B4-BE49-F238E27FC236}">
                <a16:creationId xmlns:a16="http://schemas.microsoft.com/office/drawing/2014/main" id="{D69E13AB-9D1B-4442-95D3-0878429C9C40}"/>
              </a:ext>
            </a:extLst>
          </p:cNvPr>
          <p:cNvSpPr>
            <a:spLocks noGrp="1"/>
          </p:cNvSpPr>
          <p:nvPr>
            <p:ph type="body" idx="1"/>
          </p:nvPr>
        </p:nvSpPr>
        <p:spPr>
          <a:xfrm>
            <a:off x="330200" y="272235"/>
            <a:ext cx="11655300" cy="2961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8" name="Google Shape;8;p43">
            <a:extLst>
              <a:ext uri="{FF2B5EF4-FFF2-40B4-BE49-F238E27FC236}">
                <a16:creationId xmlns:a16="http://schemas.microsoft.com/office/drawing/2014/main" id="{CC783599-0657-43D6-9563-765FF7BD06FD}"/>
              </a:ext>
            </a:extLst>
          </p:cNvPr>
          <p:cNvSpPr>
            <a:spLocks noGrp="1"/>
          </p:cNvSpPr>
          <p:nvPr>
            <p:ph type="body" idx="2"/>
          </p:nvPr>
        </p:nvSpPr>
        <p:spPr>
          <a:xfrm>
            <a:off x="330200" y="626802"/>
            <a:ext cx="11655300" cy="8478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9" name="Google Shape;9;p43">
            <a:extLst>
              <a:ext uri="{FF2B5EF4-FFF2-40B4-BE49-F238E27FC236}">
                <a16:creationId xmlns:a16="http://schemas.microsoft.com/office/drawing/2014/main" id="{979C03F3-333E-4A56-9B47-A5B0F2544E90}"/>
              </a:ext>
            </a:extLst>
          </p:cNvPr>
          <p:cNvSpPr>
            <a:spLocks noGrp="1"/>
          </p:cNvSpPr>
          <p:nvPr>
            <p:ph type="body" idx="3"/>
          </p:nvPr>
        </p:nvSpPr>
        <p:spPr>
          <a:xfrm>
            <a:off x="330199" y="1833756"/>
            <a:ext cx="11655300" cy="4258200"/>
          </a:xfrm>
          <a:prstGeom prst="rect">
            <a:avLst/>
          </a:prstGeom>
          <a:noFill/>
          <a:ln>
            <a:noFill/>
          </a:ln>
        </p:spPr>
        <p:txBody>
          <a:bodyPr spcFirstLastPara="1" wrap="square" lIns="91425" tIns="91425" rIns="91425" bIns="91425" anchor="t">
            <a:normAutofit/>
          </a:bodyPr>
          <a:lstStyle>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a:endParaRPr/>
          </a:p>
        </p:txBody>
      </p:sp>
      <p:pic>
        <p:nvPicPr>
          <p:cNvPr id="14"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reserve="1" userDrawn="1">
  <p:cSld name="Divider Page">
    <p:spTree>
      <p:nvGrpSpPr>
        <p:cNvPr id="1" name=""/>
        <p:cNvGrpSpPr/>
        <p:nvPr/>
      </p:nvGrpSpPr>
      <p:grpSpPr>
        <a:xfrm>
          <a:off x="0" y="0"/>
          <a:ext cx="0" cy="0"/>
          <a:chOff x="0" y="0"/>
          <a:chExt cx="0" cy="0"/>
        </a:xfrm>
      </p:grpSpPr>
      <p:pic>
        <p:nvPicPr>
          <p:cNvPr id="9"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
        <p:nvSpPr>
          <p:cNvPr id="3" name="Google Shape;598;p23">
            <a:extLst>
              <a:ext uri="{FF2B5EF4-FFF2-40B4-BE49-F238E27FC236}">
                <a16:creationId xmlns:a16="http://schemas.microsoft.com/office/drawing/2014/main" id="{33F2048B-42B8-87D3-6EA7-46420BEE8E8F}"/>
              </a:ext>
            </a:extLst>
          </p:cNvPr>
          <p:cNvSpPr>
            <a:spLocks noGrp="1"/>
          </p:cNvSpPr>
          <p:nvPr/>
        </p:nvSpPr>
        <p:spPr>
          <a:xfrm>
            <a:off x="1" y="1"/>
            <a:ext cx="12192000" cy="6858000"/>
          </a:xfrm>
          <a:prstGeom prst="rect">
            <a:avLst/>
          </a:prstGeom>
          <a:solidFill>
            <a:srgbClr val="5594CF"/>
          </a:solidFill>
          <a:ln>
            <a:noFill/>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a:ext uri="{FF2B5EF4-FFF2-40B4-BE49-F238E27FC236}">
                <a16:creationId xmlns:a16="http://schemas.microsoft.com/office/drawing/2014/main" id="{36272CB6-52A3-2AD4-E10A-B15939BEC421}"/>
              </a:ext>
            </a:extLst>
          </p:cNvPr>
          <p:cNvSpPr>
            <a:spLocks noGrp="1"/>
          </p:cNvSpPr>
          <p:nvPr/>
        </p:nvSpPr>
        <p:spPr>
          <a:xfrm>
            <a:off x="1" y="5468341"/>
            <a:ext cx="12191999" cy="369332"/>
          </a:xfrm>
          <a:prstGeom prst="rect">
            <a:avLst/>
          </a:prstGeom>
          <a:noFill/>
          <a:ln>
            <a:noFill/>
          </a:ln>
        </p:spPr>
        <p:txBody>
          <a:bodyPr spcFirstLastPara="1" wrap="square" lIns="91425" tIns="45700" rIns="91425" bIns="45700" anchor="t">
            <a:spAutoFit/>
          </a:bodyPr>
          <a:lstStyle/>
          <a:p>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a:ext uri="{FF2B5EF4-FFF2-40B4-BE49-F238E27FC236}">
                <a16:creationId xmlns:a16="http://schemas.microsoft.com/office/drawing/2014/main" id="{317D7568-7BEB-3E6C-345E-26CD824CABAC}"/>
              </a:ext>
            </a:extLst>
          </p:cNvPr>
          <p:cNvSpPr>
            <a:spLocks noGrp="1"/>
          </p:cNvSpPr>
          <p:nvPr/>
        </p:nvSpPr>
        <p:spPr>
          <a:xfrm>
            <a:off x="4112895" y="4146923"/>
            <a:ext cx="3966210" cy="1200329"/>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noChangeAspect="1"/>
          </p:cNvPicPr>
          <p:nvPr/>
        </p:nvPicPr>
        <p:blipFill rotWithShape="1">
          <a:blip r:embed="rId3">
            <a:alphaModFix/>
          </a:blip>
          <a:srcRect/>
          <a:stretch/>
        </p:blipFill>
        <p:spPr>
          <a:xfrm>
            <a:off x="4003729" y="883404"/>
            <a:ext cx="4184542" cy="4184542"/>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277;p9">
            <a:extLst>
              <a:ext uri="{FF2B5EF4-FFF2-40B4-BE49-F238E27FC236}">
                <a16:creationId xmlns:a16="http://schemas.microsoft.com/office/drawing/2014/main" id="{42503814-A4B8-443E-8D24-AF5979063D62}"/>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E5873CC2-2996-1BF5-9EB9-FD6BD621AAAB}"/>
              </a:ext>
            </a:extLst>
          </p:cNvPr>
          <p:cNvSpPr>
            <a:spLocks noGrp="1"/>
          </p:cNvSpPr>
          <p:nvPr>
            <p:ph type="body" idx="2"/>
          </p:nvPr>
        </p:nvSpPr>
        <p:spPr>
          <a:xfrm>
            <a:off x="330232" y="626745"/>
            <a:ext cx="11655266" cy="495300"/>
          </a:xfrm>
        </p:spPr>
        <p:txBody>
          <a:bodyPr wrap="square" lIns="0" tIns="0" rIns="0" bIns="0" anchor="ctr">
            <a:noAutofit/>
          </a:bodyPr>
          <a:lstStyle/>
          <a:p>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AI grading can be offered under country-specific rules</a:t>
            </a:r>
          </a:p>
        </p:txBody>
      </p:sp>
      <p:sp>
        <p:nvSpPr>
          <p:cNvPr id="279" name="Google Shape;279;p9">
            <a:extLst>
              <a:ext uri="{FF2B5EF4-FFF2-40B4-BE49-F238E27FC236}">
                <a16:creationId xmlns:a16="http://schemas.microsoft.com/office/drawing/2014/main" id="{08DC22B0-B55D-4D88-AFCE-7E844EEB7818}"/>
              </a:ext>
            </a:extLst>
          </p:cNvPr>
          <p:cNvSpPr>
            <a:spLocks noGrp="1"/>
          </p:cNvSpPr>
          <p:nvPr/>
        </p:nvSpPr>
        <p:spPr>
          <a:xfrm>
            <a:off x="330232"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a:ext uri="{FF2B5EF4-FFF2-40B4-BE49-F238E27FC236}">
                <a16:creationId xmlns:a16="http://schemas.microsoft.com/office/drawing/2014/main" id="{59222012-9FB4-4234-AECC-6780B8101733}"/>
              </a:ext>
            </a:extLst>
          </p:cNvPr>
          <p:cNvSpPr>
            <a:spLocks noGrp="1"/>
          </p:cNvSpPr>
          <p:nvPr/>
        </p:nvSpPr>
        <p:spPr>
          <a:xfrm>
            <a:off x="330232"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GDPR + BDSG: </a:t>
            </a:r>
            <a:r>
              <a:rPr sz="1425" b="0">
                <a:solidFill>
                  <a:srgbClr val="121A2E"/>
                </a:solidFill>
                <a:latin typeface="Arial"/>
                <a:ea typeface="Arial"/>
                <a:cs typeface="Arial"/>
              </a:rPr>
              <a:t>Lawful basis, DPAs, security and rights. DPIA and DPO where required.</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EU AI Act: </a:t>
            </a:r>
            <a:r>
              <a:rPr sz="1425" b="0">
                <a:solidFill>
                  <a:srgbClr val="121A2E"/>
                </a:solidFill>
                <a:latin typeface="Arial"/>
                <a:ea typeface="Arial"/>
                <a:cs typeface="Arial"/>
              </a:rPr>
              <a:t>Classification, testing, oversight, records and applicable conformity duties.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Examination law (GG, VwVfG): </a:t>
            </a:r>
            <a:r>
              <a:rPr sz="1425" b="0">
                <a:solidFill>
                  <a:srgbClr val="121A2E"/>
                </a:solidFill>
                <a:latin typeface="Arial"/>
                <a:ea typeface="Arial"/>
                <a:cs typeface="Arial"/>
              </a:rPr>
              <a:t>Preserve examiner judgment, equal treatment and reasoned review.</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Land school and data rules: </a:t>
            </a:r>
            <a:r>
              <a:rPr sz="1425" b="0">
                <a:solidFill>
                  <a:srgbClr val="121A2E"/>
                </a:solidFill>
                <a:latin typeface="Arial"/>
                <a:ea typeface="Arial"/>
                <a:cs typeface="Arial"/>
              </a:rPr>
              <a:t>Authorised uses, devices and retention in NRW, BY, NI, HE and BW.</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BeamtStG + StGB: </a:t>
            </a:r>
            <a:r>
              <a:rPr sz="1425" b="0">
                <a:solidFill>
                  <a:srgbClr val="121A2E"/>
                </a:solidFill>
                <a:latin typeface="Arial"/>
                <a:ea typeface="Arial"/>
                <a:cs typeface="Arial"/>
              </a:rPr>
              <a:t>Protect confidential scripts and authorise external disclosure.</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LPVG NRW + BetrVG: </a:t>
            </a:r>
            <a:r>
              <a:rPr sz="1425" b="0">
                <a:solidFill>
                  <a:srgbClr val="121A2E"/>
                </a:solidFill>
                <a:latin typeface="Arial"/>
                <a:ea typeface="Arial"/>
                <a:cs typeface="Arial"/>
              </a:rPr>
              <a:t>Complete required staff participation for monitoring functions.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UrhG: </a:t>
            </a:r>
            <a:r>
              <a:rPr sz="1425" b="0">
                <a:solidFill>
                  <a:srgbClr val="121A2E"/>
                </a:solidFill>
                <a:latin typeface="Arial"/>
                <a:ea typeface="Arial"/>
                <a:cs typeface="Arial"/>
              </a:rPr>
              <a:t>Secure rights to scripts and tasks. Assess model-training rights separately.</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TDDDG: </a:t>
            </a:r>
            <a:r>
              <a:rPr sz="1425" b="0">
                <a:solidFill>
                  <a:srgbClr val="121A2E"/>
                </a:solidFill>
                <a:latin typeface="Arial"/>
                <a:ea typeface="Arial"/>
                <a:cs typeface="Arial"/>
              </a:rPr>
              <a:t>Obtain device-access consent unless an exception applies.</a:t>
            </a:r>
          </a:p>
        </p:txBody>
      </p:sp>
      <p:sp>
        <p:nvSpPr>
          <p:cNvPr id="281" name="Google Shape;281;p9">
            <a:extLst>
              <a:ext uri="{FF2B5EF4-FFF2-40B4-BE49-F238E27FC236}">
                <a16:creationId xmlns:a16="http://schemas.microsoft.com/office/drawing/2014/main" id="{05E489CA-D589-4F06-B6CE-EA2E505D389D}"/>
              </a:ext>
            </a:extLst>
          </p:cNvPr>
          <p:cNvSpPr>
            <a:spLocks noGrp="1"/>
          </p:cNvSpPr>
          <p:nvPr/>
        </p:nvSpPr>
        <p:spPr>
          <a:xfrm>
            <a:off x="4109466"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a:ext uri="{FF2B5EF4-FFF2-40B4-BE49-F238E27FC236}">
                <a16:creationId xmlns:a16="http://schemas.microsoft.com/office/drawing/2014/main" id="{B7238CC7-5973-4107-A0F6-D21F3177A033}"/>
              </a:ext>
            </a:extLst>
          </p:cNvPr>
          <p:cNvSpPr>
            <a:spLocks noGrp="1"/>
          </p:cNvSpPr>
          <p:nvPr/>
        </p:nvSpPr>
        <p:spPr>
          <a:xfrm>
            <a:off x="7888796"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a:ext uri="{FF2B5EF4-FFF2-40B4-BE49-F238E27FC236}">
                <a16:creationId xmlns:a16="http://schemas.microsoft.com/office/drawing/2014/main" id="{033FC2E4-5152-4F31-8D2A-55ABD1D81FA3}"/>
              </a:ext>
            </a:extLst>
          </p:cNvPr>
          <p:cNvSpPr>
            <a:spLocks noGrp="1"/>
          </p:cNvSpPr>
          <p:nvPr/>
        </p:nvSpPr>
        <p:spPr>
          <a:xfrm>
            <a:off x="4109466"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FERPA: </a:t>
            </a:r>
            <a:r>
              <a:rPr sz="1425" b="0">
                <a:solidFill>
                  <a:srgbClr val="121A2E"/>
                </a:solidFill>
                <a:latin typeface="Arial"/>
                <a:ea typeface="Arial"/>
                <a:cs typeface="Arial"/>
              </a:rPr>
              <a:t>Lawful disclosure, school control, purpose limits and student rights.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State student-data laws: </a:t>
            </a:r>
            <a:r>
              <a:rPr sz="1425" b="0">
                <a:solidFill>
                  <a:srgbClr val="121A2E"/>
                </a:solidFill>
                <a:latin typeface="Arial"/>
                <a:ea typeface="Arial"/>
                <a:cs typeface="Arial"/>
              </a:rPr>
              <a:t>Contracts, security, deletion and use limits.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CCPA + privacy/biometric laws: </a:t>
            </a:r>
            <a:r>
              <a:rPr sz="1425" b="0">
                <a:solidFill>
                  <a:srgbClr val="121A2E"/>
                </a:solidFill>
                <a:latin typeface="Arial"/>
                <a:ea typeface="Arial"/>
                <a:cs typeface="Arial"/>
              </a:rPr>
              <a:t>Triggered rights, consent and profiling safeguards.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AI / ADMT rules: </a:t>
            </a:r>
            <a:r>
              <a:rPr sz="1425" b="0">
                <a:solidFill>
                  <a:srgbClr val="121A2E"/>
                </a:solidFill>
                <a:latin typeface="Arial"/>
                <a:ea typeface="Arial"/>
                <a:cs typeface="Arial"/>
              </a:rPr>
              <a:t>OK bars primary AI grading. CO/CA duties from 2027.</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COPPA + PPRA: </a:t>
            </a:r>
            <a:r>
              <a:rPr sz="1425" b="0">
                <a:solidFill>
                  <a:srgbClr val="121A2E"/>
                </a:solidFill>
                <a:latin typeface="Arial"/>
                <a:ea typeface="Arial"/>
                <a:cs typeface="Arial"/>
              </a:rPr>
              <a:t>Triggered consent, notices and opt-outs for child collection or surveys.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Title VI/IX, ADA, IDEA, §§504/508: </a:t>
            </a:r>
            <a:r>
              <a:rPr sz="1425" b="0">
                <a:solidFill>
                  <a:srgbClr val="121A2E"/>
                </a:solidFill>
                <a:latin typeface="Arial"/>
                <a:ea typeface="Arial"/>
                <a:cs typeface="Arial"/>
              </a:rPr>
              <a:t>Fair assessment, accessibility and accommodations.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34 CFR 600.2: </a:t>
            </a:r>
            <a:r>
              <a:rPr sz="1425" b="0">
                <a:solidFill>
                  <a:srgbClr val="121A2E"/>
                </a:solidFill>
                <a:latin typeface="Arial"/>
                <a:ea typeface="Arial"/>
                <a:cs typeface="Arial"/>
              </a:rPr>
              <a:t>Instructor interaction in covered distance education.</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FTC Act + copyright + contracts: </a:t>
            </a:r>
            <a:r>
              <a:rPr sz="1425" b="0">
                <a:solidFill>
                  <a:srgbClr val="121A2E"/>
                </a:solidFill>
                <a:latin typeface="Arial"/>
                <a:ea typeface="Arial"/>
                <a:cs typeface="Arial"/>
              </a:rPr>
              <a:t>Evidence claims, secure rights and honour terms.</a:t>
            </a:r>
          </a:p>
        </p:txBody>
      </p:sp>
      <p:sp>
        <p:nvSpPr>
          <p:cNvPr id="284" name="Google Shape;284;p9">
            <a:extLst>
              <a:ext uri="{FF2B5EF4-FFF2-40B4-BE49-F238E27FC236}">
                <a16:creationId xmlns:a16="http://schemas.microsoft.com/office/drawing/2014/main" id="{70F4B0DD-CC06-445A-81AB-962000F8FF76}"/>
              </a:ext>
            </a:extLst>
          </p:cNvPr>
          <p:cNvSpPr>
            <a:spLocks noGrp="1"/>
          </p:cNvSpPr>
          <p:nvPr/>
        </p:nvSpPr>
        <p:spPr>
          <a:xfrm>
            <a:off x="7888796"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UK GDPR + DPA 2018: </a:t>
            </a:r>
            <a:r>
              <a:rPr sz="1425" b="0">
                <a:solidFill>
                  <a:srgbClr val="121A2E"/>
                </a:solidFill>
                <a:latin typeface="Arial"/>
                <a:ea typeface="Arial"/>
                <a:cs typeface="Arial"/>
              </a:rPr>
              <a:t>Lawful basis, DPAs, security, rights and required risk/decision safeguards.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Ofqual + awarding rules: </a:t>
            </a:r>
            <a:r>
              <a:rPr sz="1425" b="0">
                <a:solidFill>
                  <a:srgbClr val="121A2E"/>
                </a:solidFill>
                <a:latin typeface="Arial"/>
                <a:ea typeface="Arial"/>
                <a:cs typeface="Arial"/>
              </a:rPr>
              <a:t>No sole AI marking of regulated exams in England.</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Devolved qualification rules + OfS B4: </a:t>
            </a:r>
            <a:r>
              <a:rPr sz="1425" b="0">
                <a:solidFill>
                  <a:srgbClr val="121A2E"/>
                </a:solidFill>
                <a:latin typeface="Arial"/>
                <a:ea typeface="Arial"/>
                <a:cs typeface="Arial"/>
              </a:rPr>
              <a:t>Valid marking, moderation and appeals.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Equality Act + NI laws: </a:t>
            </a:r>
            <a:r>
              <a:rPr sz="1425" b="0">
                <a:solidFill>
                  <a:srgbClr val="121A2E"/>
                </a:solidFill>
                <a:latin typeface="Arial"/>
                <a:ea typeface="Arial"/>
                <a:cs typeface="Arial"/>
              </a:rPr>
              <a:t>No discrimination. Apply required adjustments.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Children’s code: </a:t>
            </a:r>
            <a:r>
              <a:rPr sz="1425" b="0">
                <a:solidFill>
                  <a:srgbClr val="121A2E"/>
                </a:solidFill>
                <a:latin typeface="Arial"/>
                <a:ea typeface="Arial"/>
                <a:cs typeface="Arial"/>
              </a:rPr>
              <a:t>High privacy where under-18s are likely users.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Copyright Act: </a:t>
            </a:r>
            <a:r>
              <a:rPr sz="1425" b="0">
                <a:solidFill>
                  <a:srgbClr val="121A2E"/>
                </a:solidFill>
                <a:latin typeface="Arial"/>
                <a:ea typeface="Arial"/>
                <a:cs typeface="Arial"/>
              </a:rPr>
              <a:t>Rights for scripts, tasks and any training use.</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Procurement Act + Scottish rules: </a:t>
            </a:r>
            <a:r>
              <a:rPr sz="1425" b="0">
                <a:solidFill>
                  <a:srgbClr val="121A2E"/>
                </a:solidFill>
                <a:latin typeface="Arial"/>
                <a:ea typeface="Arial"/>
                <a:cs typeface="Arial"/>
              </a:rPr>
              <a:t>Lawful buying and contract terms.</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PECR + DfE contract standards: </a:t>
            </a:r>
            <a:r>
              <a:rPr sz="1425" b="0">
                <a:solidFill>
                  <a:srgbClr val="121A2E"/>
                </a:solidFill>
                <a:latin typeface="Arial"/>
                <a:ea typeface="Arial"/>
                <a:cs typeface="Arial"/>
              </a:rPr>
              <a:t>Device consent where required and agreed safety controls.</a:t>
            </a:r>
          </a:p>
        </p:txBody>
      </p:sp>
      <p:sp>
        <p:nvSpPr>
          <p:cNvPr id="285" name="Country requirements scope">
            <a:extLst>
              <a:ext uri="{FF2B5EF4-FFF2-40B4-BE49-F238E27FC236}">
                <a16:creationId xmlns:a16="http://schemas.microsoft.com/office/drawing/2014/main" id="{799B15D9-36D3-4AD6-A938-4626A15BBFBF}"/>
              </a:ext>
            </a:extLst>
          </p:cNvPr>
          <p:cNvSpPr>
            <a:spLocks noGrp="1"/>
          </p:cNvSpPr>
          <p:nvPr/>
        </p:nvSpPr>
        <p:spPr>
          <a:xfrm>
            <a:off x="330232" y="6372225"/>
            <a:ext cx="10191750" cy="228600"/>
          </a:xfrm>
          <a:prstGeom prst="rect">
            <a:avLst/>
          </a:prstGeom>
          <a:noFill/>
          <a:ln w="0">
            <a:noFill/>
          </a:ln>
        </p:spPr>
        <p:txBody>
          <a:bodyPr wrap="square" lIns="0" tIns="0" rIns="0" bIns="0" anchor="ctr">
            <a:noAutofit/>
          </a:bodyPr>
          <a:lstStyle/>
          <a:p>
            <a:pPr algn="l">
              <a:buNone/>
              <a:defRPr sz="975" b="0">
                <a:solidFill>
                  <a:srgbClr val="404754"/>
                </a:solidFill>
                <a:latin typeface="Arial"/>
                <a:ea typeface="Arial"/>
                <a:cs typeface="Arial"/>
              </a:defRPr>
            </a:pPr>
            <a:r>
              <a:rPr sz="975" b="0">
                <a:solidFill>
                  <a:srgbClr val="404754"/>
                </a:solidFill>
                <a:latin typeface="Arial"/>
                <a:ea typeface="Arial"/>
                <a:cs typeface="Arial"/>
              </a:rPr>
              <a:t>Each rule applies within its scope. Regional statutes, exceptions and dates appear in the notes. 12 September 2026.</a:t>
            </a:r>
          </a:p>
        </p:txBody>
      </p:sp>
    </p:spTree>
    <p:extLst>
      <p:ext uri="{BB962C8B-B14F-4D97-AF65-F5344CB8AC3E}">
        <p14:creationId xmlns:p14="http://schemas.microsoft.com/office/powerpoint/2010/main" val="315698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277;p9">
            <a:extLst>
              <a:ext uri="{FF2B5EF4-FFF2-40B4-BE49-F238E27FC236}">
                <a16:creationId xmlns:a16="http://schemas.microsoft.com/office/drawing/2014/main" id="{851C3D03-C3AE-1FA7-6DBC-717D8B679EDD}"/>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B888E9F9-5B11-BF7C-47F8-B0F8A681D394}"/>
              </a:ext>
            </a:extLst>
          </p:cNvPr>
          <p:cNvSpPr>
            <a:spLocks noGrp="1"/>
          </p:cNvSpPr>
          <p:nvPr>
            <p:ph type="body" idx="2"/>
          </p:nvPr>
        </p:nvSpPr>
        <p:spPr>
          <a:xfrm>
            <a:off x="330232" y="626745"/>
            <a:ext cx="11655266" cy="685800"/>
          </a:xfrm>
        </p:spPr>
        <p:txBody>
          <a:bodyPr wrap="square" lIns="0" tIns="0" rIns="0" bIns="0" anchor="ctr">
            <a:noAutofit/>
          </a:bodyPr>
          <a:lstStyle/>
          <a:p>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Key controls and how GRADIAS can comply</a:t>
            </a:r>
          </a:p>
        </p:txBody>
      </p:sp>
      <p:sp>
        <p:nvSpPr>
          <p:cNvPr id="281" name="Google Shape;281;p9">
            <a:extLst>
              <a:ext uri="{FF2B5EF4-FFF2-40B4-BE49-F238E27FC236}">
                <a16:creationId xmlns:a16="http://schemas.microsoft.com/office/drawing/2014/main" id="{EE969B1F-1F14-B778-547F-F17B84A3158F}"/>
              </a:ext>
            </a:extLst>
          </p:cNvPr>
          <p:cNvSpPr>
            <a:spLocks noGrp="1"/>
          </p:cNvSpPr>
          <p:nvPr/>
        </p:nvSpPr>
        <p:spPr>
          <a:xfrm>
            <a:off x="2907887" y="1371600"/>
            <a:ext cx="2286000" cy="39366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Specific norms</a:t>
            </a:r>
            <a:endParaRPr sz="1400" b="0" i="0" u="none" cap="none">
              <a:solidFill>
                <a:schemeClr val="bg1"/>
              </a:solidFill>
              <a:latin typeface="Arial"/>
              <a:ea typeface="Arial"/>
              <a:cs typeface="Arial"/>
            </a:endParaRPr>
          </a:p>
        </p:txBody>
      </p:sp>
      <p:sp>
        <p:nvSpPr>
          <p:cNvPr id="2" name="Google Shape;281;p9">
            <a:extLst>
              <a:ext uri="{FF2B5EF4-FFF2-40B4-BE49-F238E27FC236}">
                <a16:creationId xmlns:a16="http://schemas.microsoft.com/office/drawing/2014/main" id="{D4DAF4FA-0B7D-1FFC-05D4-5E8BF1AA0A88}"/>
              </a:ext>
            </a:extLst>
          </p:cNvPr>
          <p:cNvSpPr>
            <a:spLocks noGrp="1"/>
          </p:cNvSpPr>
          <p:nvPr/>
        </p:nvSpPr>
        <p:spPr>
          <a:xfrm>
            <a:off x="5289137" y="1371600"/>
            <a:ext cx="6286500" cy="39366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How GRADIAS will comply</a:t>
            </a:r>
            <a:endParaRPr sz="1400" b="0" i="0" u="none" cap="none">
              <a:solidFill>
                <a:schemeClr val="bg1"/>
              </a:solidFill>
              <a:latin typeface="Arial"/>
              <a:ea typeface="Arial"/>
              <a:cs typeface="Arial"/>
            </a:endParaRPr>
          </a:p>
        </p:txBody>
      </p:sp>
      <p:sp>
        <p:nvSpPr>
          <p:cNvPr id="3" name="Google Shape;281;p9">
            <a:extLst>
              <a:ext uri="{FF2B5EF4-FFF2-40B4-BE49-F238E27FC236}">
                <a16:creationId xmlns:a16="http://schemas.microsoft.com/office/drawing/2014/main" id="{8AB53871-DAF0-4D8E-3AD8-28370930FABF}"/>
              </a:ext>
            </a:extLst>
          </p:cNvPr>
          <p:cNvSpPr>
            <a:spLocks noGrp="1"/>
          </p:cNvSpPr>
          <p:nvPr/>
        </p:nvSpPr>
        <p:spPr>
          <a:xfrm>
            <a:off x="621887" y="1371600"/>
            <a:ext cx="2190750" cy="393668"/>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Control</a:t>
            </a:r>
            <a:endParaRPr sz="1400" b="0" i="0" u="none" cap="none">
              <a:solidFill>
                <a:schemeClr val="bg1"/>
              </a:solidFill>
              <a:latin typeface="Arial"/>
              <a:ea typeface="Arial"/>
              <a:cs typeface="Arial"/>
            </a:endParaRPr>
          </a:p>
        </p:txBody>
      </p:sp>
      <p:sp>
        <p:nvSpPr>
          <p:cNvPr id="4" name="Google Shape;281;p9">
            <a:extLst>
              <a:ext uri="{FF2B5EF4-FFF2-40B4-BE49-F238E27FC236}">
                <a16:creationId xmlns:a16="http://schemas.microsoft.com/office/drawing/2014/main" id="{54027D23-A28C-777D-327D-0D4FCBABD961}"/>
              </a:ext>
            </a:extLst>
          </p:cNvPr>
          <p:cNvSpPr>
            <a:spLocks noGrp="1"/>
          </p:cNvSpPr>
          <p:nvPr/>
        </p:nvSpPr>
        <p:spPr>
          <a:xfrm>
            <a:off x="2907887" y="1765268"/>
            <a:ext cx="2286000" cy="914400"/>
          </a:xfrm>
          <a:prstGeom prst="rect">
            <a:avLst/>
          </a:prstGeom>
          <a:solidFill>
            <a:srgbClr val="FFC000"/>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6, 24, 29</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SchulG NRW §§ 57, 120</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FERPA 34 CFR §§ 99.30–33</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BeamtStG § 37</a:t>
            </a:r>
          </a:p>
        </p:txBody>
      </p:sp>
      <p:sp>
        <p:nvSpPr>
          <p:cNvPr id="6" name="Google Shape;281;p9">
            <a:extLst>
              <a:ext uri="{FF2B5EF4-FFF2-40B4-BE49-F238E27FC236}">
                <a16:creationId xmlns:a16="http://schemas.microsoft.com/office/drawing/2014/main" id="{C130A00B-F090-BFB1-DA0E-B316032E039A}"/>
              </a:ext>
            </a:extLst>
          </p:cNvPr>
          <p:cNvSpPr>
            <a:spLocks noGrp="1"/>
          </p:cNvSpPr>
          <p:nvPr/>
        </p:nvSpPr>
        <p:spPr>
          <a:xfrm>
            <a:off x="5289137" y="1765268"/>
            <a:ext cx="6286500" cy="914400"/>
          </a:xfrm>
          <a:prstGeom prst="rect">
            <a:avLst/>
          </a:prstGeom>
          <a:solidFill>
            <a:srgbClr val="FFC000"/>
          </a:solidFill>
          <a:ln>
            <a:solidFill>
              <a:schemeClr val="bg1">
                <a:lumMod val="75000"/>
              </a:schemeClr>
            </a:solidFill>
          </a:ln>
        </p:spPr>
        <p:txBody>
          <a:bodyPr spcFirstLastPara="1" wrap="square" lIns="95250" tIns="38100" rIns="95250" bIns="38100"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lang="en-GB" sz="1100" b="0" i="0" u="none" cap="none" dirty="0">
                <a:solidFill>
                  <a:srgbClr val="121A2E"/>
                </a:solidFill>
                <a:latin typeface="Arial"/>
                <a:ea typeface="Arial"/>
                <a:cs typeface="Arial"/>
              </a:rPr>
              <a:t>Offer full anonymization and test/experiment participation only – No authorization required – Liability risk take over guarantee</a:t>
            </a:r>
          </a:p>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lang="en-GB" sz="1100" dirty="0">
                <a:solidFill>
                  <a:srgbClr val="121A2E"/>
                </a:solidFill>
                <a:latin typeface="Arial"/>
                <a:ea typeface="Arial"/>
                <a:cs typeface="Arial"/>
              </a:rPr>
              <a:t>Seek recommendation of state level authority (</a:t>
            </a:r>
            <a:r>
              <a:rPr lang="en-GB" sz="1100" dirty="0" err="1">
                <a:solidFill>
                  <a:srgbClr val="121A2E"/>
                </a:solidFill>
                <a:latin typeface="Arial"/>
                <a:ea typeface="Arial"/>
                <a:cs typeface="Arial"/>
              </a:rPr>
              <a:t>Landesdatenschutzbeauftrager</a:t>
            </a:r>
            <a:r>
              <a:rPr lang="en-GB" sz="1100" dirty="0">
                <a:solidFill>
                  <a:srgbClr val="121A2E"/>
                </a:solidFill>
                <a:latin typeface="Arial"/>
                <a:ea typeface="Arial"/>
                <a:cs typeface="Arial"/>
              </a:rPr>
              <a:t>)</a:t>
            </a:r>
          </a:p>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lang="en-GB" sz="1100" b="0" i="0" u="none" cap="none" dirty="0">
                <a:solidFill>
                  <a:srgbClr val="121A2E"/>
                </a:solidFill>
                <a:latin typeface="Arial"/>
                <a:ea typeface="Arial"/>
                <a:cs typeface="Arial"/>
              </a:rPr>
              <a:t>Campaign into school headmasters to seek school level approval</a:t>
            </a:r>
            <a:endParaRPr sz="1050" b="0" i="0" u="none" cap="none" dirty="0">
              <a:solidFill>
                <a:srgbClr val="000000"/>
              </a:solidFill>
              <a:latin typeface="Arial"/>
              <a:ea typeface="Arial"/>
              <a:cs typeface="Arial"/>
            </a:endParaRPr>
          </a:p>
        </p:txBody>
      </p:sp>
      <p:sp>
        <p:nvSpPr>
          <p:cNvPr id="7" name="Google Shape;281;p9">
            <a:extLst>
              <a:ext uri="{FF2B5EF4-FFF2-40B4-BE49-F238E27FC236}">
                <a16:creationId xmlns:a16="http://schemas.microsoft.com/office/drawing/2014/main" id="{A198CAA6-B945-DCB5-B7E6-4D59C296D813}"/>
              </a:ext>
            </a:extLst>
          </p:cNvPr>
          <p:cNvSpPr>
            <a:spLocks noGrp="1"/>
          </p:cNvSpPr>
          <p:nvPr/>
        </p:nvSpPr>
        <p:spPr>
          <a:xfrm>
            <a:off x="621887" y="1765268"/>
            <a:ext cx="2190750" cy="914400"/>
          </a:xfrm>
          <a:prstGeom prst="rect">
            <a:avLst/>
          </a:prstGeom>
          <a:solidFill>
            <a:srgbClr val="FFC000"/>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School authorization of the teacher</a:t>
            </a:r>
            <a:endParaRPr sz="1400" b="1" i="0" u="none" cap="none">
              <a:solidFill>
                <a:srgbClr val="000000"/>
              </a:solidFill>
              <a:latin typeface="Arial"/>
              <a:ea typeface="Arial"/>
              <a:cs typeface="Arial"/>
            </a:endParaRPr>
          </a:p>
        </p:txBody>
      </p:sp>
      <p:sp>
        <p:nvSpPr>
          <p:cNvPr id="8" name="Google Shape;281;p9">
            <a:extLst>
              <a:ext uri="{FF2B5EF4-FFF2-40B4-BE49-F238E27FC236}">
                <a16:creationId xmlns:a16="http://schemas.microsoft.com/office/drawing/2014/main" id="{DE9CFA92-38F8-A7A8-E556-720E599F0CEE}"/>
              </a:ext>
            </a:extLst>
          </p:cNvPr>
          <p:cNvSpPr>
            <a:spLocks noGrp="1"/>
          </p:cNvSpPr>
          <p:nvPr/>
        </p:nvSpPr>
        <p:spPr>
          <a:xfrm>
            <a:off x="2907887" y="2679668"/>
            <a:ext cx="2286000" cy="457200"/>
          </a:xfrm>
          <a:prstGeom prst="rect">
            <a:avLst/>
          </a:prstGeom>
          <a:solidFill>
            <a:schemeClr val="bg1"/>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35–36</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27</a:t>
            </a:r>
          </a:p>
        </p:txBody>
      </p:sp>
      <p:sp>
        <p:nvSpPr>
          <p:cNvPr id="9" name="Google Shape;281;p9">
            <a:extLst>
              <a:ext uri="{FF2B5EF4-FFF2-40B4-BE49-F238E27FC236}">
                <a16:creationId xmlns:a16="http://schemas.microsoft.com/office/drawing/2014/main" id="{D32FC5FE-C28B-5522-4073-0FA2B0994BFF}"/>
              </a:ext>
            </a:extLst>
          </p:cNvPr>
          <p:cNvSpPr>
            <a:spLocks noGrp="1"/>
          </p:cNvSpPr>
          <p:nvPr/>
        </p:nvSpPr>
        <p:spPr>
          <a:xfrm>
            <a:off x="5289137" y="2679668"/>
            <a:ext cx="628650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b="0">
                <a:solidFill>
                  <a:srgbClr val="121A2E"/>
                </a:solidFill>
                <a:latin typeface="Arial"/>
                <a:ea typeface="Arial"/>
                <a:cs typeface="Arial"/>
              </a:rPr>
              <a:t>Assess product risks. Help each school complete its DPIA and any required fundamental-rights assessment for the actual use.</a:t>
            </a:r>
            <a:endParaRPr sz="1050" b="0" i="0" u="none" cap="none">
              <a:solidFill>
                <a:srgbClr val="000000"/>
              </a:solidFill>
              <a:latin typeface="Arial"/>
              <a:ea typeface="Arial"/>
              <a:cs typeface="Arial"/>
            </a:endParaRPr>
          </a:p>
        </p:txBody>
      </p:sp>
      <p:sp>
        <p:nvSpPr>
          <p:cNvPr id="10" name="Google Shape;281;p9">
            <a:extLst>
              <a:ext uri="{FF2B5EF4-FFF2-40B4-BE49-F238E27FC236}">
                <a16:creationId xmlns:a16="http://schemas.microsoft.com/office/drawing/2014/main" id="{BBFF240B-D93B-996F-149D-FE87F21D983D}"/>
              </a:ext>
            </a:extLst>
          </p:cNvPr>
          <p:cNvSpPr>
            <a:spLocks noGrp="1"/>
          </p:cNvSpPr>
          <p:nvPr/>
        </p:nvSpPr>
        <p:spPr>
          <a:xfrm>
            <a:off x="621887" y="2679668"/>
            <a:ext cx="219075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dirty="0">
                <a:solidFill>
                  <a:srgbClr val="121A2E"/>
                </a:solidFill>
                <a:latin typeface="Arial"/>
                <a:ea typeface="Arial"/>
                <a:cs typeface="Arial"/>
              </a:rPr>
              <a:t>Impact assessments</a:t>
            </a:r>
            <a:endParaRPr sz="1400" b="1" i="0" u="none" cap="none" dirty="0">
              <a:solidFill>
                <a:srgbClr val="000000"/>
              </a:solidFill>
              <a:latin typeface="Arial"/>
              <a:ea typeface="Arial"/>
              <a:cs typeface="Arial"/>
            </a:endParaRPr>
          </a:p>
        </p:txBody>
      </p:sp>
      <p:sp>
        <p:nvSpPr>
          <p:cNvPr id="11" name="Google Shape;281;p9">
            <a:extLst>
              <a:ext uri="{FF2B5EF4-FFF2-40B4-BE49-F238E27FC236}">
                <a16:creationId xmlns:a16="http://schemas.microsoft.com/office/drawing/2014/main" id="{263A2C5C-1255-81B8-345D-813C53845453}"/>
              </a:ext>
            </a:extLst>
          </p:cNvPr>
          <p:cNvSpPr>
            <a:spLocks noGrp="1"/>
          </p:cNvSpPr>
          <p:nvPr/>
        </p:nvSpPr>
        <p:spPr>
          <a:xfrm>
            <a:off x="2907887" y="3136868"/>
            <a:ext cx="2286000" cy="457200"/>
          </a:xfrm>
          <a:prstGeom prst="rect">
            <a:avLst/>
          </a:prstGeom>
          <a:solidFill>
            <a:schemeClr val="bg1"/>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 28(3), (9)</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California Education Code</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 49073.1</a:t>
            </a:r>
          </a:p>
        </p:txBody>
      </p:sp>
      <p:sp>
        <p:nvSpPr>
          <p:cNvPr id="12" name="Google Shape;281;p9">
            <a:extLst>
              <a:ext uri="{FF2B5EF4-FFF2-40B4-BE49-F238E27FC236}">
                <a16:creationId xmlns:a16="http://schemas.microsoft.com/office/drawing/2014/main" id="{8AAE6D6F-C823-5FDB-35F1-1F05DA24C15E}"/>
              </a:ext>
            </a:extLst>
          </p:cNvPr>
          <p:cNvSpPr>
            <a:spLocks noGrp="1"/>
          </p:cNvSpPr>
          <p:nvPr/>
        </p:nvSpPr>
        <p:spPr>
          <a:xfrm>
            <a:off x="5289137" y="3136868"/>
            <a:ext cx="628650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complete standard terms and required state addenda. Record online acceptance by an authorised school representative before uploads.</a:t>
            </a:r>
            <a:endParaRPr sz="1050" b="0" i="0" u="none" cap="none">
              <a:solidFill>
                <a:srgbClr val="000000"/>
              </a:solidFill>
              <a:latin typeface="Arial"/>
              <a:ea typeface="Arial"/>
              <a:cs typeface="Arial"/>
            </a:endParaRPr>
          </a:p>
        </p:txBody>
      </p:sp>
      <p:sp>
        <p:nvSpPr>
          <p:cNvPr id="13" name="Google Shape;281;p9">
            <a:extLst>
              <a:ext uri="{FF2B5EF4-FFF2-40B4-BE49-F238E27FC236}">
                <a16:creationId xmlns:a16="http://schemas.microsoft.com/office/drawing/2014/main" id="{FBBCC4D7-807C-EEAF-0B44-D631A60E8AB8}"/>
              </a:ext>
            </a:extLst>
          </p:cNvPr>
          <p:cNvSpPr>
            <a:spLocks noGrp="1"/>
          </p:cNvSpPr>
          <p:nvPr/>
        </p:nvSpPr>
        <p:spPr>
          <a:xfrm>
            <a:off x="621887" y="3136868"/>
            <a:ext cx="219075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school</a:t>
            </a:r>
            <a:endParaRPr sz="1400" b="1" i="0" u="none" cap="none">
              <a:solidFill>
                <a:srgbClr val="000000"/>
              </a:solidFill>
              <a:latin typeface="Arial"/>
              <a:ea typeface="Arial"/>
              <a:cs typeface="Arial"/>
            </a:endParaRPr>
          </a:p>
        </p:txBody>
      </p:sp>
      <p:sp>
        <p:nvSpPr>
          <p:cNvPr id="14" name="Google Shape;281;p9">
            <a:extLst>
              <a:ext uri="{FF2B5EF4-FFF2-40B4-BE49-F238E27FC236}">
                <a16:creationId xmlns:a16="http://schemas.microsoft.com/office/drawing/2014/main" id="{34E81186-7043-B441-B1CE-1B8AB499F892}"/>
              </a:ext>
            </a:extLst>
          </p:cNvPr>
          <p:cNvSpPr>
            <a:spLocks noGrp="1"/>
          </p:cNvSpPr>
          <p:nvPr/>
        </p:nvSpPr>
        <p:spPr>
          <a:xfrm>
            <a:off x="2907887" y="3594068"/>
            <a:ext cx="2286000" cy="457200"/>
          </a:xfrm>
          <a:prstGeom prst="rect">
            <a:avLst/>
          </a:prstGeom>
          <a:solidFill>
            <a:schemeClr val="bg1"/>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Art. 28(2), (4), (9)</a:t>
            </a:r>
          </a:p>
        </p:txBody>
      </p:sp>
      <p:sp>
        <p:nvSpPr>
          <p:cNvPr id="15" name="Google Shape;281;p9">
            <a:extLst>
              <a:ext uri="{FF2B5EF4-FFF2-40B4-BE49-F238E27FC236}">
                <a16:creationId xmlns:a16="http://schemas.microsoft.com/office/drawing/2014/main" id="{AE14282E-CD9B-3616-664A-5818197EF5DA}"/>
              </a:ext>
            </a:extLst>
          </p:cNvPr>
          <p:cNvSpPr>
            <a:spLocks noGrp="1"/>
          </p:cNvSpPr>
          <p:nvPr/>
        </p:nvSpPr>
        <p:spPr>
          <a:xfrm>
            <a:off x="5289137" y="3594068"/>
            <a:ext cx="628650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Review LLM suppliers’ standard DPAs for equivalent duties. Obtain school authorisation and cover OCR, hosting and further suppliers.</a:t>
            </a:r>
            <a:endParaRPr sz="1050" b="0" i="0" u="none" cap="none">
              <a:solidFill>
                <a:srgbClr val="000000"/>
              </a:solidFill>
              <a:latin typeface="Arial"/>
              <a:ea typeface="Arial"/>
              <a:cs typeface="Arial"/>
            </a:endParaRPr>
          </a:p>
        </p:txBody>
      </p:sp>
      <p:sp>
        <p:nvSpPr>
          <p:cNvPr id="16" name="Google Shape;281;p9">
            <a:extLst>
              <a:ext uri="{FF2B5EF4-FFF2-40B4-BE49-F238E27FC236}">
                <a16:creationId xmlns:a16="http://schemas.microsoft.com/office/drawing/2014/main" id="{58359EE9-BB80-D653-7BC7-96C98160D9F3}"/>
              </a:ext>
            </a:extLst>
          </p:cNvPr>
          <p:cNvSpPr>
            <a:spLocks noGrp="1"/>
          </p:cNvSpPr>
          <p:nvPr/>
        </p:nvSpPr>
        <p:spPr>
          <a:xfrm>
            <a:off x="621887" y="3594068"/>
            <a:ext cx="219075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subprocessors</a:t>
            </a:r>
            <a:endParaRPr sz="1400" b="1" i="0" u="none" cap="none">
              <a:solidFill>
                <a:srgbClr val="000000"/>
              </a:solidFill>
              <a:latin typeface="Arial"/>
              <a:ea typeface="Arial"/>
              <a:cs typeface="Arial"/>
            </a:endParaRPr>
          </a:p>
        </p:txBody>
      </p:sp>
      <p:sp>
        <p:nvSpPr>
          <p:cNvPr id="17" name="Google Shape;281;p9">
            <a:extLst>
              <a:ext uri="{FF2B5EF4-FFF2-40B4-BE49-F238E27FC236}">
                <a16:creationId xmlns:a16="http://schemas.microsoft.com/office/drawing/2014/main" id="{4E49445F-5372-A857-8437-B52AACC79459}"/>
              </a:ext>
            </a:extLst>
          </p:cNvPr>
          <p:cNvSpPr>
            <a:spLocks noGrp="1"/>
          </p:cNvSpPr>
          <p:nvPr/>
        </p:nvSpPr>
        <p:spPr>
          <a:xfrm>
            <a:off x="2907887" y="4051268"/>
            <a:ext cx="2286000" cy="457200"/>
          </a:xfrm>
          <a:prstGeom prst="rect">
            <a:avLst/>
          </a:prstGeom>
          <a:solidFill>
            <a:schemeClr val="bg1"/>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10, 15</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Equality Act 2010 ss. 19–21</a:t>
            </a:r>
          </a:p>
        </p:txBody>
      </p:sp>
      <p:sp>
        <p:nvSpPr>
          <p:cNvPr id="18" name="Google Shape;281;p9">
            <a:extLst>
              <a:ext uri="{FF2B5EF4-FFF2-40B4-BE49-F238E27FC236}">
                <a16:creationId xmlns:a16="http://schemas.microsoft.com/office/drawing/2014/main" id="{82DECE19-7C71-CBDD-3FE7-46EE4667BC09}"/>
              </a:ext>
            </a:extLst>
          </p:cNvPr>
          <p:cNvSpPr>
            <a:spLocks noGrp="1"/>
          </p:cNvSpPr>
          <p:nvPr/>
        </p:nvSpPr>
        <p:spPr>
          <a:xfrm>
            <a:off x="5289137" y="4051268"/>
            <a:ext cx="628650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b="0" i="0" u="none" cap="none">
                <a:solidFill>
                  <a:srgbClr val="121A2E"/>
                </a:solidFill>
                <a:latin typeface="Arial"/>
                <a:ea typeface="Arial"/>
                <a:cs typeface="Arial"/>
              </a:rPr>
              <a:t>Use teacher overrides as signals. Independently test bias, OCR and accessibility against representative expert-marked scripts.</a:t>
            </a:r>
            <a:endParaRPr sz="1050" b="0" i="0" u="none" cap="none">
              <a:solidFill>
                <a:srgbClr val="000000"/>
              </a:solidFill>
              <a:latin typeface="Arial"/>
              <a:ea typeface="Arial"/>
              <a:cs typeface="Arial"/>
            </a:endParaRPr>
          </a:p>
        </p:txBody>
      </p:sp>
      <p:sp>
        <p:nvSpPr>
          <p:cNvPr id="19" name="Google Shape;281;p9">
            <a:extLst>
              <a:ext uri="{FF2B5EF4-FFF2-40B4-BE49-F238E27FC236}">
                <a16:creationId xmlns:a16="http://schemas.microsoft.com/office/drawing/2014/main" id="{4BFE5C3C-E485-D6F9-A812-B618E35B6C34}"/>
              </a:ext>
            </a:extLst>
          </p:cNvPr>
          <p:cNvSpPr>
            <a:spLocks noGrp="1"/>
          </p:cNvSpPr>
          <p:nvPr/>
        </p:nvSpPr>
        <p:spPr>
          <a:xfrm>
            <a:off x="621887" y="4051268"/>
            <a:ext cx="219075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Evidence on bias and accuracy</a:t>
            </a:r>
            <a:endParaRPr sz="1400" b="1" i="0" u="none" cap="none">
              <a:solidFill>
                <a:srgbClr val="000000"/>
              </a:solidFill>
              <a:latin typeface="Arial"/>
              <a:ea typeface="Arial"/>
              <a:cs typeface="Arial"/>
            </a:endParaRPr>
          </a:p>
        </p:txBody>
      </p:sp>
      <p:sp>
        <p:nvSpPr>
          <p:cNvPr id="20" name="Google Shape;281;p9">
            <a:extLst>
              <a:ext uri="{FF2B5EF4-FFF2-40B4-BE49-F238E27FC236}">
                <a16:creationId xmlns:a16="http://schemas.microsoft.com/office/drawing/2014/main" id="{DA7137B8-0F66-E409-AF46-2826D7E999F9}"/>
              </a:ext>
            </a:extLst>
          </p:cNvPr>
          <p:cNvSpPr>
            <a:spLocks noGrp="1"/>
          </p:cNvSpPr>
          <p:nvPr/>
        </p:nvSpPr>
        <p:spPr>
          <a:xfrm>
            <a:off x="2907887" y="4508468"/>
            <a:ext cx="2286000" cy="457200"/>
          </a:xfrm>
          <a:prstGeom prst="rect">
            <a:avLst/>
          </a:prstGeom>
          <a:solidFill>
            <a:schemeClr val="bg1"/>
          </a:solidFill>
          <a:ln>
            <a:solidFill>
              <a:schemeClr val="bg1">
                <a:lumMod val="75000"/>
              </a:schemeClr>
            </a:solidFill>
          </a:ln>
        </p:spPr>
        <p:txBody>
          <a:bodyPr spcFirstLastPara="1"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 14</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Ofqual H1, H2, I1</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70 O.S. § 11-120 (Oklahoma)</a:t>
            </a:r>
          </a:p>
        </p:txBody>
      </p:sp>
      <p:sp>
        <p:nvSpPr>
          <p:cNvPr id="21" name="Google Shape;281;p9">
            <a:extLst>
              <a:ext uri="{FF2B5EF4-FFF2-40B4-BE49-F238E27FC236}">
                <a16:creationId xmlns:a16="http://schemas.microsoft.com/office/drawing/2014/main" id="{1C300C8C-647D-E1AE-3A16-9A48E0721061}"/>
              </a:ext>
            </a:extLst>
          </p:cNvPr>
          <p:cNvSpPr>
            <a:spLocks noGrp="1"/>
          </p:cNvSpPr>
          <p:nvPr/>
        </p:nvSpPr>
        <p:spPr>
          <a:xfrm>
            <a:off x="5289137" y="4508468"/>
            <a:ext cx="628650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171450" marR="0" lvl="0" indent="-171450" algn="l">
              <a:lnSpc>
                <a:spcPct val="100000"/>
              </a:lnSpc>
              <a:spcBef>
                <a:spcPts val="0"/>
              </a:spcBef>
              <a:spcAft>
                <a:spcPts val="0"/>
              </a:spcAft>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b="0" i="0" u="none" cap="none" dirty="0">
                <a:solidFill>
                  <a:srgbClr val="121A2E"/>
                </a:solidFill>
                <a:latin typeface="Arial"/>
                <a:ea typeface="Arial"/>
                <a:cs typeface="Arial"/>
              </a:rPr>
              <a:t>Keep AI as advice. Require substantive teacher review before grades take effect, with item-level overrides and evidence for appeals.</a:t>
            </a:r>
            <a:endParaRPr sz="1050" b="0" i="0" u="none" cap="none" dirty="0">
              <a:solidFill>
                <a:srgbClr val="000000"/>
              </a:solidFill>
              <a:latin typeface="Arial"/>
              <a:ea typeface="Arial"/>
              <a:cs typeface="Arial"/>
            </a:endParaRPr>
          </a:p>
        </p:txBody>
      </p:sp>
      <p:sp>
        <p:nvSpPr>
          <p:cNvPr id="22" name="Google Shape;281;p9">
            <a:extLst>
              <a:ext uri="{FF2B5EF4-FFF2-40B4-BE49-F238E27FC236}">
                <a16:creationId xmlns:a16="http://schemas.microsoft.com/office/drawing/2014/main" id="{E6122D20-90E3-E1C8-41F5-05A354CAD429}"/>
              </a:ext>
            </a:extLst>
          </p:cNvPr>
          <p:cNvSpPr>
            <a:spLocks noGrp="1"/>
          </p:cNvSpPr>
          <p:nvPr/>
        </p:nvSpPr>
        <p:spPr>
          <a:xfrm>
            <a:off x="621887" y="4508468"/>
            <a:ext cx="2190750" cy="457200"/>
          </a:xfrm>
          <a:prstGeom prst="rect">
            <a:avLst/>
          </a:prstGeom>
          <a:solidFill>
            <a:schemeClr val="bg1"/>
          </a:solidFill>
          <a:ln>
            <a:solidFill>
              <a:schemeClr val="bg1">
                <a:lumMod val="75000"/>
              </a:schemeClr>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Recommendation only</a:t>
            </a:r>
            <a:endParaRPr sz="1400" b="1" i="0" u="none" cap="none">
              <a:solidFill>
                <a:srgbClr val="000000"/>
              </a:solidFill>
              <a:latin typeface="Arial"/>
              <a:ea typeface="Arial"/>
              <a:cs typeface="Arial"/>
            </a:endParaRPr>
          </a:p>
        </p:txBody>
      </p:sp>
      <p:sp>
        <p:nvSpPr>
          <p:cNvPr id="282" name="Additional control 7 column 1">
            <a:extLst>
              <a:ext uri="{FF2B5EF4-FFF2-40B4-BE49-F238E27FC236}">
                <a16:creationId xmlns:a16="http://schemas.microsoft.com/office/drawing/2014/main" id="{FE348C57-2C89-4391-8B2C-58F4C7796A8C}"/>
              </a:ext>
            </a:extLst>
          </p:cNvPr>
          <p:cNvSpPr>
            <a:spLocks noGrp="1"/>
          </p:cNvSpPr>
          <p:nvPr/>
        </p:nvSpPr>
        <p:spPr>
          <a:xfrm>
            <a:off x="621887" y="4965668"/>
            <a:ext cx="2190750" cy="457200"/>
          </a:xfrm>
          <a:prstGeom prst="rect">
            <a:avLst/>
          </a:prstGeom>
          <a:noFill/>
          <a:ln w="0">
            <a:solidFill>
              <a:schemeClr val="bg1">
                <a:lumMod val="75000"/>
              </a:schemeClr>
            </a:solid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Security and limited data use</a:t>
            </a:r>
          </a:p>
        </p:txBody>
      </p:sp>
      <p:sp>
        <p:nvSpPr>
          <p:cNvPr id="283" name="Additional control 7 column 2">
            <a:extLst>
              <a:ext uri="{FF2B5EF4-FFF2-40B4-BE49-F238E27FC236}">
                <a16:creationId xmlns:a16="http://schemas.microsoft.com/office/drawing/2014/main" id="{445D510F-92C0-489F-B339-0157289F4778}"/>
              </a:ext>
            </a:extLst>
          </p:cNvPr>
          <p:cNvSpPr>
            <a:spLocks noGrp="1"/>
          </p:cNvSpPr>
          <p:nvPr/>
        </p:nvSpPr>
        <p:spPr>
          <a:xfrm>
            <a:off x="2907887" y="4965668"/>
            <a:ext cx="2286000" cy="457200"/>
          </a:xfrm>
          <a:prstGeom prst="rect">
            <a:avLst/>
          </a:prstGeom>
          <a:noFill/>
          <a:ln w="0">
            <a:solidFill>
              <a:schemeClr val="bg1">
                <a:lumMod val="75000"/>
              </a:schemeClr>
            </a:solidFill>
          </a:ln>
        </p:spPr>
        <p:txBody>
          <a:bodyPr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5, 25,</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28, 32, 44–49</a:t>
            </a:r>
          </a:p>
        </p:txBody>
      </p:sp>
      <p:sp>
        <p:nvSpPr>
          <p:cNvPr id="284" name="Additional control 7 column 3">
            <a:extLst>
              <a:ext uri="{FF2B5EF4-FFF2-40B4-BE49-F238E27FC236}">
                <a16:creationId xmlns:a16="http://schemas.microsoft.com/office/drawing/2014/main" id="{DDCB3CB8-6010-4436-B644-BD46E603815B}"/>
              </a:ext>
            </a:extLst>
          </p:cNvPr>
          <p:cNvSpPr>
            <a:spLocks noGrp="1"/>
          </p:cNvSpPr>
          <p:nvPr/>
        </p:nvSpPr>
        <p:spPr>
          <a:xfrm>
            <a:off x="5289137" y="4965668"/>
            <a:ext cx="6286500" cy="457200"/>
          </a:xfrm>
          <a:prstGeom prst="rect">
            <a:avLst/>
          </a:prstGeom>
          <a:noFill/>
          <a:ln w="0">
            <a:solidFill>
              <a:schemeClr val="bg1">
                <a:lumMod val="75000"/>
              </a:schemeClr>
            </a:solidFill>
          </a:ln>
        </p:spPr>
        <p:txBody>
          <a:bodyPr wrap="square" lIns="95250" tIns="28575" rIns="76200" bIns="28575" anchor="ctr">
            <a:noAutofit/>
          </a:bodyPr>
          <a:lstStyle/>
          <a:p>
            <a:pPr marL="171450" indent="-171450">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dirty="0" err="1">
                <a:solidFill>
                  <a:srgbClr val="121A2E"/>
                </a:solidFill>
                <a:latin typeface="Arial"/>
                <a:cs typeface="Arial"/>
              </a:rPr>
              <a:t>Minimise</a:t>
            </a:r>
            <a:r>
              <a:rPr sz="1100" dirty="0">
                <a:solidFill>
                  <a:srgbClr val="121A2E"/>
                </a:solidFill>
                <a:latin typeface="Arial"/>
                <a:cs typeface="Arial"/>
              </a:rPr>
              <a:t> identifiers, encrypt and isolate tenants. Set deletion periods, control transfers and restrict training to </a:t>
            </a:r>
            <a:r>
              <a:rPr sz="1100" dirty="0" err="1">
                <a:solidFill>
                  <a:srgbClr val="121A2E"/>
                </a:solidFill>
                <a:latin typeface="Arial"/>
                <a:cs typeface="Arial"/>
              </a:rPr>
              <a:t>authorised</a:t>
            </a:r>
            <a:r>
              <a:rPr sz="1100" dirty="0">
                <a:solidFill>
                  <a:srgbClr val="121A2E"/>
                </a:solidFill>
                <a:latin typeface="Arial"/>
                <a:cs typeface="Arial"/>
              </a:rPr>
              <a:t> data.</a:t>
            </a:r>
          </a:p>
        </p:txBody>
      </p:sp>
      <p:sp>
        <p:nvSpPr>
          <p:cNvPr id="285" name="Additional control 8 column 1">
            <a:extLst>
              <a:ext uri="{FF2B5EF4-FFF2-40B4-BE49-F238E27FC236}">
                <a16:creationId xmlns:a16="http://schemas.microsoft.com/office/drawing/2014/main" id="{596B7A10-5B20-4791-8F7B-07E62C17D7FD}"/>
              </a:ext>
            </a:extLst>
          </p:cNvPr>
          <p:cNvSpPr>
            <a:spLocks noGrp="1"/>
          </p:cNvSpPr>
          <p:nvPr/>
        </p:nvSpPr>
        <p:spPr>
          <a:xfrm>
            <a:off x="621887" y="5422868"/>
            <a:ext cx="2190750" cy="457200"/>
          </a:xfrm>
          <a:prstGeom prst="rect">
            <a:avLst/>
          </a:prstGeom>
          <a:noFill/>
          <a:ln w="0">
            <a:solidFill>
              <a:schemeClr val="bg1">
                <a:lumMod val="75000"/>
              </a:schemeClr>
            </a:solid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Transparency and student rights</a:t>
            </a:r>
          </a:p>
        </p:txBody>
      </p:sp>
      <p:sp>
        <p:nvSpPr>
          <p:cNvPr id="286" name="Additional control 8 column 2">
            <a:extLst>
              <a:ext uri="{FF2B5EF4-FFF2-40B4-BE49-F238E27FC236}">
                <a16:creationId xmlns:a16="http://schemas.microsoft.com/office/drawing/2014/main" id="{15CF357E-C530-4B02-A56B-8A95BFFC4DD2}"/>
              </a:ext>
            </a:extLst>
          </p:cNvPr>
          <p:cNvSpPr>
            <a:spLocks noGrp="1"/>
          </p:cNvSpPr>
          <p:nvPr/>
        </p:nvSpPr>
        <p:spPr>
          <a:xfrm>
            <a:off x="2907887" y="5422868"/>
            <a:ext cx="2286000" cy="457200"/>
          </a:xfrm>
          <a:prstGeom prst="rect">
            <a:avLst/>
          </a:prstGeom>
          <a:noFill/>
          <a:ln w="0">
            <a:solidFill>
              <a:schemeClr val="bg1">
                <a:lumMod val="75000"/>
              </a:schemeClr>
            </a:solidFill>
          </a:ln>
        </p:spPr>
        <p:txBody>
          <a:bodyPr wrap="square" lIns="76200" tIns="9525" rIns="66675" bIns="9525" anchor="ctr">
            <a:noAutofit/>
          </a:bodyPr>
          <a:lstStyle/>
          <a:p>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EU/UK GDPR Arts. 12–21, 33–34</a:t>
            </a:r>
          </a:p>
          <a:p>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 AI Act Arts. 13, 26, 86</a:t>
            </a:r>
          </a:p>
          <a:p>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FERPA 34 CFR §§ 99.10–22</a:t>
            </a:r>
          </a:p>
        </p:txBody>
      </p:sp>
      <p:sp>
        <p:nvSpPr>
          <p:cNvPr id="287" name="Additional control 8 column 3">
            <a:extLst>
              <a:ext uri="{FF2B5EF4-FFF2-40B4-BE49-F238E27FC236}">
                <a16:creationId xmlns:a16="http://schemas.microsoft.com/office/drawing/2014/main" id="{194A394C-9E36-4490-847A-D17C0F7DBC02}"/>
              </a:ext>
            </a:extLst>
          </p:cNvPr>
          <p:cNvSpPr>
            <a:spLocks noGrp="1"/>
          </p:cNvSpPr>
          <p:nvPr/>
        </p:nvSpPr>
        <p:spPr>
          <a:xfrm>
            <a:off x="5289137" y="5422868"/>
            <a:ext cx="6286500" cy="457200"/>
          </a:xfrm>
          <a:prstGeom prst="rect">
            <a:avLst/>
          </a:prstGeom>
          <a:noFill/>
          <a:ln w="0">
            <a:solidFill>
              <a:schemeClr val="bg1">
                <a:lumMod val="75000"/>
              </a:schemeClr>
            </a:solidFill>
          </a:ln>
        </p:spPr>
        <p:txBody>
          <a:bodyPr wrap="square" lIns="95250" tIns="28575" rIns="76200" bIns="28575" anchor="ctr">
            <a:noAutofit/>
          </a:bodyPr>
          <a:lstStyle/>
          <a:p>
            <a:pPr marL="171450" indent="-171450">
              <a:lnSpc>
                <a:spcPct val="100000"/>
              </a:lnSpc>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dirty="0">
                <a:solidFill>
                  <a:srgbClr val="121A2E"/>
                </a:solidFill>
                <a:latin typeface="Arial"/>
                <a:cs typeface="Arial"/>
              </a:rPr>
              <a:t>Explain AI use and limits. Support access, correction and complaints. Notify schools of breaches promptly and help meet legal deadlines.</a:t>
            </a:r>
          </a:p>
        </p:txBody>
      </p:sp>
      <p:sp>
        <p:nvSpPr>
          <p:cNvPr id="288" name="Additional control 9 column 1">
            <a:extLst>
              <a:ext uri="{FF2B5EF4-FFF2-40B4-BE49-F238E27FC236}">
                <a16:creationId xmlns:a16="http://schemas.microsoft.com/office/drawing/2014/main" id="{6F9EE814-E2BF-4299-9838-D645328E1174}"/>
              </a:ext>
            </a:extLst>
          </p:cNvPr>
          <p:cNvSpPr>
            <a:spLocks noGrp="1"/>
          </p:cNvSpPr>
          <p:nvPr/>
        </p:nvSpPr>
        <p:spPr>
          <a:xfrm>
            <a:off x="621887" y="5880068"/>
            <a:ext cx="2190750" cy="457200"/>
          </a:xfrm>
          <a:prstGeom prst="rect">
            <a:avLst/>
          </a:prstGeom>
          <a:noFill/>
          <a:ln w="0">
            <a:solidFill>
              <a:schemeClr val="bg1">
                <a:lumMod val="75000"/>
              </a:schemeClr>
            </a:solid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Ongoing AI and market duties</a:t>
            </a:r>
          </a:p>
        </p:txBody>
      </p:sp>
      <p:sp>
        <p:nvSpPr>
          <p:cNvPr id="289" name="Additional control 9 column 2">
            <a:extLst>
              <a:ext uri="{FF2B5EF4-FFF2-40B4-BE49-F238E27FC236}">
                <a16:creationId xmlns:a16="http://schemas.microsoft.com/office/drawing/2014/main" id="{A1D1800A-D131-4FF0-81FA-A93B76FF4457}"/>
              </a:ext>
            </a:extLst>
          </p:cNvPr>
          <p:cNvSpPr>
            <a:spLocks noGrp="1"/>
          </p:cNvSpPr>
          <p:nvPr/>
        </p:nvSpPr>
        <p:spPr>
          <a:xfrm>
            <a:off x="2907887" y="5880068"/>
            <a:ext cx="2286000" cy="457200"/>
          </a:xfrm>
          <a:prstGeom prst="rect">
            <a:avLst/>
          </a:prstGeom>
          <a:noFill/>
          <a:ln w="0">
            <a:solidFill>
              <a:schemeClr val="bg1">
                <a:lumMod val="75000"/>
              </a:schemeClr>
            </a:solidFill>
          </a:ln>
        </p:spPr>
        <p:txBody>
          <a:bodyPr wrap="square" lIns="76200" tIns="9525" rIns="66675" bIns="9525" anchor="ctr">
            <a:noAutofit/>
          </a:bodyPr>
          <a:lstStyle/>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6, 16–21,</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43–49, 72–73</a:t>
            </a:r>
          </a:p>
          <a:p>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 11 CCR §§ 7200–7222</a:t>
            </a:r>
          </a:p>
        </p:txBody>
      </p:sp>
      <p:sp>
        <p:nvSpPr>
          <p:cNvPr id="290" name="Additional control 9 column 3">
            <a:extLst>
              <a:ext uri="{FF2B5EF4-FFF2-40B4-BE49-F238E27FC236}">
                <a16:creationId xmlns:a16="http://schemas.microsoft.com/office/drawing/2014/main" id="{6FC7C1F8-7255-40AF-81FC-65DD25E5F814}"/>
              </a:ext>
            </a:extLst>
          </p:cNvPr>
          <p:cNvSpPr>
            <a:spLocks noGrp="1"/>
          </p:cNvSpPr>
          <p:nvPr/>
        </p:nvSpPr>
        <p:spPr>
          <a:xfrm>
            <a:off x="5289137" y="5880068"/>
            <a:ext cx="6286500" cy="457200"/>
          </a:xfrm>
          <a:prstGeom prst="rect">
            <a:avLst/>
          </a:prstGeom>
          <a:noFill/>
          <a:ln w="0">
            <a:solidFill>
              <a:schemeClr val="bg1">
                <a:lumMod val="75000"/>
              </a:schemeClr>
            </a:solidFill>
          </a:ln>
        </p:spPr>
        <p:txBody>
          <a:bodyPr wrap="square" lIns="95250" tIns="28575" rIns="76200" bIns="28575" anchor="ctr">
            <a:noAutofit/>
          </a:bodyPr>
          <a:lstStyle/>
          <a:p>
            <a:pPr marL="171450" indent="-171450">
              <a:buClr>
                <a:srgbClr val="000000"/>
              </a:buClr>
              <a:buSzPts val="1600"/>
              <a:buFont typeface="Arial" panose="020B0604020202020204" pitchFamily="34" charset="0"/>
              <a:buChar char="•"/>
              <a:defRPr sz="1425" b="0">
                <a:solidFill>
                  <a:srgbClr val="121A2E"/>
                </a:solidFill>
                <a:latin typeface="Arial"/>
                <a:ea typeface="Arial"/>
                <a:cs typeface="Arial"/>
              </a:defRPr>
            </a:pPr>
            <a:r>
              <a:rPr sz="1100" dirty="0">
                <a:solidFill>
                  <a:srgbClr val="121A2E"/>
                </a:solidFill>
                <a:latin typeface="Arial"/>
                <a:cs typeface="Arial"/>
              </a:rPr>
              <a:t>Document classification, quality management and release tests. Meet triggered conformity/registration duties. Monitor changes and incidents.</a:t>
            </a:r>
          </a:p>
        </p:txBody>
      </p:sp>
    </p:spTree>
    <p:extLst>
      <p:ext uri="{BB962C8B-B14F-4D97-AF65-F5344CB8AC3E}">
        <p14:creationId xmlns:p14="http://schemas.microsoft.com/office/powerpoint/2010/main" val="28459577"/>
      </p:ext>
    </p:extLst>
  </p:cSld>
  <p:clrMapOvr>
    <a:masterClrMapping/>
  </p:clrMapOvr>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9826</Words>
  <Application>Microsoft Office PowerPoint</Application>
  <DocSecurity>0</DocSecurity>
  <PresentationFormat>Widescreen</PresentationFormat>
  <Paragraphs>757</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Inter</vt:lpstr>
      <vt:lpstr>Inter Light</vt:lpstr>
      <vt:lpstr>Calibri</vt:lpstr>
      <vt:lpstr>Montserrat SemiBold</vt:lpstr>
      <vt:lpstr>Arial</vt:lpstr>
      <vt:lpstr>Poppins</vt:lpstr>
      <vt:lpstr>Gradias Master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Michael Burian</cp:lastModifiedBy>
  <cp:revision>2</cp:revision>
  <dcterms:created xsi:type="dcterms:W3CDTF">2026-09-12T12:31:16Z</dcterms:created>
  <dcterms:modified xsi:type="dcterms:W3CDTF">2026-09-12T12:38:57Z</dcterms:modified>
</cp:coreProperties>
</file>