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66e4441af845a6" /><Relationship Type="http://schemas.openxmlformats.org/officeDocument/2006/relationships/extended-properties" Target="/docProps/app.xml" Id="R8421812301714cf9" /><Relationship Type="http://schemas.openxmlformats.org/officeDocument/2006/relationships/officeDocument" Target="/ppt/presentation.xml" Id="R0b168395cbfa49e0"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9ba66be119a24c0f"/>
  </p:sldMasterIdLst>
  <p:notesMasterIdLst>
    <p:notesMasterId xmlns:r="http://schemas.openxmlformats.org/officeDocument/2006/relationships" r:id="R325e1d722f7049f5"/>
  </p:notesMasterIdLst>
  <p:sldIdLst>
    <p:sldId xmlns:r="http://schemas.openxmlformats.org/officeDocument/2006/relationships" id="256" r:id="R2ba59cd728be4225"/>
    <p:sldId xmlns:r="http://schemas.openxmlformats.org/officeDocument/2006/relationships" id="257" r:id="R82afe864ef5344f8"/>
  </p:sldIdLst>
  <p:sldSz cx="12192000" cy="6858000"/>
  <p:notesSz cx="6858000" cy="9144000"/>
  <p:embeddedFontLst>
    <p:embeddedFont>
      <p:font typeface="Inter"/>
      <p:regular xmlns:r="http://schemas.openxmlformats.org/officeDocument/2006/relationships" r:id="R11d51e896822474f"/>
      <p:bold xmlns:r="http://schemas.openxmlformats.org/officeDocument/2006/relationships" r:id="R61c360ddb2dd4128"/>
      <p:italic xmlns:r="http://schemas.openxmlformats.org/officeDocument/2006/relationships" r:id="Rc18abc2d4c814a47"/>
      <p:boldItalic xmlns:r="http://schemas.openxmlformats.org/officeDocument/2006/relationships" r:id="R499f99dfe4234b24"/>
    </p:embeddedFont>
    <p:embeddedFont>
      <p:font typeface="Inter Light"/>
      <p:regular xmlns:r="http://schemas.openxmlformats.org/officeDocument/2006/relationships" r:id="R47df81ee5ff64d21"/>
      <p:bold xmlns:r="http://schemas.openxmlformats.org/officeDocument/2006/relationships" r:id="R4b9609b7d44d4b13"/>
      <p:italic xmlns:r="http://schemas.openxmlformats.org/officeDocument/2006/relationships" r:id="R0a7bfceda8df4a46"/>
      <p:boldItalic xmlns:r="http://schemas.openxmlformats.org/officeDocument/2006/relationships" r:id="R39d0aabebc924cbe"/>
    </p:embeddedFont>
    <p:embeddedFont>
      <p:font typeface="Montserrat SemiBold"/>
      <p:regular xmlns:r="http://schemas.openxmlformats.org/officeDocument/2006/relationships" r:id="Re5d344cf81d1490a"/>
      <p:bold xmlns:r="http://schemas.openxmlformats.org/officeDocument/2006/relationships" r:id="Ref67b2851d3e4ea2"/>
      <p:italic xmlns:r="http://schemas.openxmlformats.org/officeDocument/2006/relationships" r:id="Rabc8be3041d64dfa"/>
      <p:boldItalic xmlns:r="http://schemas.openxmlformats.org/officeDocument/2006/relationships" r:id="R6f98f5c433c4431a"/>
    </p:embeddedFont>
    <p:embeddedFont>
      <p:font typeface="Poppins"/>
      <p:regular xmlns:r="http://schemas.openxmlformats.org/officeDocument/2006/relationships" r:id="R64bf1fab00b646e0"/>
      <p:bold xmlns:r="http://schemas.openxmlformats.org/officeDocument/2006/relationships" r:id="R34e19d2b7ac24b22"/>
      <p:italic xmlns:r="http://schemas.openxmlformats.org/officeDocument/2006/relationships" r:id="R7ab631ccc25c4308"/>
      <p:boldItalic xmlns:r="http://schemas.openxmlformats.org/officeDocument/2006/relationships" r:id="R6e4b59792494443d"/>
    </p:embeddedFont>
  </p:embeddedFontLst>
</p:presentation>
</file>

<file path=ppt/authors.xml><?xml version="1.0" encoding="utf-8"?>
<p188:authorLst xmlns:p188="http://schemas.microsoft.com/office/powerpoint/2018/8/main">
  <p188:author id="{55F4D372-1483-175D-CB42-E4E52CCBC817}" name="Michael Burian" initials="MB" userId="4f510493322dd372" providerId="Windows Liv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744F5748-14AB-4321-BF65-A3762DE8F335}">
  <a:tblStyle styleId="{744F5748-14AB-4321-BF65-A3762DE8F33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D6115C50-24A0-4D59-AEF3-5AAAAD7ADC1F}"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4f16869ac2a4fe1" /><Relationship Type="http://schemas.openxmlformats.org/officeDocument/2006/relationships/slideMaster" Target="/ppt/slideMasters/slideMaster1.xml" Id="R9ba66be119a24c0f" /><Relationship Type="http://schemas.openxmlformats.org/officeDocument/2006/relationships/notesMaster" Target="/ppt/notesMasters/notesMaster1.xml" Id="R325e1d722f7049f5" /><Relationship Type="http://schemas.openxmlformats.org/officeDocument/2006/relationships/presProps" Target="/ppt/presProps.xml" Id="R78382df08bc74645" /><Relationship Type="http://schemas.openxmlformats.org/officeDocument/2006/relationships/viewProps" Target="/ppt/viewProps.xml" Id="Raad62f6b42ba4ec8" /><Relationship Type="http://schemas.openxmlformats.org/officeDocument/2006/relationships/tableStyles" Target="/ppt/tableStyles.xml" Id="Rb78ba65508384272" /><Relationship Type="http://schemas.openxmlformats.org/officeDocument/2006/relationships/font" Target="/ppt/fonts/font.dat" Id="R11d51e896822474f" /><Relationship Type="http://schemas.openxmlformats.org/officeDocument/2006/relationships/font" Target="/ppt/fonts/font2.dat" Id="R61c360ddb2dd4128" /><Relationship Type="http://schemas.openxmlformats.org/officeDocument/2006/relationships/font" Target="/ppt/fonts/font3.dat" Id="Rc18abc2d4c814a47" /><Relationship Type="http://schemas.openxmlformats.org/officeDocument/2006/relationships/font" Target="/ppt/fonts/font4.dat" Id="R499f99dfe4234b24" /><Relationship Type="http://schemas.openxmlformats.org/officeDocument/2006/relationships/font" Target="/ppt/fonts/font5.dat" Id="R47df81ee5ff64d21" /><Relationship Type="http://schemas.openxmlformats.org/officeDocument/2006/relationships/font" Target="/ppt/fonts/font6.dat" Id="R4b9609b7d44d4b13" /><Relationship Type="http://schemas.openxmlformats.org/officeDocument/2006/relationships/font" Target="/ppt/fonts/font7.dat" Id="R0a7bfceda8df4a46" /><Relationship Type="http://schemas.openxmlformats.org/officeDocument/2006/relationships/font" Target="/ppt/fonts/font8.dat" Id="R39d0aabebc924cbe" /><Relationship Type="http://schemas.openxmlformats.org/officeDocument/2006/relationships/font" Target="/ppt/fonts/font9.dat" Id="Re5d344cf81d1490a" /><Relationship Type="http://schemas.openxmlformats.org/officeDocument/2006/relationships/font" Target="/ppt/fonts/font10.dat" Id="Ref67b2851d3e4ea2" /><Relationship Type="http://schemas.openxmlformats.org/officeDocument/2006/relationships/font" Target="/ppt/fonts/font11.dat" Id="Rabc8be3041d64dfa" /><Relationship Type="http://schemas.openxmlformats.org/officeDocument/2006/relationships/font" Target="/ppt/fonts/font12.dat" Id="R6f98f5c433c4431a" /><Relationship Type="http://schemas.openxmlformats.org/officeDocument/2006/relationships/font" Target="/ppt/fonts/font13.dat" Id="R64bf1fab00b646e0" /><Relationship Type="http://schemas.openxmlformats.org/officeDocument/2006/relationships/font" Target="/ppt/fonts/font14.dat" Id="R34e19d2b7ac24b22" /><Relationship Type="http://schemas.openxmlformats.org/officeDocument/2006/relationships/font" Target="/ppt/fonts/font15.dat" Id="R7ab631ccc25c4308" /><Relationship Type="http://schemas.openxmlformats.org/officeDocument/2006/relationships/font" Target="/ppt/fonts/font16.dat" Id="R6e4b59792494443d" /><Relationship Type="http://schemas.microsoft.com/office/2018/10/relationships/authors" Target="/ppt/authors.xml" Id="R328a7ed0826649f7" /><Relationship Type="http://schemas.openxmlformats.org/officeDocument/2006/relationships/slide" Target="/ppt/slides/slide1.xml" Id="R2ba59cd728be4225" /><Relationship Type="http://schemas.openxmlformats.org/officeDocument/2006/relationships/slide" Target="/ppt/slides/slide2.xml" Id="R82afe864ef5344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d83f4ee9784d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Gradias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011790937c4e63" /><Relationship Type="http://schemas.openxmlformats.org/officeDocument/2006/relationships/notesMaster" Target="/ppt/notesMasters/notesMaster1.xml" Id="R0e1df7cb0df844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6b128b9811465b" /><Relationship Type="http://schemas.openxmlformats.org/officeDocument/2006/relationships/notesMaster" Target="/ppt/notesMasters/notesMaster1.xml" Id="R0923f3813b9145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Scope and application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The country columns group related norms from the country documents. Requirements bind different actors: GRADIAS as provider or processor, institutions as controllers or deployers, and teachers or examiners. Conditions, local jurisdiction, institution type, qualification and actual processing determine applicability. These are compliance requirements and proposed implementation measures, not a statement that GRADIAS has already implemented them.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Germany: Land school and data rules include SchulG NRW and VO-DV I, BayEUG and BaySchO, NSchG, HSchG, and SchG/NVO Baden-Württemberg. LPVG NRW and BetrVG apply only within their respective public-sector and private-employer scopes. BDSG section 38 adds provider DPO triggers. GG and VwVfG do not provide general authority for autonomous discretionary examination decisions.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United States: State student-data laws include NY Education Law section 2-d and 8 NYCRR 121, Connecticut sections 10-234aa–dd, Illinois SOPPA, Colorado Student Data Transparency and Security Act, California SOPIPA and Education Code 49073.1, Texas Education Code chapter 32, Ohio 3319.325–326, Utah 53E-9-309, Washington chapter 28A.604, DC 38-831.02 and Louisiana 17:3914. General state privacy laws include CCPA, Colorado, Connecticut, Minnesota and New Jersey, subject to scope and exemptions. Illinois BIPA and Texas biometric law apply if covered biometric identification is added. Ordinary handwriting transcription does not automatically trigger them. Ohio district AI policies and executed service/data agreements govern local use.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COPPA applies to covered online collection from under-13s, not automatically to adult-only teacher uploads. PPRA concerns covered sensitive surveys or evaluations, not ordinary academic marking. Section 508 concerns covered ICT of federal agencies, not every federally funded school. Section 504, ADA, IDEA and Title VI/IX have distinct scopes and obligations.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United Kingdom: Devolved qualification rules mean Qualifications Wales, Qualifications Scotland and CCEA requirements. Ofqual and OfS B4 apply in England within their respective scopes. Ofqual bars sole AI marking in assessments forming part of regulated qualifications. Equality Act 2010 covers Great Britain. Northern Ireland DDA/SENDO and Northern Ireland Act section 75 have distinct scopes. The Children’s code depends on likely access by under-18s. DfE product standards bind through incorporation into the relevant contract rather than acting as a universal statutory licence.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Timing: The accompanying Germany document identifies Regulation (EU) 2026/1744, which shifts AI Act Chapter III Sections 1–3 for Annex III systems to 2 December 2027, except Article 6(5). Section 5 is not expressly deferred. Assess conformity and registration timing separately rather than treating the change as blanket relief. Already applicable literacy measures, prohibitions and transparency rules still matter. Colorado SB 26-189 and California’s ADMT duties begin on 1 January 2027, with their own scope and transitional rules. Oklahoma’s substantive educator-control requirements apply from 1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https://eur-lex.europa.eu/legal-content/EN/ALL/?uri=CELEX:32026R1744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Full norm references from the accompanying Word documents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GERMANY</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Germany.docx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Datenschutz-Grundverordnung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Verordnung (EU) 2016/679, insbesondere Art. 4–6, 9, 12–22, 24–39 und 44–49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https://eur-lex.europa.eu/legal-content/DE/TXT/?uri=CELEX:32016R0679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EU-Verordnung über künstliche Intelligenz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Verordnung (EU) 2024/1689, insbesondere Art. 3–6, 8–27, 43–50, 72–73, 86, 111 und 113 sowie Anhang III Nr. 3 Buchst. 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https://eur-lex.europa.eu/eli/reg/2024/1689/oj/deu</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Änderung durch Verordnung (EU) 2026/1744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https://eur-lex.europa.eu/legal-content/DE/TXT/?uri=CELEX:32026R1744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Grundgesetz und verfassungsrechtliches Prüfungsrecht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Art. 3 Abs. 1, 12 Abs. 1 und 19 Abs. 4 GG; BVerwG 6 B 1.16, Rn. 12–14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https://www.bverwg.de/190516B6B1.16.0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BVerwG 6 C 19.18 zur rechtlichen Festlegung des Bewertungsverfahrens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https://www.bverwg.de/100419U6C19.18.0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Verwaltungsverfahrensgesetz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35a VwVfG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https://www.gesetze-im-internet.de/vwvfg/__35a.html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Beamtenstatusgesetz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37 BeamtStG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https://www.gesetze-im-internet.de/beamtstg/__37.html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Strafgesetzbuch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203 Abs. 2–4 StGB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https://www.gesetze-im-internet.de/stgb/__203.html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Bundesdatenschutzgesetz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38 BDSG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https://www.gesetze-im-internet.de/bdsg_2018/__38.html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Schulgesetz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48, 57, 120 und 121 SchulG NRW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https://recht.nrw.de/lmi/owa/br_bes_text?anw_nr=2&amp;bes_id=7345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Schülerdatenverordnung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1–3 und 9 sowie Anlagen der VO-DV I</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https://recht.nrw.de/lrgv/rechtsverordnung/01082022-verordnung-ueber-die-zur-verarbeitung-zugelassenen-daten-von/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Landespersonalvertretungsgesetz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72 LPVG NRW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https://recht.nrw.de/lmi/owa/pl_text_anzeigen?v_id=720031009101436847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Bayerisches Gesetz über das Erziehungs- und Unterrichtswesen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Art. 52 und 85 BayEUG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https://www.gesetze-bayern.de/Content/Document/BayEUG/true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13 Bayerische Schulordnung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46 und Anlage 2 BaySchO</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https://www.gesetze-bayern.de/Content/Document/BaySchO2016-46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14 Niedersächsisches Schulgesetz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31 NSchG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https://www.mk.niedersachsen.de/download/231335/Nds._Schulgesetz_zuletzt_geaendert_durch_Artikel_2_des_Gesetzes_vom_23._Juni_2026.pdf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Hessisches Schulgesetz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73 und 83 HSchG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https://www.rv.hessenrecht.hessen.de/bshe/document/jlr-SchulGHE2017V5IVZ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Schulgesetz Baden-Württemberg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115b 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https://www.landesrecht-bw.de/bsbw/?query=DOKNR%3Ajlr-NNLBW00007DD4NN00000000514&amp;source=PermaLink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Notenbildungsverordnung Baden-Württemberg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 NVO</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https://www.landesrecht-bw.de/bsbw/?docId=jlr-NNLBW00007BBDNN00000000032&amp;query=JURISLINK%3A%22NotBildV+BW+%C2%A7+7%22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18 Betriebsverfassungsgesetz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87 Abs. 1 Nr. 6 BetrVG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https://www.gesetze-im-internet.de/betrvg/__87.html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19 Telekommunikation-Digitale-Dienste-Datenschutz-Gesetz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25 TDDDG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https://www.gesetze-im-internet.de/tdddg/__25.html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US.docx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Family Educational Rights and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1232g; 34 CFR §§ 99.3, 99.7, 99.10–22, 99.30–33</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Children’s Online Privacy Protection Act and Rule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USC §§ 6501–6506; 16 CFR Part 312, as amended in 2025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https://www.ftc.gov/legal-library/browse/rules/childrens-online-privacy-protection-rule-coppa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FTC guidance on school authorisation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https://www.ftc.gov/business-guidance/resources/complying-coppa-frequently-asked-questions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Protection of Pupil Rights Amendment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1232h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https://studentprivacy.ed.gov/ppra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Title VI of the Civil Rights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42 USC § 2000d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https://www.justice.gov/crt/fcs/TitleVI</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Title IX of the Education Amendments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1681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https://www.ed.gov/laws-and-policy/civil-rights-laws/title-ix-and-sex-discrimination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Section 504 of the Rehabilitation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USC § 794; 34 CFR §§ 104.33–35 and 104.44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https://www.ed.gov/laws-and-policy/civil-rights-laws/disability-discrimination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Individuals with Disabilities Education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1414; 34 CFR §§ 300.304 and 300.320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https://sites.ed.gov/idea/regs/b/d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Americans with Disabilities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42 USC §§ 12132 and 12182; 28 CFR Part 35, including Subpart 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https://www.ada.gov/resources/2024-03-08-web-rule/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Federal distance education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34 CFR § 600.2, definition of distance education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https://www.ecfr.gov/current/title-34/subtitle-B/chapter-VI/part-600/section-600.2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Federal Trade Commission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USC § 45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https://www.ftc.gov/legal-library/browse/statutes/federal-trade-commission-act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New York Education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Education Law § 2-d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https://www.nysenate.gov/legislation/laws/EDN/2-D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13 New York Commissioner’s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NYCRR Part 121, especially §§ 121.3 and 121.6–7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https://www.counsel.nysed.gov/sites/counsel/files/rulesandregs/part-121-terms.pdf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14 Connecticut student data protection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Conn. Gen. Stat. §§ 10-234aa–10-234dd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https://www.cga.ct.gov/current/pub/chap_170.htm#sec_10-234bb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Illinois Student Online Personal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105 ILCS 85, especially §§ 10, 15 and 27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https://www.ilga.gov/Documents/legislation/ilcs/documents/010500850K15.htm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Colorado Student Data Transparency and Security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C.R.S. §§ 22-16-101–112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https://www.cde.state.co.us/dataprivacyandsecurity/studentdatatransparencyandsecurityact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California Student Online Personal Information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California Business and Professions Code § 22584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https://leginfo.legislature.ca.gov/faces/codes_displaySection.xhtml?sectionNum=22584.&amp;lawCode=BPC</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18 California Education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49073.1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https://leginfo.legislature.ca.gov/faces/codes_displaySection.xhtml?sectionNum=49073.1.&amp;lawCode=EDC</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19 Texas Education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Chapter 32, Subchapter D, §§ 32.151–32.156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https://statutes.capitol.texas.gov/Docs/ED/htm/ED.32.htm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Ohio Revised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3319.325–3319.326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https://codes.ohio.gov/ohio-revised-code/section-3319.326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21 Ohio district AI policy requirement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Ohio Revised Code § 3301.24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https://codes.ohio.gov/ohio-revised-code/section-3301.24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22 Utah Student Data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Utah Code § 53E-9-309, amended text effective 1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https://le.utah.gov/Session/2026/bills/enrolled/HB0055.pdf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23 Washington Student User Privacy in Education Rights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RCW Chapter 28A.604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https://app.leg.wa.gov/RCW/default.aspx?cite=28A.604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24 District of Columbia Protecting Students Digital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D.C. Code § 38-831.02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https://code.dccouncil.gov/us/dc/council/code/sections/38-831.02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25 California Consumer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California Civil Code §§ 1798.100–1798.199.100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https://leginfo.legislature.ca.gov/faces/codes_displayText.xhtml?division=3.&amp;part=4.&amp;lawCode=CIV&amp;title=1.81.5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26 California automated decisionmaking and risk assessment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CCR §§ 7001, 7150–7157 and 7200–7222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https://cppa.ca.gov/regulations/pdf/ccpa_updates_cyber_risk_admt_appr_text.pdf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27 Colorado Automated Decision Making Technology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SB 26-189, enacted 14 May 2026; duties from 1 January 2027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28 Oklahoma Responsible Technology in Schools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70 O.S. § 11-120, enacted by SB 1734 of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https://www.oklegislature.gov/cf_pdf/2025-26%20ENR/SB/SB1734%20ENR.PDF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Illinois Biometric Information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740 ILCS 14, especially §§ 10 and 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https://www.ilga.gov/legislation/ilcs/ilcs3.asp?ActID=3004&amp;ChapterID=57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30 Texas biometric identifier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Texas Business and Commerce Code § 503.001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https://statutes.capitol.texas.gov/Docs/BC/htm/BC.503.htm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31 Colorado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C.R.S. §§ 6-1-1301–1313 and implementing rules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https://coag.gov/resources/colorado-privacy-act/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32 Connecticut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Conn. Gen. Stat. §§ 42-515–42-526, as amended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https://www.cga.ct.gov/2026/sup/chap_743jj.htm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33 Minnesota Consumer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Minnesota Statutes §§ 325M.10–325M.21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https://www.revisor.mn.gov/statutes/cite/325M/full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34 New Jersey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N.J.S.A. 56:8-166.4 et seq., P.L. 2023 chapter 266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https://pub.njleg.state.nj.us/Bills/2022/PL23/266_.HTM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35 Louisiana student information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Louisiana R.S. 17:3914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https://legis.la.gov/legis/Law.aspx?d=920124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36 Section 508 of the Rehabilitation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USC § 794d and applicable federal accessibility standards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https://www.section508.gov/manage/laws-and-policies/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37 Executed education service and data protection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UK.docx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United Kingdom General Data Protection Regulation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UK GDPR, especially Articles 4–9, 12–22D, 24–39 and Chapter V</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https://www.legislation.gov.uk/eur/2016/679/contents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Data (Use and Access) Act 2025, sections 80 and 81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https://www.legislation.gov.uk/ukpga/2025/18/contents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Data Protection Act 2018</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Schedule 1; Schedule 2 Part 4 paragraph 25; section 164A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https://www.legislation.gov.uk/ukpga/2018/12/contents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Children’s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DPA 2018 section 123; ICO Age Appropriate Design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https://ico.org.uk/for-organisations/uk-gdpr-guidance-and-resources/childrens-information/childrens-code-guidance-and-resources/age-appropriate-design-a-code-of-practice-for-online-services/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Ofqual General Conditions of Recognition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Conditions A4, A6, A8, C1, D1, G6, H1, H2 and I1, where applicable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https://www.gov.uk/guidance/ofqual-handbook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Ofqual AI regulatory position, updated 16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Awarding body and centre assessment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JCQ AI Use in Assessments, applicable qualification specifications and centre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https://www.jcq.org.uk/exams-office/malpractice/artificial-intelligence/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Qualifications Wales Standard Conditions of Recognition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Standard Conditions, including requirements for valid assessment and marking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https://www.qualifications.wales/regulation/regulatory-conditions/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Scottish qualification assessment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Qualifications Scotland qualification specifications, assessment and quality-assurance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https://blogs.qualifications.gov.scot/nationalqualifications/understanding-the-road-to-results-day/</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Northern Ireland qualification assessment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CCEA qualification specifications and assessment instructions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https://ccea.org.uk/document/23891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Equality Act 2010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Sections 13, 19–21, 85, 91 and 149; applicable schedules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https://www.legislation.gov.uk/ukpga/2010/15/contents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Northern Ireland disability discrimination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Disability Discrimination Act 1995 as amended by the Special Educational Needs and Disability (Northern Ireland) Order 2005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https://www.legislation.gov.uk/nisi/2005/1117/contents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Northern Ireland Act 1998</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Section 75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https://www.legislation.gov.uk/ukpga/1998/47/section/75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Office for Students condition B4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Ongoing condition B4 on assessment and awards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https://www.officeforstudents.org.uk/for-providers/quality-and-standards/how-we-regulate-quality-and-standards/conditions-of-registration/condition-b4-assessment-and-awards/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Privacy and Electronic Communications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Regulation 6 of the Privacy and Electronic Communications (EC Directive) Regulations 2003, as amended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https://www.legislation.gov.uk/uksi/2003/2426/regulation/6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Contractually incorporated education product standards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Department for Education Generative AI product safety standards, updated 19 January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https://www.gov.uk/government/publications/generative-ai-product-safety-standards/generative-ai-product-safety-standards</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Implementation of the existing controls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Supplier DPAs: standard LLM terms can work if binding and equivalent to the school’s required protection. Obtain prior specific or general written subprocessor authorisation and give advance change notice and an opportunity to object where authorisation is general. Cover the complete service chain, not merely the model vendor. No-training settings do not replace processor terms or transfer safeguards.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Impact assessments: GRADIAS should maintain its own product risk assessment and supply data flows, risks, controls and supplier evidence. The school/controller owns the required DPIA. Covered deployers own the AI Act fundamental-rights assessment. A reusable pack supports, but does not replace, an assessment of actual local use. Consult the supervisor where the applicable unmitigated high-risk trigger requires it.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School DPA: Article 28 requires all mandatory particulars and obligations. Online acceptance must bind the responsible institution through an authorised representative. Keep the accepted version and evidence. US state contracts may need their own addenda. Standard service registration alone does not prove valid institutional authority.</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Authorisation: the existing authority-outreach proposal can support adoption and engagement. It does not itself grant school approval. Verify the actual controller/deployer, required local and qualification permissions, legal basis and any consent requirements. Consent is not universally required and is not always valid in education. Check confidentiality and applicable institutional permissions before a deployment.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Bias and accuracy: preserve teacher overrides as monitoring signals, but use independent qualified reference marking and representative validation. Test rubric-level accuracy, handwriting recognition, unjustified disparities and accessibility/accommodations. Where group data is used, establish the required legal basis and sensitive-data condition. Removing names does not demonstrate freedom from bias. Substantiate performance claims and avoid promising a legally undefined zero-bias certificate.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Recommendation only: implement the proposed teacher-control model as substantive case review by an authorised, capable teacher before a significant grade takes effect. Allow output rejection, item-level correction, evidence review and a reasoned appeal process. An appeal only after an AI decision is not equivalent to prior human decision-making. Preserve mandatory human examiners and moderation. A second-opinion label does not automatically avoid EU high-risk classification or US material-influence triggers. Document any EU Article 6(3) exception and ensure its no-profiling and other conditions hold.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Security and purpose limitation: recommended implementations include access controls, tenant separation, encryption in transit and at rest, separate identifiers, tested recovery and a data-category retention/deletion schedule covering OCR, prompts, outputs, logs and backups. Honour appeal/archive retention duties. Validate all transfer routes, including remote support. No unauthorised training, advertising or cross-customer reuse. GDPR does not universally mandate domestic hosting or a particular encryption product.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Transparency and rights: provide schools with clear notices, intended use, limitations, supplier and transfer information. Enable access, correction and applicable objection or deletion rights without conflating a mark dispute with inaccurate personal data. The processor informs the controller of a breach without undue delay and supports the controller’s statutory deadlines. Establish incident escalation, complaint handling and appeal support.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AI lifecycle and market duties: maintain intended-purpose classification, documented quality/risk controls, suitable tests and technical records. Meet applicable conformity assessment, declaration, CE marking and registration duties. Maintain required logs and post-market monitoring, train users and reassess significant changes. The institution retains its own deployment duties. Follow the rule-specific dates described on slide 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Country Word documents and Questions and Answers, Questions 7–15, as of 12 September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https://eur-lex.europa.eu/legal-content/EN/TXT/?uri=CELEX:32016R0679 (Articles 5, 6, 9, 22, 28, 32–36 and 44–49)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https://www.edpb.europa.eu/system/files/documents/2023-10/EDPB_guidelines_202007_controllerprocessor_final_en.pdf (paragraphs 100–110, 128–129 and section 1.6)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https://ico.org.uk/for-organisations/uk-gdpr-guidance-and-resources/controllers-and-processors/controllers-and-processors/what-does-it-mean-if-you-are-a-processor/</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https://ico.org.uk/for-organisations/uk-gdpr-guidance-and-resources/artificial-intelligence/guidance-on-ai-and-data-protection/how-do-we-ensure-fairness-in-ai/what-about-fairness-bias-and-discrimination/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https://eur-lex.europa.eu/eli/reg/2024/1689/oj/eng (Articles 6, 9–27, 43–50 and 72–73)</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Scope and application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The country columns group related norms from the country documents. Requirements bind different actors: GRADIAS as provider or processor, institutions as controllers or deployers, and teachers or examiners. Conditions, local jurisdiction, institution type, qualification and actual processing determine applicability. These are compliance requirements and proposed implementation measures, not a statement that GRADIAS has already implemented them.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Germany: Land school and data rules include SchulG NRW and VO-DV I, BayEUG and BaySchO, NSchG, HSchG, and SchG/NVO Baden-Württemberg. LPVG NRW and BetrVG apply only within their respective public-sector and private-employer scopes. BDSG section 38 adds provider DPO triggers. GG and VwVfG do not provide general authority for autonomous discretionary examination decisions.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United States: State student-data laws include NY Education Law section 2-d and 8 NYCRR 121, Connecticut sections 10-234aa–dd, Illinois SOPPA, Colorado Student Data Transparency and Security Act, California SOPIPA and Education Code 49073.1, Texas Education Code chapter 32, Ohio 3319.325–326, Utah 53E-9-309, Washington chapter 28A.604, DC 38-831.02 and Louisiana 17:3914. General state privacy laws include CCPA, Colorado, Connecticut, Minnesota and New Jersey, subject to scope and exemptions. Illinois BIPA and Texas biometric law apply if covered biometric identification is added. Ordinary handwriting transcription does not automatically trigger them. Ohio district AI policies and executed service/data agreements govern local use.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COPPA applies to covered online collection from under-13s, not automatically to adult-only teacher uploads. PPRA concerns covered sensitive surveys or evaluations, not ordinary academic marking. Section 508 concerns covered ICT of federal agencies, not every federally funded school. Section 504, ADA, IDEA and Title VI/IX have distinct scopes and obligations.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United Kingdom: Devolved qualification rules mean Qualifications Wales, Qualifications Scotland and CCEA requirements. Ofqual and OfS B4 apply in England within their respective scopes. Ofqual bars sole AI marking in assessments forming part of regulated qualifications. Equality Act 2010 covers Great Britain. Northern Ireland DDA/SENDO and Northern Ireland Act section 75 have distinct scopes. The Children’s code depends on likely access by under-18s. DfE product standards bind through incorporation into the relevant contract rather than acting as a universal statutory licence.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Timing: The accompanying Germany document identifies Regulation (EU) 2026/1744, which shifts AI Act Chapter III Sections 1–3 for Annex III systems to 2 December 2027, except Article 6(5). Section 5 is not expressly deferred. Assess conformity and registration timing separately rather than treating the change as blanket relief. Already applicable literacy measures, prohibitions and transparency rules still matter. Colorado SB 26-189 and California’s ADMT duties begin on 1 January 2027, with their own scope and transitional rules. Oklahoma’s substantive educator-control requirements apply from 1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https://eur-lex.europa.eu/legal-content/EN/ALL/?uri=CELEX:32026R1744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Full norm references from the accompanying Word documents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GERMANY</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Germany.docx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Datenschutz-Grundverordnung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Verordnung (EU) 2016/679, insbesondere Art. 4–6, 9, 12–22, 24–39 und 44–49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https://eur-lex.europa.eu/legal-content/DE/TXT/?uri=CELEX:32016R0679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EU-Verordnung über künstliche Intelligenz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Verordnung (EU) 2024/1689, insbesondere Art. 3–6, 8–27, 43–50, 72–73, 86, 111 und 113 sowie Anhang III Nr. 3 Buchst. 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https://eur-lex.europa.eu/eli/reg/2024/1689/oj/deu</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Änderung durch Verordnung (EU) 2026/1744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https://eur-lex.europa.eu/legal-content/DE/TXT/?uri=CELEX:32026R1744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Grundgesetz und verfassungsrechtliches Prüfungsrecht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Art. 3 Abs. 1, 12 Abs. 1 und 19 Abs. 4 GG; BVerwG 6 B 1.16, Rn. 12–14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https://www.bverwg.de/190516B6B1.16.0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BVerwG 6 C 19.18 zur rechtlichen Festlegung des Bewertungsverfahrens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https://www.bverwg.de/100419U6C19.18.0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Verwaltungsverfahrensgesetz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35a VwVfG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https://www.gesetze-im-internet.de/vwvfg/__35a.html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Beamtenstatusgesetz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37 BeamtStG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https://www.gesetze-im-internet.de/beamtstg/__37.html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Strafgesetzbuch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203 Abs. 2–4 StGB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https://www.gesetze-im-internet.de/stgb/__203.html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Bundesdatenschutzgesetz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38 BDSG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https://www.gesetze-im-internet.de/bdsg_2018/__38.html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Schulgesetz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48, 57, 120 und 121 SchulG NRW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https://recht.nrw.de/lmi/owa/br_bes_text?anw_nr=2&amp;bes_id=7345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Schülerdatenverordnung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1–3 und 9 sowie Anlagen der VO-DV I</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https://recht.nrw.de/lrgv/rechtsverordnung/01082022-verordnung-ueber-die-zur-verarbeitung-zugelassenen-daten-von/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Landespersonalvertretungsgesetz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72 LPVG NRW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https://recht.nrw.de/lmi/owa/pl_text_anzeigen?v_id=720031009101436847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Bayerisches Gesetz über das Erziehungs- und Unterrichtswesen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Art. 52 und 85 BayEUG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https://www.gesetze-bayern.de/Content/Document/BayEUG/true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13 Bayerische Schulordnung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46 und Anlage 2 BaySchO</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https://www.gesetze-bayern.de/Content/Document/BaySchO2016-46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14 Niedersächsisches Schulgesetz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31 NSchG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https://www.mk.niedersachsen.de/download/231335/Nds._Schulgesetz_zuletzt_geaendert_durch_Artikel_2_des_Gesetzes_vom_23._Juni_2026.pdf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Hessisches Schulgesetz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73 und 83 HSchG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https://www.rv.hessenrecht.hessen.de/bshe/document/jlr-SchulGHE2017V5IVZ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Schulgesetz Baden-Württemberg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115b 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https://www.landesrecht-bw.de/bsbw/?query=DOKNR%3Ajlr-NNLBW00007DD4NN00000000514&amp;source=PermaLink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Notenbildungsverordnung Baden-Württemberg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 NVO</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https://www.landesrecht-bw.de/bsbw/?docId=jlr-NNLBW00007BBDNN00000000032&amp;query=JURISLINK%3A%22NotBildV+BW+%C2%A7+7%22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18 Betriebsverfassungsgesetz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87 Abs. 1 Nr. 6 BetrVG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https://www.gesetze-im-internet.de/betrvg/__87.html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19 Telekommunikation-Digitale-Dienste-Datenschutz-Gesetz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25 TDDDG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https://www.gesetze-im-internet.de/tdddg/__25.html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US.docx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Family Educational Rights and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1232g; 34 CFR §§ 99.3, 99.7, 99.10–22, 99.30–33</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Children’s Online Privacy Protection Act and Rule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USC §§ 6501–6506; 16 CFR Part 312, as amended in 2025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https://www.ftc.gov/legal-library/browse/rules/childrens-online-privacy-protection-rule-coppa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FTC guidance on school authorisation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https://www.ftc.gov/business-guidance/resources/complying-coppa-frequently-asked-questions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Protection of Pupil Rights Amendment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1232h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https://studentprivacy.ed.gov/ppra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Title VI of the Civil Rights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42 USC § 2000d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https://www.justice.gov/crt/fcs/TitleVI</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Title IX of the Education Amendments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1681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https://www.ed.gov/laws-and-policy/civil-rights-laws/title-ix-and-sex-discrimination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Section 504 of the Rehabilitation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USC § 794; 34 CFR §§ 104.33–35 and 104.44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https://www.ed.gov/laws-and-policy/civil-rights-laws/disability-discrimination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Individuals with Disabilities Education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1414; 34 CFR §§ 300.304 and 300.320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https://sites.ed.gov/idea/regs/b/d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Americans with Disabilities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42 USC §§ 12132 and 12182; 28 CFR Part 35, including Subpart 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https://www.ada.gov/resources/2024-03-08-web-rule/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Federal distance education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34 CFR § 600.2, definition of distance education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https://www.ecfr.gov/current/title-34/subtitle-B/chapter-VI/part-600/section-600.2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Federal Trade Commission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USC § 45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https://www.ftc.gov/legal-library/browse/statutes/federal-trade-commission-act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New York Education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Education Law § 2-d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https://www.nysenate.gov/legislation/laws/EDN/2-D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13 New York Commissioner’s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NYCRR Part 121, especially §§ 121.3 and 121.6–7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https://www.counsel.nysed.gov/sites/counsel/files/rulesandregs/part-121-terms.pdf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14 Connecticut student data protection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Conn. Gen. Stat. §§ 10-234aa–10-234dd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https://www.cga.ct.gov/current/pub/chap_170.htm#sec_10-234bb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Illinois Student Online Personal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105 ILCS 85, especially §§ 10, 15 and 27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https://www.ilga.gov/Documents/legislation/ilcs/documents/010500850K15.htm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Colorado Student Data Transparency and Security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C.R.S. §§ 22-16-101–112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https://www.cde.state.co.us/dataprivacyandsecurity/studentdatatransparencyandsecurityact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California Student Online Personal Information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California Business and Professions Code § 22584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https://leginfo.legislature.ca.gov/faces/codes_displaySection.xhtml?sectionNum=22584.&amp;lawCode=BPC</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18 California Education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49073.1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https://leginfo.legislature.ca.gov/faces/codes_displaySection.xhtml?sectionNum=49073.1.&amp;lawCode=EDC</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19 Texas Education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Chapter 32, Subchapter D, §§ 32.151–32.156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https://statutes.capitol.texas.gov/Docs/ED/htm/ED.32.htm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Ohio Revised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3319.325–3319.326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https://codes.ohio.gov/ohio-revised-code/section-3319.326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21 Ohio district AI policy requirement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Ohio Revised Code § 3301.24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https://codes.ohio.gov/ohio-revised-code/section-3301.24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22 Utah Student Data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Utah Code § 53E-9-309, amended text effective 1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https://le.utah.gov/Session/2026/bills/enrolled/HB0055.pdf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23 Washington Student User Privacy in Education Rights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RCW Chapter 28A.604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https://app.leg.wa.gov/RCW/default.aspx?cite=28A.604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24 District of Columbia Protecting Students Digital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D.C. Code § 38-831.02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https://code.dccouncil.gov/us/dc/council/code/sections/38-831.02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25 California Consumer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California Civil Code §§ 1798.100–1798.199.100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https://leginfo.legislature.ca.gov/faces/codes_displayText.xhtml?division=3.&amp;part=4.&amp;lawCode=CIV&amp;title=1.81.5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26 California automated decisionmaking and risk assessment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CCR §§ 7001, 7150–7157 and 7200–7222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https://cppa.ca.gov/regulations/pdf/ccpa_updates_cyber_risk_admt_appr_text.pdf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27 Colorado Automated Decision Making Technology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SB 26-189, enacted 14 May 2026; duties from 1 January 2027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28 Oklahoma Responsible Technology in Schools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70 O.S. § 11-120, enacted by SB 1734 of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https://www.oklegislature.gov/cf_pdf/2025-26%20ENR/SB/SB1734%20ENR.PDF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Illinois Biometric Information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740 ILCS 14, especially §§ 10 and 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https://www.ilga.gov/legislation/ilcs/ilcs3.asp?ActID=3004&amp;ChapterID=57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30 Texas biometric identifier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Texas Business and Commerce Code § 503.001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https://statutes.capitol.texas.gov/Docs/BC/htm/BC.503.htm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31 Colorado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C.R.S. §§ 6-1-1301–1313 and implementing rules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https://coag.gov/resources/colorado-privacy-act/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32 Connecticut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Conn. Gen. Stat. §§ 42-515–42-526, as amended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https://www.cga.ct.gov/2026/sup/chap_743jj.htm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33 Minnesota Consumer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Minnesota Statutes §§ 325M.10–325M.21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https://www.revisor.mn.gov/statutes/cite/325M/full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34 New Jersey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N.J.S.A. 56:8-166.4 et seq., P.L. 2023 chapter 266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https://pub.njleg.state.nj.us/Bills/2022/PL23/266_.HTM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35 Louisiana student information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Louisiana R.S. 17:3914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https://legis.la.gov/legis/Law.aspx?d=920124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36 Section 508 of the Rehabilitation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USC § 794d and applicable federal accessibility standards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https://www.section508.gov/manage/laws-and-policies/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37 Executed education service and data protection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UK.docx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United Kingdom General Data Protection Regulation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UK GDPR, especially Articles 4–9, 12–22D, 24–39 and Chapter V</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https://www.legislation.gov.uk/eur/2016/679/contents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Data (Use and Access) Act 2025, sections 80 and 81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https://www.legislation.gov.uk/ukpga/2025/18/contents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Data Protection Act 2018</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Schedule 1; Schedule 2 Part 4 paragraph 25; section 164A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https://www.legislation.gov.uk/ukpga/2018/12/contents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Children’s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DPA 2018 section 123; ICO Age Appropriate Design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https://ico.org.uk/for-organisations/uk-gdpr-guidance-and-resources/childrens-information/childrens-code-guidance-and-resources/age-appropriate-design-a-code-of-practice-for-online-services/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Ofqual General Conditions of Recognition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Conditions A4, A6, A8, C1, D1, G6, H1, H2 and I1, where applicable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https://www.gov.uk/guidance/ofqual-handbook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Ofqual AI regulatory position, updated 16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Awarding body and centre assessment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JCQ AI Use in Assessments, applicable qualification specifications and centre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https://www.jcq.org.uk/exams-office/malpractice/artificial-intelligence/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Qualifications Wales Standard Conditions of Recognition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Standard Conditions, including requirements for valid assessment and marking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https://www.qualifications.wales/regulation/regulatory-conditions/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Scottish qualification assessment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Qualifications Scotland qualification specifications, assessment and quality-assurance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https://blogs.qualifications.gov.scot/nationalqualifications/understanding-the-road-to-results-day/</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Northern Ireland qualification assessment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CCEA qualification specifications and assessment instructions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https://ccea.org.uk/document/23891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Equality Act 2010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Sections 13, 19–21, 85, 91 and 149; applicable schedules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https://www.legislation.gov.uk/ukpga/2010/15/contents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Northern Ireland disability discrimination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Disability Discrimination Act 1995 as amended by the Special Educational Needs and Disability (Northern Ireland) Order 2005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https://www.legislation.gov.uk/nisi/2005/1117/contents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Northern Ireland Act 1998</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Section 75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https://www.legislation.gov.uk/ukpga/1998/47/section/75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Office for Students condition B4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Ongoing condition B4 on assessment and awards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https://www.officeforstudents.org.uk/for-providers/quality-and-standards/how-we-regulate-quality-and-standards/conditions-of-registration/condition-b4-assessment-and-awards/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Privacy and Electronic Communications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Regulation 6 of the Privacy and Electronic Communications (EC Directive) Regulations 2003, as amended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https://www.legislation.gov.uk/uksi/2003/2426/regulation/6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Contractually incorporated education product standards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Department for Education Generative AI product safety standards, updated 19 January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https://www.gov.uk/government/publications/generative-ai-product-safety-standards/generative-ai-product-safety-standards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Specific norms supporting the controls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School authorization of the teacher</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AI Exam Grading - Legal and Regulatory Requirements - Germany.docx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Datenschutz-Grundverordnung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Verordnung (EU) 2016/679, insbesondere Art. 4–6, 9, 12–22, 24–39 und 44–49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https://eur-lex.europa.eu/legal-content/DE/TXT/?uri=CELEX:32016R0679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Beamtenstatusgesetz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37 BeamtStG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https://www.gesetze-im-internet.de/beamtstg/__37.html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Schulgesetz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48, 57, 120 und 121 SchulG NRW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https://recht.nrw.de/lmi/owa/br_bes_text?anw_nr=2&amp;bes_id=7345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AI Exam Grading - Legal and Regulatory Requirements - UK.docx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United Kingdom General Data Protection Regulation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UK GDPR, especially Articles 4–9, 12–22D, 24–39 and Chapter V</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https://www.legislation.gov.uk/eur/2016/679/contents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Data (Use and Access) Act 2025, sections 80 and 81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https://www.legislation.gov.uk/ukpga/2025/18/contents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AI Exam Grading - Legal and Regulatory Requirements - US.docx</a:t>
            </a:r>
            <a:endParaRPr sz="1200">
              <a:solidFill>
                <a:schemeClr val="dk1"/>
              </a:solidFill>
              <a:latin typeface="Arial"/>
              <a:ea typeface="Arial"/>
              <a:cs typeface="Arial"/>
            </a:endParaRPr>
          </a:p>
          <a:p xmlns:a="http://schemas.openxmlformats.org/drawingml/2006/main">
            <a:r>
              <a:t>1 Family Educational Rights and Privacy Act</a:t>
            </a:r>
          </a:p>
          <a:p xmlns:a="http://schemas.openxmlformats.org/drawingml/2006/main">
            <a:r>
              <a:t>20 USC § 1232g; 34 CFR §§ 99.3, 99.7, 99.10–22, 99.30–33</a:t>
            </a:r>
          </a:p>
          <a:p xmlns:a="http://schemas.openxmlformats.org/drawingml/2006/main">
            <a:r>
              <a:t>https://studentprivacy.ed.gov/ferpa</a:t>
            </a:r>
          </a:p>
          <a:p xmlns:a="http://schemas.openxmlformats.org/drawingml/2006/main">
            <a:r>
              <a:t/>
            </a:r>
          </a:p>
          <a:p xmlns:a="http://schemas.openxmlformats.org/drawingml/2006/main">
            <a:r>
              <a:t>Impact assessments</a:t>
            </a:r>
          </a:p>
          <a:p xmlns:a="http://schemas.openxmlformats.org/drawingml/2006/main">
            <a:r>
              <a:t>AI Exam Grading - Legal and Regulatory Requirements - Germany.docx</a:t>
            </a:r>
          </a:p>
          <a:p xmlns:a="http://schemas.openxmlformats.org/drawingml/2006/main">
            <a:r>
              <a:t>1 Datenschutz-Grundverordnung</a:t>
            </a:r>
          </a:p>
          <a:p xmlns:a="http://schemas.openxmlformats.org/drawingml/2006/main">
            <a:r>
              <a:t>Verordnung (EU) 2016/679, insbesondere Art. 4–6, 9, 12–22, 24–39 und 44–49</a:t>
            </a:r>
          </a:p>
          <a:p xmlns:a="http://schemas.openxmlformats.org/drawingml/2006/main">
            <a:r>
              <a:t>https://eur-lex.europa.eu/legal-content/DE/TXT/?uri=CELEX:32016R0679</a:t>
            </a:r>
          </a:p>
          <a:p xmlns:a="http://schemas.openxmlformats.org/drawingml/2006/main">
            <a:r>
              <a:t>2 EU-Verordnung über künstliche Intelligenz</a:t>
            </a:r>
          </a:p>
          <a:p xmlns:a="http://schemas.openxmlformats.org/drawingml/2006/main">
            <a:r>
              <a:t>Verordnung (EU) 2024/1689, insbesondere Art. 3–6, 8–27, 43–50, 72–73, 86, 111 und 113 sowie Anhang III Nr. 3 Buchst. b</a:t>
            </a:r>
          </a:p>
          <a:p xmlns:a="http://schemas.openxmlformats.org/drawingml/2006/main">
            <a:r>
              <a:t>https://eur-lex.europa.eu/eli/reg/2024/1689/oj/deu</a:t>
            </a:r>
          </a:p>
          <a:p xmlns:a="http://schemas.openxmlformats.org/drawingml/2006/main">
            <a:r>
              <a:t>Änderung durch Verordnung (EU) 2026/1744</a:t>
            </a:r>
          </a:p>
          <a:p xmlns:a="http://schemas.openxmlformats.org/drawingml/2006/main">
            <a:r>
              <a:t>https://eur-lex.europa.eu/legal-content/DE/TXT/?uri=CELEX:32026R1744</a:t>
            </a:r>
          </a:p>
          <a:p xmlns:a="http://schemas.openxmlformats.org/drawingml/2006/main">
            <a:r>
              <a:t>AI Exam Grading - Legal and Regulatory Requirements - UK.docx</a:t>
            </a:r>
          </a:p>
          <a:p xmlns:a="http://schemas.openxmlformats.org/drawingml/2006/main">
            <a:r>
              <a:t>1 United Kingdom General Data Protection Regulation</a:t>
            </a:r>
          </a:p>
          <a:p xmlns:a="http://schemas.openxmlformats.org/drawingml/2006/main">
            <a:r>
              <a:t>UK GDPR, especially Articles 4–9, 12–22D, 24–39 and Chapter V</a:t>
            </a:r>
          </a:p>
          <a:p xmlns:a="http://schemas.openxmlformats.org/drawingml/2006/main">
            <a:r>
              <a:t>https://www.legislation.gov.uk/eur/2016/679/contents</a:t>
            </a:r>
          </a:p>
          <a:p xmlns:a="http://schemas.openxmlformats.org/drawingml/2006/main">
            <a:r>
              <a:t>Data (Use and Access) Act 2025, sections 80 and 81</a:t>
            </a:r>
          </a:p>
          <a:p xmlns:a="http://schemas.openxmlformats.org/drawingml/2006/main">
            <a:r>
              <a:t>https://www.legislation.gov.uk/ukpga/2025/18/contents</a:t>
            </a:r>
          </a:p>
          <a:p xmlns:a="http://schemas.openxmlformats.org/drawingml/2006/main">
            <a:r>
              <a:t/>
            </a:r>
          </a:p>
          <a:p xmlns:a="http://schemas.openxmlformats.org/drawingml/2006/main">
            <a:r>
              <a:t>DPA with school</a:t>
            </a:r>
          </a:p>
          <a:p xmlns:a="http://schemas.openxmlformats.org/drawingml/2006/main">
            <a:r>
              <a:t>AI Exam Grading - Legal and Regulatory Requirements - Germany.docx</a:t>
            </a:r>
          </a:p>
          <a:p xmlns:a="http://schemas.openxmlformats.org/drawingml/2006/main">
            <a:r>
              <a:t>1 Datenschutz-Grundverordnung</a:t>
            </a:r>
          </a:p>
          <a:p xmlns:a="http://schemas.openxmlformats.org/drawingml/2006/main">
            <a:r>
              <a:t>Verordnung (EU) 2016/679, insbesondere Art. 4–6, 9, 12–22, 24–39 und 44–49</a:t>
            </a:r>
          </a:p>
          <a:p xmlns:a="http://schemas.openxmlformats.org/drawingml/2006/main">
            <a:r>
              <a:t>https://eur-lex.europa.eu/legal-content/DE/TXT/?uri=CELEX:32016R0679</a:t>
            </a:r>
          </a:p>
          <a:p xmlns:a="http://schemas.openxmlformats.org/drawingml/2006/main">
            <a:r>
              <a:t>AI Exam Grading - Legal and Regulatory Requirements - UK.docx</a:t>
            </a:r>
          </a:p>
          <a:p xmlns:a="http://schemas.openxmlformats.org/drawingml/2006/main">
            <a:r>
              <a:t>1 United Kingdom General Data Protection Regulation</a:t>
            </a:r>
          </a:p>
          <a:p xmlns:a="http://schemas.openxmlformats.org/drawingml/2006/main">
            <a:r>
              <a:t>UK GDPR, especially Articles 4–9, 12–22D, 24–39 and Chapter V</a:t>
            </a:r>
          </a:p>
          <a:p xmlns:a="http://schemas.openxmlformats.org/drawingml/2006/main">
            <a:r>
              <a:t>https://www.legislation.gov.uk/eur/2016/679/contents</a:t>
            </a:r>
          </a:p>
          <a:p xmlns:a="http://schemas.openxmlformats.org/drawingml/2006/main">
            <a:r>
              <a:t>Data (Use and Access) Act 2025, sections 80 and 81</a:t>
            </a:r>
          </a:p>
          <a:p xmlns:a="http://schemas.openxmlformats.org/drawingml/2006/main">
            <a:r>
              <a:t>https://www.legislation.gov.uk/ukpga/2025/18/contents</a:t>
            </a:r>
          </a:p>
          <a:p xmlns:a="http://schemas.openxmlformats.org/drawingml/2006/main">
            <a:r>
              <a:t>AI Exam Grading - Legal and Regulatory Requirements - US.docx</a:t>
            </a:r>
          </a:p>
          <a:p xmlns:a="http://schemas.openxmlformats.org/drawingml/2006/main">
            <a:r>
              <a:t>18 California Education Code</a:t>
            </a:r>
          </a:p>
          <a:p xmlns:a="http://schemas.openxmlformats.org/drawingml/2006/main">
            <a:r>
              <a:t>§ 49073.1</a:t>
            </a:r>
          </a:p>
          <a:p xmlns:a="http://schemas.openxmlformats.org/drawingml/2006/main">
            <a:r>
              <a:t>https://leginfo.legislature.ca.gov/faces/codes_displaySection.xhtml?sectionNum=49073.1.&amp;lawCode=EDC</a:t>
            </a:r>
          </a:p>
          <a:p xmlns:a="http://schemas.openxmlformats.org/drawingml/2006/main">
            <a:r>
              <a:t/>
            </a:r>
          </a:p>
          <a:p xmlns:a="http://schemas.openxmlformats.org/drawingml/2006/main">
            <a:r>
              <a:t>DPA with subprocessors</a:t>
            </a:r>
          </a:p>
          <a:p xmlns:a="http://schemas.openxmlformats.org/drawingml/2006/main">
            <a:r>
              <a:t>AI Exam Grading - Legal and Regulatory Requirements - Germany.docx</a:t>
            </a:r>
          </a:p>
          <a:p xmlns:a="http://schemas.openxmlformats.org/drawingml/2006/main">
            <a:r>
              <a:t>1 Datenschutz-Grundverordnung</a:t>
            </a:r>
          </a:p>
          <a:p xmlns:a="http://schemas.openxmlformats.org/drawingml/2006/main">
            <a:r>
              <a:t>Verordnung (EU) 2016/679, insbesondere Art. 4–6, 9, 12–22, 24–39 und 44–49</a:t>
            </a:r>
          </a:p>
          <a:p xmlns:a="http://schemas.openxmlformats.org/drawingml/2006/main">
            <a:r>
              <a:t>https://eur-lex.europa.eu/legal-content/DE/TXT/?uri=CELEX:32016R0679</a:t>
            </a:r>
          </a:p>
          <a:p xmlns:a="http://schemas.openxmlformats.org/drawingml/2006/main">
            <a:r>
              <a:t>AI Exam Grading - Legal and Regulatory Requirements - UK.docx</a:t>
            </a:r>
          </a:p>
          <a:p xmlns:a="http://schemas.openxmlformats.org/drawingml/2006/main">
            <a:r>
              <a:t>1 United Kingdom General Data Protection Regulation</a:t>
            </a:r>
          </a:p>
          <a:p xmlns:a="http://schemas.openxmlformats.org/drawingml/2006/main">
            <a:r>
              <a:t>UK GDPR, especially Articles 4–9, 12–22D, 24–39 and Chapter V</a:t>
            </a:r>
          </a:p>
          <a:p xmlns:a="http://schemas.openxmlformats.org/drawingml/2006/main">
            <a:r>
              <a:t>https://www.legislation.gov.uk/eur/2016/679/contents</a:t>
            </a:r>
          </a:p>
          <a:p xmlns:a="http://schemas.openxmlformats.org/drawingml/2006/main">
            <a:r>
              <a:t>Data (Use and Access) Act 2025, sections 80 and 81</a:t>
            </a:r>
          </a:p>
          <a:p xmlns:a="http://schemas.openxmlformats.org/drawingml/2006/main">
            <a:r>
              <a:t>https://www.legislation.gov.uk/ukpga/2025/18/contents</a:t>
            </a:r>
          </a:p>
          <a:p xmlns:a="http://schemas.openxmlformats.org/drawingml/2006/main">
            <a:r>
              <a:t/>
            </a:r>
          </a:p>
          <a:p xmlns:a="http://schemas.openxmlformats.org/drawingml/2006/main">
            <a:r>
              <a:t>Evidence on bias and accuracy</a:t>
            </a:r>
          </a:p>
          <a:p xmlns:a="http://schemas.openxmlformats.org/drawingml/2006/main">
            <a:r>
              <a:t>AI Exam Grading - Legal and Regulatory Requirements - Germany.docx</a:t>
            </a:r>
          </a:p>
          <a:p xmlns:a="http://schemas.openxmlformats.org/drawingml/2006/main">
            <a:r>
              <a:t>2 EU-Verordnung über künstliche Intelligenz</a:t>
            </a:r>
          </a:p>
          <a:p xmlns:a="http://schemas.openxmlformats.org/drawingml/2006/main">
            <a:r>
              <a:t>Verordnung (EU) 2024/1689, insbesondere Art. 3–6, 8–27, 43–50, 72–73, 86, 111 und 113 sowie Anhang III Nr. 3 Buchst. b</a:t>
            </a:r>
          </a:p>
          <a:p xmlns:a="http://schemas.openxmlformats.org/drawingml/2006/main">
            <a:r>
              <a:t>https://eur-lex.europa.eu/eli/reg/2024/1689/oj/deu</a:t>
            </a:r>
          </a:p>
          <a:p xmlns:a="http://schemas.openxmlformats.org/drawingml/2006/main">
            <a:r>
              <a:t>Änderung durch Verordnung (EU) 2026/1744</a:t>
            </a:r>
          </a:p>
          <a:p xmlns:a="http://schemas.openxmlformats.org/drawingml/2006/main">
            <a:r>
              <a:t>https://eur-lex.europa.eu/legal-content/DE/TXT/?uri=CELEX:32026R1744</a:t>
            </a:r>
          </a:p>
          <a:p xmlns:a="http://schemas.openxmlformats.org/drawingml/2006/main">
            <a:r>
              <a:t>AI Exam Grading - Legal and Regulatory Requirements - UK.docx</a:t>
            </a:r>
          </a:p>
          <a:p xmlns:a="http://schemas.openxmlformats.org/drawingml/2006/main">
            <a:r>
              <a:t>9 Equality Act 2010</a:t>
            </a:r>
          </a:p>
          <a:p xmlns:a="http://schemas.openxmlformats.org/drawingml/2006/main">
            <a:r>
              <a:t>Sections 13, 19–21, 85, 91 and 149; applicable schedules</a:t>
            </a:r>
          </a:p>
          <a:p xmlns:a="http://schemas.openxmlformats.org/drawingml/2006/main">
            <a:r>
              <a:t>https://www.legislation.gov.uk/ukpga/2010/15/contents</a:t>
            </a:r>
          </a:p>
          <a:p xmlns:a="http://schemas.openxmlformats.org/drawingml/2006/main">
            <a:r>
              <a:t/>
            </a:r>
          </a:p>
          <a:p xmlns:a="http://schemas.openxmlformats.org/drawingml/2006/main">
            <a:r>
              <a:t>Recommendation only</a:t>
            </a:r>
          </a:p>
          <a:p xmlns:a="http://schemas.openxmlformats.org/drawingml/2006/main">
            <a:r>
              <a:t>AI Exam Grading - Legal and Regulatory Requirements - Germany.docx</a:t>
            </a:r>
          </a:p>
          <a:p xmlns:a="http://schemas.openxmlformats.org/drawingml/2006/main">
            <a:r>
              <a:t>2 EU-Verordnung über künstliche Intelligenz</a:t>
            </a:r>
          </a:p>
          <a:p xmlns:a="http://schemas.openxmlformats.org/drawingml/2006/main">
            <a:r>
              <a:t>Verordnung (EU) 2024/1689, insbesondere Art. 3–6, 8–27, 43–50, 72–73, 86, 111 und 113 sowie Anhang III Nr. 3 Buchst. b</a:t>
            </a:r>
          </a:p>
          <a:p xmlns:a="http://schemas.openxmlformats.org/drawingml/2006/main">
            <a:r>
              <a:t>https://eur-lex.europa.eu/eli/reg/2024/1689/oj/deu</a:t>
            </a:r>
          </a:p>
          <a:p xmlns:a="http://schemas.openxmlformats.org/drawingml/2006/main">
            <a:r>
              <a:t>Änderung durch Verordnung (EU) 2026/1744</a:t>
            </a:r>
          </a:p>
          <a:p xmlns:a="http://schemas.openxmlformats.org/drawingml/2006/main">
            <a:r>
              <a:t>https://eur-lex.europa.eu/legal-content/DE/TXT/?uri=CELEX:32026R1744</a:t>
            </a:r>
          </a:p>
          <a:p xmlns:a="http://schemas.openxmlformats.org/drawingml/2006/main">
            <a:r>
              <a:t>3 Grundgesetz und verfassungsrechtliches Prüfungsrecht</a:t>
            </a:r>
          </a:p>
          <a:p xmlns:a="http://schemas.openxmlformats.org/drawingml/2006/main">
            <a:r>
              <a:t>Art. 3 Abs. 1, 12 Abs. 1 und 19 Abs. 4 GG; BVerwG 6 B 1.16, Rn. 12–14</a:t>
            </a:r>
          </a:p>
          <a:p xmlns:a="http://schemas.openxmlformats.org/drawingml/2006/main">
            <a:r>
              <a:t>https://www.bverwg.de/190516B6B1.16.0</a:t>
            </a:r>
          </a:p>
          <a:p xmlns:a="http://schemas.openxmlformats.org/drawingml/2006/main">
            <a:r>
              <a:t>BVerwG 6 C 19.18 zur rechtlichen Festlegung des Bewertungsverfahrens</a:t>
            </a:r>
          </a:p>
          <a:p xmlns:a="http://schemas.openxmlformats.org/drawingml/2006/main">
            <a:r>
              <a:t>https://www.bverwg.de/100419U6C19.18.0</a:t>
            </a:r>
          </a:p>
          <a:p xmlns:a="http://schemas.openxmlformats.org/drawingml/2006/main">
            <a:r>
              <a:t>AI Exam Grading - Legal and Regulatory Requirements - UK.docx</a:t>
            </a:r>
          </a:p>
          <a:p xmlns:a="http://schemas.openxmlformats.org/drawingml/2006/main">
            <a:r>
              <a:t>4 Ofqual General Conditions of Recognition</a:t>
            </a:r>
          </a:p>
          <a:p xmlns:a="http://schemas.openxmlformats.org/drawingml/2006/main">
            <a:r>
              <a:t>Conditions A4, A6, A8, C1, D1, G6, H1, H2 and I1, where applicable</a:t>
            </a:r>
          </a:p>
          <a:p xmlns:a="http://schemas.openxmlformats.org/drawingml/2006/main">
            <a:r>
              <a:t>https://www.gov.uk/guidance/ofqual-handbook</a:t>
            </a:r>
          </a:p>
          <a:p xmlns:a="http://schemas.openxmlformats.org/drawingml/2006/main">
            <a:r>
              <a:t>Ofqual AI regulatory position, updated 16 July 2026</a:t>
            </a:r>
          </a:p>
          <a:p xmlns:a="http://schemas.openxmlformats.org/drawingml/2006/main">
            <a:r>
              <a:t>https://www.gov.uk/government/publications/ofquals-approach-to-regulating-the-use-of-artificial-intelligence-in-the-qualifications-sector/ofquals-approach-to-regulating-the-use-of-artificial-intelligence-in-the-qualifications-sector--2</a:t>
            </a:r>
          </a:p>
          <a:p xmlns:a="http://schemas.openxmlformats.org/drawingml/2006/main">
            <a:r>
              <a:t>AI Exam Grading - Legal and Regulatory Requirements - US.docx</a:t>
            </a:r>
          </a:p>
          <a:p xmlns:a="http://schemas.openxmlformats.org/drawingml/2006/main">
            <a:r>
              <a:t>28 Oklahoma Responsible Technology in Schools Act</a:t>
            </a:r>
          </a:p>
          <a:p xmlns:a="http://schemas.openxmlformats.org/drawingml/2006/main">
            <a:r>
              <a:t>70 O.S. § 11-120, enacted by SB 1734 of 2026</a:t>
            </a:r>
          </a:p>
          <a:p xmlns:a="http://schemas.openxmlformats.org/drawingml/2006/main">
            <a:r>
              <a:t>https://www.oklegislature.gov/cf_pdf/2025-26%20ENR/SB/SB1734%20ENR.PDF</a:t>
            </a:r>
          </a:p>
          <a:p xmlns:a="http://schemas.openxmlformats.org/drawingml/2006/main">
            <a:r>
              <a:t/>
            </a:r>
          </a:p>
          <a:p xmlns:a="http://schemas.openxmlformats.org/drawingml/2006/main">
            <a:r>
              <a:t>Security and limited data use</a:t>
            </a:r>
          </a:p>
          <a:p xmlns:a="http://schemas.openxmlformats.org/drawingml/2006/main">
            <a:r>
              <a:t>AI Exam Grading - Legal and Regulatory Requirements - Germany.docx</a:t>
            </a:r>
          </a:p>
          <a:p xmlns:a="http://schemas.openxmlformats.org/drawingml/2006/main">
            <a:r>
              <a:t>1 Datenschutz-Grundverordnung</a:t>
            </a:r>
          </a:p>
          <a:p xmlns:a="http://schemas.openxmlformats.org/drawingml/2006/main">
            <a:r>
              <a:t>Verordnung (EU) 2016/679, insbesondere Art. 4–6, 9, 12–22, 24–39 und 44–49</a:t>
            </a:r>
          </a:p>
          <a:p xmlns:a="http://schemas.openxmlformats.org/drawingml/2006/main">
            <a:r>
              <a:t>https://eur-lex.europa.eu/legal-content/DE/TXT/?uri=CELEX:32016R0679</a:t>
            </a:r>
          </a:p>
          <a:p xmlns:a="http://schemas.openxmlformats.org/drawingml/2006/main">
            <a:r>
              <a:t>AI Exam Grading - Legal and Regulatory Requirements - UK.docx</a:t>
            </a:r>
          </a:p>
          <a:p xmlns:a="http://schemas.openxmlformats.org/drawingml/2006/main">
            <a:r>
              <a:t>1 United Kingdom General Data Protection Regulation</a:t>
            </a:r>
          </a:p>
          <a:p xmlns:a="http://schemas.openxmlformats.org/drawingml/2006/main">
            <a:r>
              <a:t>UK GDPR, especially Articles 4–9, 12–22D, 24–39 and Chapter V</a:t>
            </a:r>
          </a:p>
          <a:p xmlns:a="http://schemas.openxmlformats.org/drawingml/2006/main">
            <a:r>
              <a:t>https://www.legislation.gov.uk/eur/2016/679/contents</a:t>
            </a:r>
          </a:p>
          <a:p xmlns:a="http://schemas.openxmlformats.org/drawingml/2006/main">
            <a:r>
              <a:t>Data (Use and Access) Act 2025, sections 80 and 81</a:t>
            </a:r>
          </a:p>
          <a:p xmlns:a="http://schemas.openxmlformats.org/drawingml/2006/main">
            <a:r>
              <a:t>https://www.legislation.gov.uk/ukpga/2025/18/contents</a:t>
            </a:r>
          </a:p>
          <a:p xmlns:a="http://schemas.openxmlformats.org/drawingml/2006/main">
            <a:r>
              <a:t>AI Exam Grading - Legal and Regulatory Requirements - US.docx</a:t>
            </a:r>
          </a:p>
          <a:p xmlns:a="http://schemas.openxmlformats.org/drawingml/2006/main">
            <a:r>
              <a:t>1 Family Educational Rights and Privacy Act</a:t>
            </a:r>
          </a:p>
          <a:p xmlns:a="http://schemas.openxmlformats.org/drawingml/2006/main">
            <a:r>
              <a:t>20 USC § 1232g; 34 CFR §§ 99.3, 99.7, 99.10–22, 99.30–33</a:t>
            </a:r>
          </a:p>
          <a:p xmlns:a="http://schemas.openxmlformats.org/drawingml/2006/main">
            <a:r>
              <a:t>https://studentprivacy.ed.gov/ferpa</a:t>
            </a:r>
          </a:p>
          <a:p xmlns:a="http://schemas.openxmlformats.org/drawingml/2006/main">
            <a:r>
              <a:t/>
            </a:r>
          </a:p>
          <a:p xmlns:a="http://schemas.openxmlformats.org/drawingml/2006/main">
            <a:r>
              <a:t>Transparency and student rights</a:t>
            </a:r>
          </a:p>
          <a:p xmlns:a="http://schemas.openxmlformats.org/drawingml/2006/main">
            <a:r>
              <a:t>AI Exam Grading - Legal and Regulatory Requirements - Germany.docx</a:t>
            </a:r>
          </a:p>
          <a:p xmlns:a="http://schemas.openxmlformats.org/drawingml/2006/main">
            <a:r>
              <a:t>1 Datenschutz-Grundverordnung</a:t>
            </a:r>
          </a:p>
          <a:p xmlns:a="http://schemas.openxmlformats.org/drawingml/2006/main">
            <a:r>
              <a:t>Verordnung (EU) 2016/679, insbesondere Art. 4–6, 9, 12–22, 24–39 und 44–49</a:t>
            </a:r>
          </a:p>
          <a:p xmlns:a="http://schemas.openxmlformats.org/drawingml/2006/main">
            <a:r>
              <a:t>https://eur-lex.europa.eu/legal-content/DE/TXT/?uri=CELEX:32016R0679</a:t>
            </a:r>
          </a:p>
          <a:p xmlns:a="http://schemas.openxmlformats.org/drawingml/2006/main">
            <a:r>
              <a:t>2 EU-Verordnung über künstliche Intelligenz</a:t>
            </a:r>
          </a:p>
          <a:p xmlns:a="http://schemas.openxmlformats.org/drawingml/2006/main">
            <a:r>
              <a:t>Verordnung (EU) 2024/1689, insbesondere Art. 3–6, 8–27, 43–50, 72–73, 86, 111 und 113 sowie Anhang III Nr. 3 Buchst. b</a:t>
            </a:r>
          </a:p>
          <a:p xmlns:a="http://schemas.openxmlformats.org/drawingml/2006/main">
            <a:r>
              <a:t>https://eur-lex.europa.eu/eli/reg/2024/1689/oj/deu</a:t>
            </a:r>
          </a:p>
          <a:p xmlns:a="http://schemas.openxmlformats.org/drawingml/2006/main">
            <a:r>
              <a:t>Änderung durch Verordnung (EU) 2026/1744</a:t>
            </a:r>
          </a:p>
          <a:p xmlns:a="http://schemas.openxmlformats.org/drawingml/2006/main">
            <a:r>
              <a:t>https://eur-lex.europa.eu/legal-content/DE/TXT/?uri=CELEX:32026R1744</a:t>
            </a:r>
          </a:p>
          <a:p xmlns:a="http://schemas.openxmlformats.org/drawingml/2006/main">
            <a:r>
              <a:t>AI Exam Grading - Legal and Regulatory Requirements - UK.docx</a:t>
            </a:r>
          </a:p>
          <a:p xmlns:a="http://schemas.openxmlformats.org/drawingml/2006/main">
            <a:r>
              <a:t>1 United Kingdom General Data Protection Regulation</a:t>
            </a:r>
          </a:p>
          <a:p xmlns:a="http://schemas.openxmlformats.org/drawingml/2006/main">
            <a:r>
              <a:t>UK GDPR, especially Articles 4–9, 12–22D, 24–39 and Chapter V</a:t>
            </a:r>
          </a:p>
          <a:p xmlns:a="http://schemas.openxmlformats.org/drawingml/2006/main">
            <a:r>
              <a:t>https://www.legislation.gov.uk/eur/2016/679/contents</a:t>
            </a:r>
          </a:p>
          <a:p xmlns:a="http://schemas.openxmlformats.org/drawingml/2006/main">
            <a:r>
              <a:t>Data (Use and Access) Act 2025, sections 80 and 81</a:t>
            </a:r>
          </a:p>
          <a:p xmlns:a="http://schemas.openxmlformats.org/drawingml/2006/main">
            <a:r>
              <a:t>https://www.legislation.gov.uk/ukpga/2025/18/contents</a:t>
            </a:r>
          </a:p>
          <a:p xmlns:a="http://schemas.openxmlformats.org/drawingml/2006/main">
            <a:r>
              <a:t>2 Data Protection Act 2018</a:t>
            </a:r>
          </a:p>
          <a:p xmlns:a="http://schemas.openxmlformats.org/drawingml/2006/main">
            <a:r>
              <a:t>Schedule 1; Schedule 2 Part 4 paragraph 25; section 164A</a:t>
            </a:r>
          </a:p>
          <a:p xmlns:a="http://schemas.openxmlformats.org/drawingml/2006/main">
            <a:r>
              <a:t>https://www.legislation.gov.uk/ukpga/2018/12/contents</a:t>
            </a:r>
          </a:p>
          <a:p xmlns:a="http://schemas.openxmlformats.org/drawingml/2006/main">
            <a:r>
              <a:t>AI Exam Grading - Legal and Regulatory Requirements - US.docx</a:t>
            </a:r>
          </a:p>
          <a:p xmlns:a="http://schemas.openxmlformats.org/drawingml/2006/main">
            <a:r>
              <a:t>1 Family Educational Rights and Privacy Act</a:t>
            </a:r>
          </a:p>
          <a:p xmlns:a="http://schemas.openxmlformats.org/drawingml/2006/main">
            <a:r>
              <a:t>20 USC § 1232g; 34 CFR §§ 99.3, 99.7, 99.10–22, 99.30–33</a:t>
            </a:r>
          </a:p>
          <a:p xmlns:a="http://schemas.openxmlformats.org/drawingml/2006/main">
            <a:r>
              <a:t>https://studentprivacy.ed.gov/ferpa</a:t>
            </a:r>
          </a:p>
          <a:p xmlns:a="http://schemas.openxmlformats.org/drawingml/2006/main">
            <a:r>
              <a:t/>
            </a:r>
          </a:p>
          <a:p xmlns:a="http://schemas.openxmlformats.org/drawingml/2006/main">
            <a:r>
              <a:t>Ongoing AI and market duties</a:t>
            </a:r>
          </a:p>
          <a:p xmlns:a="http://schemas.openxmlformats.org/drawingml/2006/main">
            <a:r>
              <a:t>AI Exam Grading - Legal and Regulatory Requirements - Germany.docx</a:t>
            </a:r>
          </a:p>
          <a:p xmlns:a="http://schemas.openxmlformats.org/drawingml/2006/main">
            <a:r>
              <a:t>2 EU-Verordnung über künstliche Intelligenz</a:t>
            </a:r>
          </a:p>
          <a:p xmlns:a="http://schemas.openxmlformats.org/drawingml/2006/main">
            <a:r>
              <a:t>Verordnung (EU) 2024/1689, insbesondere Art. 3–6, 8–27, 43–50, 72–73, 86, 111 und 113 sowie Anhang III Nr. 3 Buchst. b</a:t>
            </a:r>
          </a:p>
          <a:p xmlns:a="http://schemas.openxmlformats.org/drawingml/2006/main">
            <a:r>
              <a:t>https://eur-lex.europa.eu/eli/reg/2024/1689/oj/deu</a:t>
            </a:r>
          </a:p>
          <a:p xmlns:a="http://schemas.openxmlformats.org/drawingml/2006/main">
            <a:r>
              <a:t>Änderung durch Verordnung (EU) 2026/1744</a:t>
            </a:r>
          </a:p>
          <a:p xmlns:a="http://schemas.openxmlformats.org/drawingml/2006/main">
            <a:r>
              <a:t>https://eur-lex.europa.eu/legal-content/DE/TXT/?uri=CELEX:32026R1744</a:t>
            </a:r>
          </a:p>
          <a:p xmlns:a="http://schemas.openxmlformats.org/drawingml/2006/main">
            <a:r>
              <a:t>AI Exam Grading - Legal and Regulatory Requirements - US.docx</a:t>
            </a:r>
          </a:p>
          <a:p xmlns:a="http://schemas.openxmlformats.org/drawingml/2006/main">
            <a:r>
              <a:t>26 California automated decisionmaking and risk assessment regulations</a:t>
            </a:r>
          </a:p>
          <a:p xmlns:a="http://schemas.openxmlformats.org/drawingml/2006/main">
            <a:r>
              <a:t>11 CCR §§ 7001, 7150–7157 and 7200–7222</a:t>
            </a:r>
          </a:p>
          <a:p xmlns:a="http://schemas.openxmlformats.org/drawingml/2006/main">
            <a:r>
              <a:t>https://cppa.ca.gov/regulations/pdf/ccpa_updates_cyber_risk_admt_appr_text.pdf</a:t>
            </a:r>
          </a:p>
          <a:p xmlns:a="http://schemas.openxmlformats.org/drawingml/2006/main">
            <a:r>
              <a:t/>
            </a:r>
          </a:p>
          <a:p xmlns:a="http://schemas.openxmlformats.org/drawingml/2006/main">
            <a:r>
              <a:t>These provisions apply within the territorial, institutional and material scope and dates described in the accompanying country documents. EU/UK GDPR denotes the respective EU and UK General Data Protection Regulation. EU AI Act denotes Regulation (EU) 2024/1689 as amended. Ofqual references denote the General Conditions of Recognition. CA 11 CCR denotes title 11 of the California Code of Regulations. 70 O.S. denotes title 70 of the Oklahoma Statutes. The proposed implementation measures do not transfer the institution’s own duties to the provider.</a:t>
            </a:r>
          </a:p>
          <a:p xmlns:a="http://schemas.openxmlformats.org/drawingml/2006/main">
            <a:r>
              <a:t/>
            </a:r>
          </a:p>
          <a:p xmlns:a="http://schemas.openxmlformats.org/drawingml/2006/main">
            <a:r>
              <a:t>Institutional authority: existing approval, a central contract or delegated authority can cover the specific use. A separate approval for every teacher action is not universally required. Genuine anonymisation can remove personal-data requirements for subsequent anonymous processing; access to and anonymisation of original records still require lawful authority. Other applicable confidentiality, employment and institutional rules continue to apply. See Questions 9, 9a and 9b in AI Exam Grading - Legal and Regulatory Requirements Questions Answers.docx, GDPR Articles 5, 6, 24, 28 and 29 and recital 26, and FERPA 34 CFR § 99.31(b)(1). Questions 14 and 15 explain binding electronic processing terms under GDPR Article 28(3), (4) and (9).</a:t>
            </a:r>
          </a:p>
          <a:p xmlns:a="http://schemas.openxmlformats.org/drawingml/2006/main">
            <a:r>
              <a:t/>
            </a:r>
          </a:p>
          <a:p xmlns:a="http://schemas.openxmlformats.org/drawingml/2006/main">
            <a:r>
              <a:t>Anonymous trial permissions</a:t>
            </a:r>
          </a:p>
          <a:p xmlns:a="http://schemas.openxmlformats.org/drawingml/2006/main">
            <a:r>
              <a:t>Genuine anonymisation can remove the personal-data requirements for subsequent anonymous inputs. Confidentiality duties and applicable institutional approval rules continue to apply. Access to and anonymisation of original student records must itself be authorised. Apply the conditions in Questions 9a and 9b before describing a trial as requiring no new approval. A contractual liability guarantee does not itself supply a missing permission.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7576b0aa5d4569" /><Relationship Type="http://schemas.openxmlformats.org/officeDocument/2006/relationships/image" Target="/ppt/media/image.png" Id="R0a0ee158e4ae41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2195c730434938" /><Relationship Type="http://schemas.openxmlformats.org/officeDocument/2006/relationships/image" Target="/ppt/media/image2.png" Id="R5be2aeffeea941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c476c9c5684795" /><Relationship Type="http://schemas.openxmlformats.org/officeDocument/2006/relationships/image" Target="/ppt/media/image2.png" Id="R6d453ba48514409f" /><Relationship Type="http://schemas.openxmlformats.org/officeDocument/2006/relationships/image" Target="/ppt/media/image.png" Id="R77d957d666d34fcb" /></Relationships>
</file>

<file path=ppt/slideLayouts/slideLayout1.xml><?xml version="1.0" encoding="utf-8"?>
<p:sldLayout xmlns:p="http://schemas.openxmlformats.org/presentationml/2006/main" matchingName="Title Slide 1" preserve="1" userDrawn="1">
  <p:cSld name="Cover">
    <p:bg>
      <p:bgPr>
        <a:solidFill xmlns:a="http://schemas.openxmlformats.org/drawingml/2006/main">
          <a:srgbClr val="89B4D6"/>
        </a:solidFill>
      </p:bgPr>
    </p:bg>
    <p:spTree>
      <p:nvGrpSpPr>
        <p:cNvPr id="1" name=""/>
        <p:cNvGrpSpPr/>
        <p:nvPr/>
      </p:nvGrpSpPr>
      <p:grpSpPr>
        <a:xfrm xmlns:a="http://schemas.openxmlformats.org/drawingml/2006/main"/>
      </p:grpSpPr>
      <p:pic>
        <p:nvPicPr>
          <p:cNvPr id="2" name="Google Shape;93;p2"/>
          <p:cNvPicPr>
            <a:picLocks xmlns:a="http://schemas.openxmlformats.org/drawingml/2006/main" noChangeAspect="1"/>
          </p:cNvPicPr>
          <p:nvPr/>
        </p:nvPicPr>
        <p:blipFill rotWithShape="1">
          <a:blip xmlns:r="http://schemas.openxmlformats.org/officeDocument/2006/relationships" xmlns:a="http://schemas.openxmlformats.org/drawingml/2006/main" r:embed="R0a0ee158e4ae4164">
            <a:alphaModFix amt="23000"/>
          </a:blip>
          <a:srcRect xmlns:a="http://schemas.openxmlformats.org/drawingml/2006/main" l="0" t="0" r="0" b="0"/>
          <a:stretch xmlns:a="http://schemas.openxmlformats.org/drawingml/2006/main"/>
        </p:blipFill>
        <p:spPr>
          <a:xfrm xmlns:a="http://schemas.openxmlformats.org/drawingml/2006/main">
            <a:off x="3540262" y="-4983252"/>
            <a:ext cx="16824504" cy="16824504"/>
          </a:xfrm>
          <a:prstGeom xmlns:a="http://schemas.openxmlformats.org/drawingml/2006/main" prst="rect">
            <a:avLst/>
          </a:prstGeom>
          <a:ln xmlns:a="http://schemas.openxmlformats.org/drawingml/2006/main">
            <a:noFill/>
          </a:ln>
        </p:spPr>
      </p:pic>
    </p:spTree>
  </p:cSld>
</p:sldLayout>
</file>

<file path=ppt/slideLayouts/slideLayout2.xml><?xml version="1.0" encoding="utf-8"?>
<p:sldLayout xmlns:p="http://schemas.openxmlformats.org/presentationml/2006/main" matchingName="Title Slide 1">
  <p:cSld name="Default Slide">
    <p:spTree>
      <p:nvGrpSpPr>
        <p:cNvPr id="1" name=""/>
        <p:cNvGrpSpPr/>
        <p:nvPr/>
      </p:nvGrpSpPr>
      <p:grpSpPr>
        <a:xfrm xmlns:a="http://schemas.openxmlformats.org/drawingml/2006/main"/>
      </p:grpSpPr>
      <p:sp>
        <p:nvSpPr>
          <p:cNvPr id="7" name="Google Shape;7;p43">
            <a:extLst xmlns:a="http://schemas.openxmlformats.org/drawingml/2006/main">
              <a:ext uri="{FF2B5EF4-FFF2-40B4-BE49-F238E27FC236}">
                <a16:creationId xmlns:a16="http://schemas.microsoft.com/office/drawing/2014/main" id="{D69E13AB-9D1B-4442-95D3-0878429C9C40}"/>
              </a:ext>
            </a:extLst>
          </p:cNvPr>
          <p:cNvSpPr>
            <a:spLocks xmlns:a="http://schemas.openxmlformats.org/drawingml/2006/main" noGrp="1"/>
          </p:cNvSpPr>
          <p:nvPr>
            <p:ph type="body" idx="1"/>
          </p:nvPr>
        </p:nvSpPr>
        <p:spPr>
          <a:xfrm xmlns:a="http://schemas.openxmlformats.org/drawingml/2006/main">
            <a:off x="330200" y="272235"/>
            <a:ext cx="11655300" cy="29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lvl1pPr marL="457200" marR="0" indent="-228600" algn="l">
              <a:lnSpc>
                <a:spcPct val="100000"/>
              </a:lnSpc>
              <a:spcBef>
                <a:spcPts val="0"/>
              </a:spcBef>
              <a:spcAft>
                <a:spcPts val="0"/>
              </a:spcAft>
              <a:buClr>
                <a:srgbClr val="000000"/>
              </a:buClr>
              <a:buSzPts val="1400"/>
              <a:buFont typeface="Arial"/>
              <a:buNone/>
              <a:defRPr sz="1200" b="1" i="0" u="none" cap="none">
                <a:solidFill>
                  <a:srgbClr val="89B4D6"/>
                </a:solidFill>
                <a:latin typeface="Inter"/>
                <a:ea typeface="Inter"/>
                <a:cs typeface="Inter"/>
              </a:defRPr>
            </a:lvl1pPr>
            <a:lvl2pPr marL="914400" marR="0" indent="-228600" algn="l">
              <a:lnSpc>
                <a:spcPct val="100000"/>
              </a:lnSpc>
              <a:spcBef>
                <a:spcPts val="0"/>
              </a:spcBef>
              <a:spcAft>
                <a:spcPts val="0"/>
              </a:spcAft>
              <a:buClr>
                <a:srgbClr val="000000"/>
              </a:buClr>
              <a:buSzPts val="1400"/>
              <a:buFont typeface="Arial"/>
              <a:buNone/>
              <a:defRPr sz="1050" b="0" i="0" u="none" cap="none">
                <a:solidFill>
                  <a:srgbClr val="7F7F7F"/>
                </a:solidFill>
                <a:latin typeface="Arial"/>
                <a:ea typeface="Arial"/>
                <a:cs typeface="Arial"/>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xmlns:a="http://schemas.openxmlformats.org/drawingml/2006/main">
            <a:endParaRPr/>
          </a:p>
        </p:txBody>
      </p:sp>
      <p:sp>
        <p:nvSpPr>
          <p:cNvPr id="8" name="Google Shape;8;p43">
            <a:extLst xmlns:a="http://schemas.openxmlformats.org/drawingml/2006/main">
              <a:ext uri="{FF2B5EF4-FFF2-40B4-BE49-F238E27FC236}">
                <a16:creationId xmlns:a16="http://schemas.microsoft.com/office/drawing/2014/main" id="{CC783599-0657-43D6-9563-765FF7BD06FD}"/>
              </a:ext>
            </a:extLst>
          </p:cNvPr>
          <p:cNvSpPr>
            <a:spLocks xmlns:a="http://schemas.openxmlformats.org/drawingml/2006/main" noGrp="1"/>
          </p:cNvSpPr>
          <p:nvPr>
            <p:ph type="body" idx="2"/>
          </p:nvPr>
        </p:nvSpPr>
        <p:spPr>
          <a:xfrm xmlns:a="http://schemas.openxmlformats.org/drawingml/2006/main">
            <a:off x="330200" y="626802"/>
            <a:ext cx="11655300" cy="8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lvl1pPr marL="457200" marR="0" indent="-228600" algn="l">
              <a:lnSpc>
                <a:spcPct val="100000"/>
              </a:lnSpc>
              <a:spcBef>
                <a:spcPts val="0"/>
              </a:spcBef>
              <a:spcAft>
                <a:spcPts val="0"/>
              </a:spcAft>
              <a:buClr>
                <a:srgbClr val="000000"/>
              </a:buClr>
              <a:buSzPts val="1400"/>
              <a:buFont typeface="Arial"/>
              <a:buNone/>
              <a:defRPr sz="3000" b="1" i="0" u="none" cap="none">
                <a:solidFill>
                  <a:srgbClr val="0F172A"/>
                </a:solidFill>
                <a:latin typeface="Poppins"/>
                <a:ea typeface="Poppins"/>
                <a:cs typeface="Poppins"/>
              </a:defRPr>
            </a:lvl1pPr>
            <a:lvl2pPr marL="914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xmlns:a="http://schemas.openxmlformats.org/drawingml/2006/main">
            <a:endParaRPr/>
          </a:p>
        </p:txBody>
      </p:sp>
      <p:sp>
        <p:nvSpPr>
          <p:cNvPr id="9" name="Google Shape;9;p43">
            <a:extLst xmlns:a="http://schemas.openxmlformats.org/drawingml/2006/main">
              <a:ext uri="{FF2B5EF4-FFF2-40B4-BE49-F238E27FC236}">
                <a16:creationId xmlns:a16="http://schemas.microsoft.com/office/drawing/2014/main" id="{979C03F3-333E-4A56-9B47-A5B0F2544E90}"/>
              </a:ext>
            </a:extLst>
          </p:cNvPr>
          <p:cNvSpPr>
            <a:spLocks xmlns:a="http://schemas.openxmlformats.org/drawingml/2006/main" noGrp="1"/>
          </p:cNvSpPr>
          <p:nvPr>
            <p:ph type="body" idx="3"/>
          </p:nvPr>
        </p:nvSpPr>
        <p:spPr>
          <a:xfrm xmlns:a="http://schemas.openxmlformats.org/drawingml/2006/main">
            <a:off x="330199" y="1833756"/>
            <a:ext cx="11655300" cy="425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rgbClr val="0070C0"/>
              </a:buClr>
              <a:buSzPts val="1800"/>
              <a:buFont typeface="Arial"/>
              <a:buChar char="●"/>
              <a:defRPr sz="1600" b="0" i="0" u="none" cap="none">
                <a:solidFill>
                  <a:srgbClr val="000000"/>
                </a:solidFill>
                <a:latin typeface="Arial"/>
                <a:ea typeface="Arial"/>
                <a:cs typeface="Arial"/>
              </a:defRPr>
            </a:lvl1pPr>
            <a:lvl2pPr marL="9144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6pPr>
            <a:lvl7pPr marL="32004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7pPr>
            <a:lvl8pPr marL="36576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8pPr>
            <a:lvl9pPr marL="41148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9pPr>
          </a:lstStyle>
          <a:p xmlns:a="http://schemas.openxmlformats.org/drawingml/2006/main">
            <a:endParaRPr/>
          </a:p>
        </p:txBody>
      </p:sp>
      <p:pic>
        <p:nvPicPr>
          <p:cNvPr id="14" name="Google Shape;10;p43"/>
          <p:cNvPicPr>
            <a:picLocks xmlns:a="http://schemas.openxmlformats.org/drawingml/2006/main" noChangeAspect="1"/>
          </p:cNvPicPr>
          <p:nvPr/>
        </p:nvPicPr>
        <p:blipFill rotWithShape="1">
          <a:blip xmlns:r="http://schemas.openxmlformats.org/officeDocument/2006/relationships" xmlns:a="http://schemas.openxmlformats.org/drawingml/2006/main" r:embed="R5be2aeffeea94131">
            <a:alphaModFix/>
          </a:blip>
          <a:srcRect xmlns:a="http://schemas.openxmlformats.org/drawingml/2006/main" l="17291" t="28026" r="16180" b="30886"/>
          <a:stretch xmlns:a="http://schemas.openxmlformats.org/drawingml/2006/main"/>
        </p:blipFill>
        <p:spPr>
          <a:xfrm xmlns:a="http://schemas.openxmlformats.org/drawingml/2006/main">
            <a:off x="11032066" y="6415406"/>
            <a:ext cx="1032934" cy="340717"/>
          </a:xfrm>
          <a:prstGeom xmlns:a="http://schemas.openxmlformats.org/drawingml/2006/main" prst="rect">
            <a:avLst/>
          </a:prstGeom>
          <a:ln xmlns:a="http://schemas.openxmlformats.org/drawingml/2006/main">
            <a:noFill/>
          </a:ln>
        </p:spPr>
      </p:pic>
    </p:spTree>
  </p:cSld>
</p:sldLayout>
</file>

<file path=ppt/slideLayouts/slideLayout3.xml><?xml version="1.0" encoding="utf-8"?>
<p:sldLayout xmlns:p="http://schemas.openxmlformats.org/presentationml/2006/main" matchingName="Title Slide 1" preserve="1" userDrawn="1">
  <p:cSld name="Divider Page">
    <p:spTree>
      <p:nvGrpSpPr>
        <p:cNvPr id="1" name=""/>
        <p:cNvGrpSpPr/>
        <p:nvPr/>
      </p:nvGrpSpPr>
      <p:grpSpPr>
        <a:xfrm xmlns:a="http://schemas.openxmlformats.org/drawingml/2006/main"/>
      </p:grpSpPr>
      <p:pic>
        <p:nvPicPr>
          <p:cNvPr id="9" name="Google Shape;10;p43"/>
          <p:cNvPicPr>
            <a:picLocks xmlns:a="http://schemas.openxmlformats.org/drawingml/2006/main" noChangeAspect="1"/>
          </p:cNvPicPr>
          <p:nvPr/>
        </p:nvPicPr>
        <p:blipFill rotWithShape="1">
          <a:blip xmlns:r="http://schemas.openxmlformats.org/officeDocument/2006/relationships" xmlns:a="http://schemas.openxmlformats.org/drawingml/2006/main" r:embed="R6d453ba48514409f">
            <a:alphaModFix/>
          </a:blip>
          <a:srcRect xmlns:a="http://schemas.openxmlformats.org/drawingml/2006/main" l="17291" t="28026" r="16180" b="30886"/>
          <a:stretch xmlns:a="http://schemas.openxmlformats.org/drawingml/2006/main"/>
        </p:blipFill>
        <p:spPr>
          <a:xfrm xmlns:a="http://schemas.openxmlformats.org/drawingml/2006/main">
            <a:off x="11032066" y="6415406"/>
            <a:ext cx="1032934" cy="340717"/>
          </a:xfrm>
          <a:prstGeom xmlns:a="http://schemas.openxmlformats.org/drawingml/2006/main" prst="rect">
            <a:avLst/>
          </a:prstGeom>
          <a:ln xmlns:a="http://schemas.openxmlformats.org/drawingml/2006/main">
            <a:noFill/>
          </a:ln>
        </p:spPr>
      </p:pic>
      <p:sp>
        <p:nvSpPr>
          <p:cNvPr id="3" name="Google Shape;598;p23">
            <a:extLst xmlns:a="http://schemas.openxmlformats.org/drawingml/2006/main">
              <a:ext uri="{FF2B5EF4-FFF2-40B4-BE49-F238E27FC236}">
                <a16:creationId xmlns:a16="http://schemas.microsoft.com/office/drawing/2014/main" id="{33F2048B-42B8-87D3-6EA7-46420BEE8E8F}"/>
              </a:ext>
            </a:extLst>
          </p:cNvPr>
          <p:cNvSpPr>
            <a:spLocks xmlns:a="http://schemas.openxmlformats.org/drawingml/2006/main" noGrp="1"/>
          </p:cNvSpPr>
          <p:nvPr/>
        </p:nvSpPr>
        <p:spPr>
          <a:xfrm xmlns:a="http://schemas.openxmlformats.org/drawingml/2006/main">
            <a:off x="1" y="1"/>
            <a:ext cx="12192000" cy="6858000"/>
          </a:xfrm>
          <a:prstGeom xmlns:a="http://schemas.openxmlformats.org/drawingml/2006/main" prst="rect">
            <a:avLst/>
          </a:prstGeom>
          <a:solidFill xmlns:a="http://schemas.openxmlformats.org/drawingml/2006/main">
            <a:srgbClr val="5594C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800">
              <a:solidFill>
                <a:schemeClr val="lt1"/>
              </a:solidFill>
              <a:latin typeface="Calibri"/>
              <a:ea typeface="Calibri"/>
              <a:cs typeface="Calibri"/>
            </a:endParaRPr>
          </a:p>
        </p:txBody>
      </p:sp>
      <p:sp>
        <p:nvSpPr>
          <p:cNvPr id="4" name="Google Shape;599;p23">
            <a:extLst xmlns:a="http://schemas.openxmlformats.org/drawingml/2006/main">
              <a:ext uri="{FF2B5EF4-FFF2-40B4-BE49-F238E27FC236}">
                <a16:creationId xmlns:a16="http://schemas.microsoft.com/office/drawing/2014/main" id="{36272CB6-52A3-2AD4-E10A-B15939BEC421}"/>
              </a:ext>
            </a:extLst>
          </p:cNvPr>
          <p:cNvSpPr>
            <a:spLocks xmlns:a="http://schemas.openxmlformats.org/drawingml/2006/main" noGrp="1"/>
          </p:cNvSpPr>
          <p:nvPr/>
        </p:nvSpPr>
        <p:spPr>
          <a:xfrm xmlns:a="http://schemas.openxmlformats.org/drawingml/2006/main">
            <a:off x="1" y="5468341"/>
            <a:ext cx="12191999" cy="3693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spcBef>
                <a:spcPts val="0"/>
              </a:spcBef>
              <a:spcAft>
                <a:spcPts val="0"/>
              </a:spcAft>
              <a:buNone/>
            </a:pPr>
            <a:r>
              <a:rPr sz="1800">
                <a:solidFill>
                  <a:schemeClr val="lt1"/>
                </a:solidFill>
                <a:latin typeface="Inter Light"/>
                <a:ea typeface="Inter Light"/>
                <a:cs typeface="Inter Light"/>
              </a:rPr>
              <a:t>app.gradias.ai | gradias.ai</a:t>
            </a:r>
          </a:p>
        </p:txBody>
      </p:sp>
      <p:sp>
        <p:nvSpPr>
          <p:cNvPr id="6" name="Google Shape;601;p23">
            <a:extLst xmlns:a="http://schemas.openxmlformats.org/drawingml/2006/main">
              <a:ext uri="{FF2B5EF4-FFF2-40B4-BE49-F238E27FC236}">
                <a16:creationId xmlns:a16="http://schemas.microsoft.com/office/drawing/2014/main" id="{317D7568-7BEB-3E6C-345E-26CD824CABAC}"/>
              </a:ext>
            </a:extLst>
          </p:cNvPr>
          <p:cNvSpPr>
            <a:spLocks xmlns:a="http://schemas.openxmlformats.org/drawingml/2006/main" noGrp="1"/>
          </p:cNvSpPr>
          <p:nvPr/>
        </p:nvSpPr>
        <p:spPr>
          <a:xfrm xmlns:a="http://schemas.openxmlformats.org/drawingml/2006/main">
            <a:off x="4112895" y="4146923"/>
            <a:ext cx="3966210" cy="12003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spcBef>
                <a:spcPts val="0"/>
              </a:spcBef>
              <a:spcAft>
                <a:spcPts val="0"/>
              </a:spcAft>
              <a:buNone/>
            </a:pPr>
            <a:r>
              <a:rPr sz="7200" b="1">
                <a:solidFill>
                  <a:schemeClr val="lt1"/>
                </a:solidFill>
                <a:latin typeface="Poppins"/>
                <a:ea typeface="Poppins"/>
                <a:cs typeface="Poppins"/>
              </a:rPr>
              <a:t>gradias</a:t>
            </a:r>
          </a:p>
        </p:txBody>
      </p:sp>
      <p:pic>
        <p:nvPicPr>
          <p:cNvPr id="13" name="Google Shape;602;p23"/>
          <p:cNvPicPr>
            <a:picLocks xmlns:a="http://schemas.openxmlformats.org/drawingml/2006/main" noChangeAspect="1"/>
          </p:cNvPicPr>
          <p:nvPr/>
        </p:nvPicPr>
        <p:blipFill rotWithShape="1">
          <a:blip xmlns:r="http://schemas.openxmlformats.org/officeDocument/2006/relationships" xmlns:a="http://schemas.openxmlformats.org/drawingml/2006/main" r:embed="R77d957d666d34fcb">
            <a:alphaModFix/>
          </a:blip>
          <a:srcRect xmlns:a="http://schemas.openxmlformats.org/drawingml/2006/main" l="0" t="0" r="0" b="0"/>
          <a:stretch xmlns:a="http://schemas.openxmlformats.org/drawingml/2006/main"/>
        </p:blipFill>
        <p:spPr>
          <a:xfrm xmlns:a="http://schemas.openxmlformats.org/drawingml/2006/main">
            <a:off x="4003729" y="883404"/>
            <a:ext cx="4184542" cy="4184542"/>
          </a:xfrm>
          <a:prstGeom xmlns:a="http://schemas.openxmlformats.org/drawingml/2006/main" prst="rect">
            <a:avLst/>
          </a:prstGeom>
          <a:ln xmlns:a="http://schemas.openxmlformats.org/drawingml/2006/main">
            <a:noFill/>
          </a:ln>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d18c33551145ad" /><Relationship Type="http://schemas.openxmlformats.org/officeDocument/2006/relationships/slideLayout" Target="/ppt/slideLayouts/slideLayout1.xml" Id="R7ae7cefc0aa14dbb" /><Relationship Type="http://schemas.openxmlformats.org/officeDocument/2006/relationships/slideLayout" Target="/ppt/slideLayouts/slideLayout2.xml" Id="R5dd5b5744d4c4d9b" /><Relationship Type="http://schemas.openxmlformats.org/officeDocument/2006/relationships/slideLayout" Target="/ppt/slideLayouts/slideLayout3.xml" Id="R0c267adb5341436a"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ae7cefc0aa14dbb"/>
    <p:sldLayoutId xmlns:r="http://schemas.openxmlformats.org/officeDocument/2006/relationships" id="2147483650" r:id="R5dd5b5744d4c4d9b"/>
    <p:sldLayoutId xmlns:r="http://schemas.openxmlformats.org/officeDocument/2006/relationships" id="2147483651" r:id="R0c267adb5341436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Gradias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3441b2aeb2a545c2" /><Relationship Type="http://schemas.openxmlformats.org/officeDocument/2006/relationships/notesSlide" Target="/ppt/notesSlides/notesSlide1.xml" Id="Rff74e294154d4d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200efa25ccb4d9b" /><Relationship Type="http://schemas.openxmlformats.org/officeDocument/2006/relationships/notesSlide" Target="/ppt/notesSlides/notesSlide2.xml" Id="R58765506fe70466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77" name="Google Shape;277;p9">
            <a:extLst xmlns:a="http://schemas.openxmlformats.org/drawingml/2006/main">
              <a:ext uri="{FF2B5EF4-FFF2-40B4-BE49-F238E27FC236}">
                <a16:creationId xmlns:a16="http://schemas.microsoft.com/office/drawing/2014/main" id="{42503814-A4B8-443E-8D24-AF5979063D62}"/>
              </a:ext>
            </a:extLst>
          </p:cNvPr>
          <p:cNvSpPr>
            <a:spLocks xmlns:a="http://schemas.openxmlformats.org/drawingml/2006/main" noGrp="1"/>
          </p:cNvSpPr>
          <p:nvPr>
            <p:ph type="body" idx="1"/>
          </p:nvPr>
        </p:nvSpPr>
        <p:spPr>
          <a:xfrm xmlns:a="http://schemas.openxmlformats.org/drawingml/2006/main">
            <a:off x="330200" y="272288"/>
            <a:ext cx="11655298" cy="2960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0" rIns="19050" bIns="0" anchor="ctr">
            <a:noAutofit/>
          </a:bodyPr>
          <a:lstStyle xmlns:a="http://schemas.openxmlformats.org/drawingml/2006/main"/>
          <a:p xmlns:a="http://schemas.openxmlformats.org/drawingml/2006/main">
            <a:pPr marL="90487" marR="0" lvl="0" indent="-90487" algn="l">
              <a:lnSpc>
                <a:spcPct val="100000"/>
              </a:lnSpc>
              <a:spcBef>
                <a:spcPts val="0"/>
              </a:spcBef>
              <a:spcAft>
                <a:spcPts val="0"/>
              </a:spcAft>
              <a:buSzPts val="1400"/>
              <a:buNone/>
              <a:defRPr sz="1275" b="1">
                <a:solidFill>
                  <a:srgbClr val="009CD2"/>
                </a:solidFill>
                <a:latin typeface="Arial"/>
                <a:ea typeface="Arial"/>
                <a:cs typeface="Arial"/>
              </a:defRPr>
            </a:pPr>
            <a:r>
              <a:rPr sz="1275" b="1">
                <a:solidFill>
                  <a:srgbClr val="009CD2"/>
                </a:solidFill>
                <a:latin typeface="Arial"/>
                <a:ea typeface="Arial"/>
                <a:cs typeface="Arial"/>
              </a:rPr>
              <a:t>Legal and regulatory requirements</a:t>
            </a:r>
            <a:endParaRPr>
              <a:solidFill>
                <a:srgbClr val="1190CB"/>
              </a:solidFill>
              <a:latin typeface="Montserrat SemiBold"/>
              <a:ea typeface="Montserrat SemiBold"/>
              <a:cs typeface="Montserrat SemiBold"/>
            </a:endParaRPr>
          </a:p>
        </p:txBody>
      </p:sp>
      <p:sp>
        <p:nvSpPr>
          <p:cNvPr id="5" name="Text Placeholder 4">
            <a:extLst xmlns:a="http://schemas.openxmlformats.org/drawingml/2006/main">
              <a:ext uri="{FF2B5EF4-FFF2-40B4-BE49-F238E27FC236}">
                <a16:creationId xmlns:a16="http://schemas.microsoft.com/office/drawing/2014/main" id="{E5873CC2-2996-1BF5-9EB9-FD6BD621AAAB}"/>
              </a:ext>
            </a:extLst>
          </p:cNvPr>
          <p:cNvSpPr>
            <a:spLocks xmlns:a="http://schemas.openxmlformats.org/drawingml/2006/main" noGrp="1"/>
          </p:cNvSpPr>
          <p:nvPr>
            <p:ph type="body" idx="2"/>
          </p:nvPr>
        </p:nvSpPr>
        <p:spPr>
          <a:xfrm xmlns:a="http://schemas.openxmlformats.org/drawingml/2006/main">
            <a:off x="330232" y="626745"/>
            <a:ext cx="11655266" cy="495300"/>
          </a:xfrm>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2700" b="1">
                <a:solidFill>
                  <a:srgbClr val="121A2E"/>
                </a:solidFill>
                <a:latin typeface="Arial"/>
                <a:ea typeface="Arial"/>
                <a:cs typeface="Arial"/>
              </a:defRPr>
            </a:pPr>
            <a:r>
              <a:rPr sz="2700" b="1">
                <a:solidFill>
                  <a:srgbClr val="121A2E"/>
                </a:solidFill>
                <a:latin typeface="Arial"/>
                <a:ea typeface="Arial"/>
                <a:cs typeface="Arial"/>
              </a:rPr>
              <a:t>AI grading can be offered under country-specific rules</a:t>
            </a:r>
          </a:p>
        </p:txBody>
      </p:sp>
      <p:sp>
        <p:nvSpPr>
          <p:cNvPr id="279" name="Google Shape;279;p9">
            <a:extLst xmlns:a="http://schemas.openxmlformats.org/drawingml/2006/main">
              <a:ext uri="{FF2B5EF4-FFF2-40B4-BE49-F238E27FC236}">
                <a16:creationId xmlns:a16="http://schemas.microsoft.com/office/drawing/2014/main" id="{08DC22B0-B55D-4D88-AFCE-7E844EEB7818}"/>
              </a:ext>
            </a:extLst>
          </p:cNvPr>
          <p:cNvSpPr>
            <a:spLocks xmlns:a="http://schemas.openxmlformats.org/drawingml/2006/main" noGrp="1"/>
          </p:cNvSpPr>
          <p:nvPr/>
        </p:nvSpPr>
        <p:spPr>
          <a:xfrm xmlns:a="http://schemas.openxmlformats.org/drawingml/2006/main">
            <a:off x="330232" y="1238250"/>
            <a:ext cx="3690652" cy="419100"/>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Germany</a:t>
            </a:r>
            <a:endParaRPr sz="1400" b="0" i="0" u="none" cap="none">
              <a:solidFill>
                <a:srgbClr val="FFFFFF"/>
              </a:solidFill>
              <a:latin typeface="Arial"/>
              <a:ea typeface="Arial"/>
              <a:cs typeface="Arial"/>
            </a:endParaRPr>
          </a:p>
        </p:txBody>
      </p:sp>
      <p:sp>
        <p:nvSpPr>
          <p:cNvPr id="280" name="Google Shape;280;p9">
            <a:extLst xmlns:a="http://schemas.openxmlformats.org/drawingml/2006/main">
              <a:ext uri="{FF2B5EF4-FFF2-40B4-BE49-F238E27FC236}">
                <a16:creationId xmlns:a16="http://schemas.microsoft.com/office/drawing/2014/main" id="{59222012-9FB4-4234-AECC-6780B8101733}"/>
              </a:ext>
            </a:extLst>
          </p:cNvPr>
          <p:cNvSpPr>
            <a:spLocks xmlns:a="http://schemas.openxmlformats.org/drawingml/2006/main" noGrp="1"/>
          </p:cNvSpPr>
          <p:nvPr/>
        </p:nvSpPr>
        <p:spPr>
          <a:xfrm xmlns:a="http://schemas.openxmlformats.org/drawingml/2006/main">
            <a:off x="330232" y="1657350"/>
            <a:ext cx="3690557" cy="4638675"/>
          </a:xfrm>
          <a:prstGeom xmlns:a="http://schemas.openxmlformats.org/drawingml/2006/main" prst="rect">
            <a:avLst/>
          </a:prstGeom>
          <a:noFill xmlns:a="http://schemas.openxmlformats.org/drawingml/2006/main"/>
          <a:ln xmlns:a="http://schemas.openxmlformats.org/drawingml/2006/main" w="9525" cmpd="sng">
            <a:solidFill>
              <a:srgbClr val="1C3052"/>
            </a:solidFill>
            <a:prstDash val="solid"/>
            <a:headEnd type="none" w="sm" len="sm"/>
            <a:tailEnd type="none" w="sm" len="sm"/>
          </a:ln>
        </p:spPr>
        <p:txBody>
          <a:bodyPr xmlns:a="http://schemas.openxmlformats.org/drawingml/2006/main" spcFirstLastPara="1" wrap="square" lIns="133350" tIns="104775" rIns="133350" bIns="85725" anchor="t">
            <a:noAutofit/>
          </a:bodyPr>
          <a:lstStyle xmlns:a="http://schemas.openxmlformats.org/drawingml/2006/main"/>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GDPR + BDSG:</a:t>
            </a:r>
            <a:r>
              <a:rPr sz="1425" b="0">
                <a:solidFill>
                  <a:srgbClr val="121A2E"/>
                </a:solidFill>
                <a:latin typeface="Arial"/>
                <a:ea typeface="Arial"/>
                <a:cs typeface="Arial"/>
              </a:rPr>
              <a:t> </a:t>
            </a:r>
            <a:r>
              <a:rPr sz="1425" b="0">
                <a:solidFill>
                  <a:srgbClr val="121A2E"/>
                </a:solidFill>
                <a:latin typeface="Arial"/>
                <a:ea typeface="Arial"/>
                <a:cs typeface="Arial"/>
              </a:rPr>
              <a:t>Lawful basis, DPAs, security and rights. DPIA and DPO where required.</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EU AI Act:</a:t>
            </a:r>
            <a:r>
              <a:rPr sz="1425" b="0">
                <a:solidFill>
                  <a:srgbClr val="121A2E"/>
                </a:solidFill>
                <a:latin typeface="Arial"/>
                <a:ea typeface="Arial"/>
                <a:cs typeface="Arial"/>
              </a:rPr>
              <a:t> </a:t>
            </a:r>
            <a:r>
              <a:rPr sz="1425" b="0">
                <a:solidFill>
                  <a:srgbClr val="121A2E"/>
                </a:solidFill>
                <a:latin typeface="Arial"/>
                <a:ea typeface="Arial"/>
                <a:cs typeface="Arial"/>
              </a:rPr>
              <a:t>Classification, testing, oversight, records and applicable conformity duties.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Examination law (GG, VwVfG):</a:t>
            </a:r>
            <a:r>
              <a:rPr sz="1425" b="0">
                <a:solidFill>
                  <a:srgbClr val="121A2E"/>
                </a:solidFill>
                <a:latin typeface="Arial"/>
                <a:ea typeface="Arial"/>
                <a:cs typeface="Arial"/>
              </a:rPr>
              <a:t> </a:t>
            </a:r>
            <a:r>
              <a:rPr sz="1425" b="0">
                <a:solidFill>
                  <a:srgbClr val="121A2E"/>
                </a:solidFill>
                <a:latin typeface="Arial"/>
                <a:ea typeface="Arial"/>
                <a:cs typeface="Arial"/>
              </a:rPr>
              <a:t>Preserve examiner judgment, equal treatment and reasoned review.</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Land school and data rules:</a:t>
            </a:r>
            <a:r>
              <a:rPr sz="1425" b="0">
                <a:solidFill>
                  <a:srgbClr val="121A2E"/>
                </a:solidFill>
                <a:latin typeface="Arial"/>
                <a:ea typeface="Arial"/>
                <a:cs typeface="Arial"/>
              </a:rPr>
              <a:t> </a:t>
            </a:r>
            <a:r>
              <a:rPr sz="1425" b="0">
                <a:solidFill>
                  <a:srgbClr val="121A2E"/>
                </a:solidFill>
                <a:latin typeface="Arial"/>
                <a:ea typeface="Arial"/>
                <a:cs typeface="Arial"/>
              </a:rPr>
              <a:t>Authorised uses, devices and retention in NRW, BY, NI, HE and BW.</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BeamtStG + StGB:</a:t>
            </a:r>
            <a:r>
              <a:rPr sz="1425" b="0">
                <a:solidFill>
                  <a:srgbClr val="121A2E"/>
                </a:solidFill>
                <a:latin typeface="Arial"/>
                <a:ea typeface="Arial"/>
                <a:cs typeface="Arial"/>
              </a:rPr>
              <a:t> </a:t>
            </a:r>
            <a:r>
              <a:rPr sz="1425" b="0">
                <a:solidFill>
                  <a:srgbClr val="121A2E"/>
                </a:solidFill>
                <a:latin typeface="Arial"/>
                <a:ea typeface="Arial"/>
                <a:cs typeface="Arial"/>
              </a:rPr>
              <a:t>Protect confidential scripts and authorise external disclosure.</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LPVG NRW + BetrVG:</a:t>
            </a:r>
            <a:r>
              <a:rPr sz="1425" b="0">
                <a:solidFill>
                  <a:srgbClr val="121A2E"/>
                </a:solidFill>
                <a:latin typeface="Arial"/>
                <a:ea typeface="Arial"/>
                <a:cs typeface="Arial"/>
              </a:rPr>
              <a:t> </a:t>
            </a:r>
            <a:r>
              <a:rPr sz="1425" b="0">
                <a:solidFill>
                  <a:srgbClr val="121A2E"/>
                </a:solidFill>
                <a:latin typeface="Arial"/>
                <a:ea typeface="Arial"/>
                <a:cs typeface="Arial"/>
              </a:rPr>
              <a:t>Complete required staff participation for monitoring functions.</a:t>
            </a:r>
          </a:p>
          <a:p xmlns:a="http://schemas.openxmlformats.org/drawingml/2006/main">
            <a:pPr marL="0" indent="0" algn="l">
              <a:lnSpc>
                <a:spcPct val="98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TDDDG:</a:t>
            </a:r>
            <a:r>
              <a:rPr sz="1425" b="0">
                <a:solidFill>
                  <a:srgbClr val="121A2E"/>
                </a:solidFill>
                <a:latin typeface="Arial"/>
                <a:ea typeface="Arial"/>
                <a:cs typeface="Arial"/>
              </a:rPr>
              <a:t> </a:t>
            </a:r>
            <a:r>
              <a:rPr sz="1425" b="0">
                <a:solidFill>
                  <a:srgbClr val="121A2E"/>
                </a:solidFill>
                <a:latin typeface="Arial"/>
                <a:ea typeface="Arial"/>
                <a:cs typeface="Arial"/>
              </a:rPr>
              <a:t>Obtain device-access consent unless an exception applies.</a:t>
            </a:r>
          </a:p>
        </p:txBody>
      </p:sp>
      <p:sp>
        <p:nvSpPr>
          <p:cNvPr id="281" name="Google Shape;281;p9">
            <a:extLst xmlns:a="http://schemas.openxmlformats.org/drawingml/2006/main">
              <a:ext uri="{FF2B5EF4-FFF2-40B4-BE49-F238E27FC236}">
                <a16:creationId xmlns:a16="http://schemas.microsoft.com/office/drawing/2014/main" id="{05E489CA-D589-4F06-B6CE-EA2E505D389D}"/>
              </a:ext>
            </a:extLst>
          </p:cNvPr>
          <p:cNvSpPr>
            <a:spLocks xmlns:a="http://schemas.openxmlformats.org/drawingml/2006/main" noGrp="1"/>
          </p:cNvSpPr>
          <p:nvPr/>
        </p:nvSpPr>
        <p:spPr>
          <a:xfrm xmlns:a="http://schemas.openxmlformats.org/drawingml/2006/main">
            <a:off x="4109466" y="1238250"/>
            <a:ext cx="3690652" cy="419100"/>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United States</a:t>
            </a:r>
            <a:endParaRPr sz="1400" b="0" i="0" u="none" cap="none">
              <a:solidFill>
                <a:srgbClr val="FFFFFF"/>
              </a:solidFill>
              <a:latin typeface="Arial"/>
              <a:ea typeface="Arial"/>
              <a:cs typeface="Arial"/>
            </a:endParaRPr>
          </a:p>
        </p:txBody>
      </p:sp>
      <p:sp>
        <p:nvSpPr>
          <p:cNvPr id="282" name="Google Shape;282;p9">
            <a:extLst xmlns:a="http://schemas.openxmlformats.org/drawingml/2006/main">
              <a:ext uri="{FF2B5EF4-FFF2-40B4-BE49-F238E27FC236}">
                <a16:creationId xmlns:a16="http://schemas.microsoft.com/office/drawing/2014/main" id="{B7238CC7-5973-4107-A0F6-D21F3177A033}"/>
              </a:ext>
            </a:extLst>
          </p:cNvPr>
          <p:cNvSpPr>
            <a:spLocks xmlns:a="http://schemas.openxmlformats.org/drawingml/2006/main" noGrp="1"/>
          </p:cNvSpPr>
          <p:nvPr/>
        </p:nvSpPr>
        <p:spPr>
          <a:xfrm xmlns:a="http://schemas.openxmlformats.org/drawingml/2006/main">
            <a:off x="7888796" y="1238250"/>
            <a:ext cx="3690652" cy="419100"/>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United Kingdom</a:t>
            </a:r>
            <a:endParaRPr sz="1400" b="0" i="0" u="none" cap="none">
              <a:solidFill>
                <a:srgbClr val="FFFFFF"/>
              </a:solidFill>
              <a:latin typeface="Arial"/>
              <a:ea typeface="Arial"/>
              <a:cs typeface="Arial"/>
            </a:endParaRPr>
          </a:p>
        </p:txBody>
      </p:sp>
      <p:sp>
        <p:nvSpPr>
          <p:cNvPr id="283" name="Google Shape;283;p9">
            <a:extLst xmlns:a="http://schemas.openxmlformats.org/drawingml/2006/main">
              <a:ext uri="{FF2B5EF4-FFF2-40B4-BE49-F238E27FC236}">
                <a16:creationId xmlns:a16="http://schemas.microsoft.com/office/drawing/2014/main" id="{033FC2E4-5152-4F31-8D2A-55ABD1D81FA3}"/>
              </a:ext>
            </a:extLst>
          </p:cNvPr>
          <p:cNvSpPr>
            <a:spLocks xmlns:a="http://schemas.openxmlformats.org/drawingml/2006/main" noGrp="1"/>
          </p:cNvSpPr>
          <p:nvPr/>
        </p:nvSpPr>
        <p:spPr>
          <a:xfrm xmlns:a="http://schemas.openxmlformats.org/drawingml/2006/main">
            <a:off x="4109466" y="1657350"/>
            <a:ext cx="3690557" cy="4638675"/>
          </a:xfrm>
          <a:prstGeom xmlns:a="http://schemas.openxmlformats.org/drawingml/2006/main" prst="rect">
            <a:avLst/>
          </a:prstGeom>
          <a:noFill xmlns:a="http://schemas.openxmlformats.org/drawingml/2006/main"/>
          <a:ln xmlns:a="http://schemas.openxmlformats.org/drawingml/2006/main" w="9525" cmpd="sng">
            <a:solidFill>
              <a:srgbClr val="1C3052"/>
            </a:solidFill>
            <a:prstDash val="solid"/>
            <a:headEnd type="none" w="sm" len="sm"/>
            <a:tailEnd type="none" w="sm" len="sm"/>
          </a:ln>
        </p:spPr>
        <p:txBody>
          <a:bodyPr xmlns:a="http://schemas.openxmlformats.org/drawingml/2006/main" spcFirstLastPara="1" wrap="square" lIns="133350" tIns="104775" rIns="133350" bIns="85725" anchor="t">
            <a:noAutofit/>
          </a:bodyPr>
          <a:lstStyle xmlns:a="http://schemas.openxmlformats.org/drawingml/2006/main"/>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FERPA:</a:t>
            </a:r>
            <a:r>
              <a:rPr sz="1425" b="0">
                <a:solidFill>
                  <a:srgbClr val="121A2E"/>
                </a:solidFill>
                <a:latin typeface="Arial"/>
                <a:ea typeface="Arial"/>
                <a:cs typeface="Arial"/>
              </a:rPr>
              <a:t> </a:t>
            </a:r>
            <a:r>
              <a:rPr sz="1425" b="0">
                <a:solidFill>
                  <a:srgbClr val="121A2E"/>
                </a:solidFill>
                <a:latin typeface="Arial"/>
                <a:ea typeface="Arial"/>
                <a:cs typeface="Arial"/>
              </a:rPr>
              <a:t>Lawful disclosure, school control, purpose limits and student rights.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State student-data laws:</a:t>
            </a:r>
            <a:r>
              <a:rPr sz="1425" b="0">
                <a:solidFill>
                  <a:srgbClr val="121A2E"/>
                </a:solidFill>
                <a:latin typeface="Arial"/>
                <a:ea typeface="Arial"/>
                <a:cs typeface="Arial"/>
              </a:rPr>
              <a:t> </a:t>
            </a:r>
            <a:r>
              <a:rPr sz="1425" b="0">
                <a:solidFill>
                  <a:srgbClr val="121A2E"/>
                </a:solidFill>
                <a:latin typeface="Arial"/>
                <a:ea typeface="Arial"/>
                <a:cs typeface="Arial"/>
              </a:rPr>
              <a:t>Contracts, security, deletion and use limits.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CCPA + privacy/biometric laws:</a:t>
            </a:r>
            <a:r>
              <a:rPr sz="1425" b="0">
                <a:solidFill>
                  <a:srgbClr val="121A2E"/>
                </a:solidFill>
                <a:latin typeface="Arial"/>
                <a:ea typeface="Arial"/>
                <a:cs typeface="Arial"/>
              </a:rPr>
              <a:t> </a:t>
            </a:r>
            <a:r>
              <a:rPr sz="1425" b="0">
                <a:solidFill>
                  <a:srgbClr val="121A2E"/>
                </a:solidFill>
                <a:latin typeface="Arial"/>
                <a:ea typeface="Arial"/>
                <a:cs typeface="Arial"/>
              </a:rPr>
              <a:t>Triggered rights, consent and profiling safeguards.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AI / ADMT rules:</a:t>
            </a:r>
            <a:r>
              <a:rPr sz="1425" b="0">
                <a:solidFill>
                  <a:srgbClr val="121A2E"/>
                </a:solidFill>
                <a:latin typeface="Arial"/>
                <a:ea typeface="Arial"/>
                <a:cs typeface="Arial"/>
              </a:rPr>
              <a:t> </a:t>
            </a:r>
            <a:r>
              <a:rPr sz="1425" b="0">
                <a:solidFill>
                  <a:srgbClr val="121A2E"/>
                </a:solidFill>
                <a:latin typeface="Arial"/>
                <a:ea typeface="Arial"/>
                <a:cs typeface="Arial"/>
              </a:rPr>
              <a:t>OK bars primary AI grading. CO/CA duties from 2027.</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COPPA + PPRA:</a:t>
            </a:r>
            <a:r>
              <a:rPr sz="1425" b="0">
                <a:solidFill>
                  <a:srgbClr val="121A2E"/>
                </a:solidFill>
                <a:latin typeface="Arial"/>
                <a:ea typeface="Arial"/>
                <a:cs typeface="Arial"/>
              </a:rPr>
              <a:t> </a:t>
            </a:r>
            <a:r>
              <a:rPr sz="1425" b="0">
                <a:solidFill>
                  <a:srgbClr val="121A2E"/>
                </a:solidFill>
                <a:latin typeface="Arial"/>
                <a:ea typeface="Arial"/>
                <a:cs typeface="Arial"/>
              </a:rPr>
              <a:t>Triggered consent, notices and opt-outs for child collection or surveys.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Title VI/IX, ADA, IDEA, §§504/508:</a:t>
            </a:r>
            <a:r>
              <a:rPr sz="1425" b="0">
                <a:solidFill>
                  <a:srgbClr val="121A2E"/>
                </a:solidFill>
                <a:latin typeface="Arial"/>
                <a:ea typeface="Arial"/>
                <a:cs typeface="Arial"/>
              </a:rPr>
              <a:t> </a:t>
            </a:r>
            <a:r>
              <a:rPr sz="1425" b="0">
                <a:solidFill>
                  <a:srgbClr val="121A2E"/>
                </a:solidFill>
                <a:latin typeface="Arial"/>
                <a:ea typeface="Arial"/>
                <a:cs typeface="Arial"/>
              </a:rPr>
              <a:t>Fair assessment, accessibility and accommodations.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34 CFR 600.2:</a:t>
            </a:r>
            <a:r>
              <a:rPr sz="1425" b="0">
                <a:solidFill>
                  <a:srgbClr val="121A2E"/>
                </a:solidFill>
                <a:latin typeface="Arial"/>
                <a:ea typeface="Arial"/>
                <a:cs typeface="Arial"/>
              </a:rPr>
              <a:t> </a:t>
            </a:r>
            <a:r>
              <a:rPr sz="1425" b="0">
                <a:solidFill>
                  <a:srgbClr val="121A2E"/>
                </a:solidFill>
                <a:latin typeface="Arial"/>
                <a:ea typeface="Arial"/>
                <a:cs typeface="Arial"/>
              </a:rPr>
              <a:t>Instructor interaction in covered distance education.</a:t>
            </a:r>
          </a:p>
          <a:p xmlns:a="http://schemas.openxmlformats.org/drawingml/2006/main">
            <a:pPr marL="0" indent="0" algn="l">
              <a:lnSpc>
                <a:spcPct val="98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FTC Act + contracts:</a:t>
            </a:r>
            <a:r>
              <a:rPr sz="1425" b="0">
                <a:solidFill>
                  <a:srgbClr val="121A2E"/>
                </a:solidFill>
                <a:latin typeface="Arial"/>
                <a:ea typeface="Arial"/>
                <a:cs typeface="Arial"/>
              </a:rPr>
              <a:t> </a:t>
            </a:r>
            <a:r>
              <a:rPr sz="1425" b="0">
                <a:solidFill>
                  <a:srgbClr val="121A2E"/>
                </a:solidFill>
                <a:latin typeface="Arial"/>
                <a:ea typeface="Arial"/>
                <a:cs typeface="Arial"/>
              </a:rPr>
              <a:t>Support claims and honour terms.</a:t>
            </a:r>
          </a:p>
        </p:txBody>
      </p:sp>
      <p:sp>
        <p:nvSpPr>
          <p:cNvPr id="284" name="Google Shape;284;p9">
            <a:extLst xmlns:a="http://schemas.openxmlformats.org/drawingml/2006/main">
              <a:ext uri="{FF2B5EF4-FFF2-40B4-BE49-F238E27FC236}">
                <a16:creationId xmlns:a16="http://schemas.microsoft.com/office/drawing/2014/main" id="{70F4B0DD-CC06-445A-81AB-962000F8FF76}"/>
              </a:ext>
            </a:extLst>
          </p:cNvPr>
          <p:cNvSpPr>
            <a:spLocks xmlns:a="http://schemas.openxmlformats.org/drawingml/2006/main" noGrp="1"/>
          </p:cNvSpPr>
          <p:nvPr/>
        </p:nvSpPr>
        <p:spPr>
          <a:xfrm xmlns:a="http://schemas.openxmlformats.org/drawingml/2006/main">
            <a:off x="7888796" y="1657350"/>
            <a:ext cx="3690557" cy="4638675"/>
          </a:xfrm>
          <a:prstGeom xmlns:a="http://schemas.openxmlformats.org/drawingml/2006/main" prst="rect">
            <a:avLst/>
          </a:prstGeom>
          <a:noFill xmlns:a="http://schemas.openxmlformats.org/drawingml/2006/main"/>
          <a:ln xmlns:a="http://schemas.openxmlformats.org/drawingml/2006/main" w="9525" cmpd="sng">
            <a:solidFill>
              <a:srgbClr val="1C3052"/>
            </a:solidFill>
            <a:prstDash val="solid"/>
            <a:headEnd type="none" w="sm" len="sm"/>
            <a:tailEnd type="none" w="sm" len="sm"/>
          </a:ln>
        </p:spPr>
        <p:txBody>
          <a:bodyPr xmlns:a="http://schemas.openxmlformats.org/drawingml/2006/main" spcFirstLastPara="1" wrap="square" lIns="133350" tIns="104775" rIns="133350" bIns="85725" anchor="t">
            <a:noAutofit/>
          </a:bodyPr>
          <a:lstStyle xmlns:a="http://schemas.openxmlformats.org/drawingml/2006/main"/>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UK GDPR + DPA 2018:</a:t>
            </a:r>
            <a:r>
              <a:rPr sz="1425" b="0">
                <a:solidFill>
                  <a:srgbClr val="121A2E"/>
                </a:solidFill>
                <a:latin typeface="Arial"/>
                <a:ea typeface="Arial"/>
                <a:cs typeface="Arial"/>
              </a:rPr>
              <a:t> </a:t>
            </a:r>
            <a:r>
              <a:rPr sz="1425" b="0">
                <a:solidFill>
                  <a:srgbClr val="121A2E"/>
                </a:solidFill>
                <a:latin typeface="Arial"/>
                <a:ea typeface="Arial"/>
                <a:cs typeface="Arial"/>
              </a:rPr>
              <a:t>Lawful basis, DPAs, security, rights and required risk/decision safeguards.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Ofqual + awarding rules:</a:t>
            </a:r>
            <a:r>
              <a:rPr sz="1425" b="0">
                <a:solidFill>
                  <a:srgbClr val="121A2E"/>
                </a:solidFill>
                <a:latin typeface="Arial"/>
                <a:ea typeface="Arial"/>
                <a:cs typeface="Arial"/>
              </a:rPr>
              <a:t> </a:t>
            </a:r>
            <a:r>
              <a:rPr sz="1425" b="0">
                <a:solidFill>
                  <a:srgbClr val="121A2E"/>
                </a:solidFill>
                <a:latin typeface="Arial"/>
                <a:ea typeface="Arial"/>
                <a:cs typeface="Arial"/>
              </a:rPr>
              <a:t>No sole AI marking of regulated exams in England.</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Devolved qualification rules + OfS B4:</a:t>
            </a:r>
            <a:r>
              <a:rPr sz="1425" b="0">
                <a:solidFill>
                  <a:srgbClr val="121A2E"/>
                </a:solidFill>
                <a:latin typeface="Arial"/>
                <a:ea typeface="Arial"/>
                <a:cs typeface="Arial"/>
              </a:rPr>
              <a:t> </a:t>
            </a:r>
            <a:r>
              <a:rPr sz="1425" b="0">
                <a:solidFill>
                  <a:srgbClr val="121A2E"/>
                </a:solidFill>
                <a:latin typeface="Arial"/>
                <a:ea typeface="Arial"/>
                <a:cs typeface="Arial"/>
              </a:rPr>
              <a:t>Valid marking, moderation and appeals.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Equality Act + NI laws:</a:t>
            </a:r>
            <a:r>
              <a:rPr sz="1425" b="0">
                <a:solidFill>
                  <a:srgbClr val="121A2E"/>
                </a:solidFill>
                <a:latin typeface="Arial"/>
                <a:ea typeface="Arial"/>
                <a:cs typeface="Arial"/>
              </a:rPr>
              <a:t> </a:t>
            </a:r>
            <a:r>
              <a:rPr sz="1425" b="0">
                <a:solidFill>
                  <a:srgbClr val="121A2E"/>
                </a:solidFill>
                <a:latin typeface="Arial"/>
                <a:ea typeface="Arial"/>
                <a:cs typeface="Arial"/>
              </a:rPr>
              <a:t>No discrimination. Apply required adjustments.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Children’s code:</a:t>
            </a:r>
            <a:r>
              <a:rPr sz="1425" b="0">
                <a:solidFill>
                  <a:srgbClr val="121A2E"/>
                </a:solidFill>
                <a:latin typeface="Arial"/>
                <a:ea typeface="Arial"/>
                <a:cs typeface="Arial"/>
              </a:rPr>
              <a:t> </a:t>
            </a:r>
            <a:r>
              <a:rPr sz="1425" b="0">
                <a:solidFill>
                  <a:srgbClr val="121A2E"/>
                </a:solidFill>
                <a:latin typeface="Arial"/>
                <a:ea typeface="Arial"/>
                <a:cs typeface="Arial"/>
              </a:rPr>
              <a:t>High privacy where under-18s are likely users.</a:t>
            </a:r>
          </a:p>
          <a:p xmlns:a="http://schemas.openxmlformats.org/drawingml/2006/main">
            <a:pPr marL="0" indent="0" algn="l">
              <a:lnSpc>
                <a:spcPct val="98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PECR + DfE contract standards:</a:t>
            </a:r>
            <a:r>
              <a:rPr sz="1425" b="0">
                <a:solidFill>
                  <a:srgbClr val="121A2E"/>
                </a:solidFill>
                <a:latin typeface="Arial"/>
                <a:ea typeface="Arial"/>
                <a:cs typeface="Arial"/>
              </a:rPr>
              <a:t> </a:t>
            </a:r>
            <a:r>
              <a:rPr sz="1425" b="0">
                <a:solidFill>
                  <a:srgbClr val="121A2E"/>
                </a:solidFill>
                <a:latin typeface="Arial"/>
                <a:ea typeface="Arial"/>
                <a:cs typeface="Arial"/>
              </a:rPr>
              <a:t>Device consent where required and agreed safety controls.</a:t>
            </a:r>
          </a:p>
        </p:txBody>
      </p:sp>
      <p:sp>
        <p:nvSpPr>
          <p:cNvPr id="285" name="Country requirements scope">
            <a:extLst xmlns:a="http://schemas.openxmlformats.org/drawingml/2006/main">
              <a:ext uri="{FF2B5EF4-FFF2-40B4-BE49-F238E27FC236}">
                <a16:creationId xmlns:a16="http://schemas.microsoft.com/office/drawing/2014/main" id="{799B15D9-36D3-4AD6-A938-4626A15BBFBF}"/>
              </a:ext>
            </a:extLst>
          </p:cNvPr>
          <p:cNvSpPr>
            <a:spLocks xmlns:a="http://schemas.openxmlformats.org/drawingml/2006/main" noGrp="1"/>
          </p:cNvSpPr>
          <p:nvPr/>
        </p:nvSpPr>
        <p:spPr>
          <a:xfrm xmlns:a="http://schemas.openxmlformats.org/drawingml/2006/main">
            <a:off x="330232" y="6372225"/>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975" b="0">
                <a:solidFill>
                  <a:srgbClr val="404754"/>
                </a:solidFill>
                <a:latin typeface="Arial"/>
                <a:ea typeface="Arial"/>
                <a:cs typeface="Arial"/>
              </a:defRPr>
            </a:pPr>
            <a:r>
              <a:rPr sz="975" b="0">
                <a:solidFill>
                  <a:srgbClr val="404754"/>
                </a:solidFill>
                <a:latin typeface="Arial"/>
                <a:ea typeface="Arial"/>
                <a:cs typeface="Arial"/>
              </a:rPr>
              <a:t>Each rule applies within its scope. Regional statutes, exceptions and dates appear in the notes. 12 September 2026.</a:t>
            </a:r>
          </a:p>
        </p:txBody>
      </p:sp>
    </p:spTree>
    <p:extLst>
      <p:ext uri="{BB962C8B-B14F-4D97-AF65-F5344CB8AC3E}">
        <p14:creationId xmlns:p14="http://schemas.microsoft.com/office/powerpoint/2010/main" val="315698347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77" name="Google Shape;277;p9">
            <a:extLst xmlns:a="http://schemas.openxmlformats.org/drawingml/2006/main">
              <a:ext uri="{FF2B5EF4-FFF2-40B4-BE49-F238E27FC236}">
                <a16:creationId xmlns:a16="http://schemas.microsoft.com/office/drawing/2014/main" id="{851C3D03-C3AE-1FA7-6DBC-717D8B679EDD}"/>
              </a:ext>
            </a:extLst>
          </p:cNvPr>
          <p:cNvSpPr>
            <a:spLocks xmlns:a="http://schemas.openxmlformats.org/drawingml/2006/main" noGrp="1"/>
          </p:cNvSpPr>
          <p:nvPr>
            <p:ph type="body" idx="1"/>
          </p:nvPr>
        </p:nvSpPr>
        <p:spPr>
          <a:xfrm xmlns:a="http://schemas.openxmlformats.org/drawingml/2006/main">
            <a:off x="330200" y="272288"/>
            <a:ext cx="11655298" cy="2960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0" rIns="19050" bIns="0" anchor="ctr">
            <a:noAutofit/>
          </a:bodyPr>
          <a:lstStyle xmlns:a="http://schemas.openxmlformats.org/drawingml/2006/main"/>
          <a:p xmlns:a="http://schemas.openxmlformats.org/drawingml/2006/main">
            <a:pPr marL="90487" marR="0" lvl="0" indent="-90487" algn="l">
              <a:lnSpc>
                <a:spcPct val="100000"/>
              </a:lnSpc>
              <a:spcBef>
                <a:spcPts val="0"/>
              </a:spcBef>
              <a:spcAft>
                <a:spcPts val="0"/>
              </a:spcAft>
              <a:buSzPts val="1400"/>
              <a:buNone/>
              <a:defRPr sz="1275" b="1">
                <a:solidFill>
                  <a:srgbClr val="009CD2"/>
                </a:solidFill>
                <a:latin typeface="Arial"/>
                <a:ea typeface="Arial"/>
                <a:cs typeface="Arial"/>
              </a:defRPr>
            </a:pPr>
            <a:r>
              <a:rPr sz="1275" b="1">
                <a:solidFill>
                  <a:srgbClr val="009CD2"/>
                </a:solidFill>
                <a:latin typeface="Arial"/>
                <a:ea typeface="Arial"/>
                <a:cs typeface="Arial"/>
              </a:rPr>
              <a:t>Legal and regulatory requirements</a:t>
            </a:r>
            <a:endParaRPr>
              <a:solidFill>
                <a:srgbClr val="1190CB"/>
              </a:solidFill>
              <a:latin typeface="Montserrat SemiBold"/>
              <a:ea typeface="Montserrat SemiBold"/>
              <a:cs typeface="Montserrat SemiBold"/>
            </a:endParaRPr>
          </a:p>
        </p:txBody>
      </p:sp>
      <p:sp>
        <p:nvSpPr>
          <p:cNvPr id="5" name="Text Placeholder 4">
            <a:extLst xmlns:a="http://schemas.openxmlformats.org/drawingml/2006/main">
              <a:ext uri="{FF2B5EF4-FFF2-40B4-BE49-F238E27FC236}">
                <a16:creationId xmlns:a16="http://schemas.microsoft.com/office/drawing/2014/main" id="{B888E9F9-5B11-BF7C-47F8-B0F8A681D394}"/>
              </a:ext>
            </a:extLst>
          </p:cNvPr>
          <p:cNvSpPr>
            <a:spLocks xmlns:a="http://schemas.openxmlformats.org/drawingml/2006/main" noGrp="1"/>
          </p:cNvSpPr>
          <p:nvPr>
            <p:ph type="body" idx="2"/>
          </p:nvPr>
        </p:nvSpPr>
        <p:spPr>
          <a:xfrm xmlns:a="http://schemas.openxmlformats.org/drawingml/2006/main">
            <a:off x="330232" y="626745"/>
            <a:ext cx="11655266" cy="685800"/>
          </a:xfrm>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2700" b="1">
                <a:solidFill>
                  <a:srgbClr val="121A2E"/>
                </a:solidFill>
                <a:latin typeface="Arial"/>
                <a:ea typeface="Arial"/>
                <a:cs typeface="Arial"/>
              </a:defRPr>
            </a:pPr>
            <a:r>
              <a:rPr sz="2700" b="1">
                <a:solidFill>
                  <a:srgbClr val="121A2E"/>
                </a:solidFill>
                <a:latin typeface="Arial"/>
                <a:ea typeface="Arial"/>
                <a:cs typeface="Arial"/>
              </a:rPr>
              <a:t>Key controls and how GRADIAS can comply</a:t>
            </a:r>
          </a:p>
        </p:txBody>
      </p:sp>
      <p:sp>
        <p:nvSpPr>
          <p:cNvPr id="281" name="Google Shape;281;p9">
            <a:extLst xmlns:a="http://schemas.openxmlformats.org/drawingml/2006/main">
              <a:ext uri="{FF2B5EF4-FFF2-40B4-BE49-F238E27FC236}">
                <a16:creationId xmlns:a16="http://schemas.microsoft.com/office/drawing/2014/main" id="{EE969B1F-1F14-B778-547F-F17B84A3158F}"/>
              </a:ext>
            </a:extLst>
          </p:cNvPr>
          <p:cNvSpPr>
            <a:spLocks xmlns:a="http://schemas.openxmlformats.org/drawingml/2006/main" noGrp="1"/>
          </p:cNvSpPr>
          <p:nvPr/>
        </p:nvSpPr>
        <p:spPr>
          <a:xfrm xmlns:a="http://schemas.openxmlformats.org/drawingml/2006/main">
            <a:off x="2907887" y="1371600"/>
            <a:ext cx="2286000" cy="393668"/>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00" b="1">
                <a:solidFill>
                  <a:srgbClr val="FFFFFF"/>
                </a:solidFill>
                <a:latin typeface="Arial"/>
                <a:ea typeface="Arial"/>
                <a:cs typeface="Arial"/>
              </a:defRPr>
            </a:pPr>
            <a:r>
              <a:rPr sz="1800" b="1" i="0" u="none" cap="none">
                <a:solidFill>
                  <a:srgbClr val="FFFFFF"/>
                </a:solidFill>
                <a:latin typeface="Arial"/>
                <a:ea typeface="Arial"/>
                <a:cs typeface="Arial"/>
              </a:rPr>
              <a:t>Specific norms</a:t>
            </a:r>
            <a:endParaRPr sz="1400" b="0" i="0" u="none" cap="none">
              <a:solidFill>
                <a:schemeClr val="bg1"/>
              </a:solidFill>
              <a:latin typeface="Arial"/>
              <a:ea typeface="Arial"/>
              <a:cs typeface="Arial"/>
            </a:endParaRPr>
          </a:p>
        </p:txBody>
      </p:sp>
      <p:sp>
        <p:nvSpPr>
          <p:cNvPr id="2" name="Google Shape;281;p9">
            <a:extLst xmlns:a="http://schemas.openxmlformats.org/drawingml/2006/main">
              <a:ext uri="{FF2B5EF4-FFF2-40B4-BE49-F238E27FC236}">
                <a16:creationId xmlns:a16="http://schemas.microsoft.com/office/drawing/2014/main" id="{D4DAF4FA-0B7D-1FFC-05D4-5E8BF1AA0A88}"/>
              </a:ext>
            </a:extLst>
          </p:cNvPr>
          <p:cNvSpPr>
            <a:spLocks xmlns:a="http://schemas.openxmlformats.org/drawingml/2006/main" noGrp="1"/>
          </p:cNvSpPr>
          <p:nvPr/>
        </p:nvSpPr>
        <p:spPr>
          <a:xfrm xmlns:a="http://schemas.openxmlformats.org/drawingml/2006/main">
            <a:off x="5289137" y="1371600"/>
            <a:ext cx="6286500" cy="393668"/>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00" b="1">
                <a:solidFill>
                  <a:srgbClr val="FFFFFF"/>
                </a:solidFill>
                <a:latin typeface="Arial"/>
                <a:ea typeface="Arial"/>
                <a:cs typeface="Arial"/>
              </a:defRPr>
            </a:pPr>
            <a:r>
              <a:rPr sz="1800" b="1" i="0" u="none" cap="none">
                <a:solidFill>
                  <a:srgbClr val="FFFFFF"/>
                </a:solidFill>
                <a:latin typeface="Arial"/>
                <a:ea typeface="Arial"/>
                <a:cs typeface="Arial"/>
              </a:rPr>
              <a:t>How GRADIAS will comply</a:t>
            </a:r>
            <a:endParaRPr sz="1400" b="0" i="0" u="none" cap="none">
              <a:solidFill>
                <a:schemeClr val="bg1"/>
              </a:solidFill>
              <a:latin typeface="Arial"/>
              <a:ea typeface="Arial"/>
              <a:cs typeface="Arial"/>
            </a:endParaRPr>
          </a:p>
        </p:txBody>
      </p:sp>
      <p:sp>
        <p:nvSpPr>
          <p:cNvPr id="3" name="Google Shape;281;p9">
            <a:extLst xmlns:a="http://schemas.openxmlformats.org/drawingml/2006/main">
              <a:ext uri="{FF2B5EF4-FFF2-40B4-BE49-F238E27FC236}">
                <a16:creationId xmlns:a16="http://schemas.microsoft.com/office/drawing/2014/main" id="{8AB53871-DAF0-4D8E-3AD8-28370930FABF}"/>
              </a:ext>
            </a:extLst>
          </p:cNvPr>
          <p:cNvSpPr>
            <a:spLocks xmlns:a="http://schemas.openxmlformats.org/drawingml/2006/main" noGrp="1"/>
          </p:cNvSpPr>
          <p:nvPr/>
        </p:nvSpPr>
        <p:spPr>
          <a:xfrm xmlns:a="http://schemas.openxmlformats.org/drawingml/2006/main">
            <a:off x="621887" y="1371600"/>
            <a:ext cx="2190750" cy="393668"/>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00" b="1">
                <a:solidFill>
                  <a:srgbClr val="FFFFFF"/>
                </a:solidFill>
                <a:latin typeface="Arial"/>
                <a:ea typeface="Arial"/>
                <a:cs typeface="Arial"/>
              </a:defRPr>
            </a:pPr>
            <a:r>
              <a:rPr sz="1800" b="1" i="0" u="none" cap="none">
                <a:solidFill>
                  <a:srgbClr val="FFFFFF"/>
                </a:solidFill>
                <a:latin typeface="Arial"/>
                <a:ea typeface="Arial"/>
                <a:cs typeface="Arial"/>
              </a:rPr>
              <a:t>Control</a:t>
            </a:r>
            <a:endParaRPr sz="1400" b="0" i="0" u="none" cap="none">
              <a:solidFill>
                <a:schemeClr val="bg1"/>
              </a:solidFill>
              <a:latin typeface="Arial"/>
              <a:ea typeface="Arial"/>
              <a:cs typeface="Arial"/>
            </a:endParaRPr>
          </a:p>
        </p:txBody>
      </p:sp>
      <p:sp>
        <p:nvSpPr>
          <p:cNvPr id="4" name="Google Shape;281;p9">
            <a:extLst xmlns:a="http://schemas.openxmlformats.org/drawingml/2006/main">
              <a:ext uri="{FF2B5EF4-FFF2-40B4-BE49-F238E27FC236}">
                <a16:creationId xmlns:a16="http://schemas.microsoft.com/office/drawing/2014/main" id="{54027D23-A28C-777D-327D-0D4FCBABD961}"/>
              </a:ext>
            </a:extLst>
          </p:cNvPr>
          <p:cNvSpPr>
            <a:spLocks xmlns:a="http://schemas.openxmlformats.org/drawingml/2006/main" noGrp="1"/>
          </p:cNvSpPr>
          <p:nvPr/>
        </p:nvSpPr>
        <p:spPr>
          <a:xfrm xmlns:a="http://schemas.openxmlformats.org/drawingml/2006/main">
            <a:off x="2907887" y="1765268"/>
            <a:ext cx="2286000" cy="914400"/>
          </a:xfrm>
          <a:prstGeom xmlns:a="http://schemas.openxmlformats.org/drawingml/2006/main" prst="rect">
            <a:avLst/>
          </a:prstGeom>
          <a:solidFill xmlns:a="http://schemas.openxmlformats.org/drawingml/2006/main">
            <a:srgbClr val="FFC000"/>
          </a:solidFill>
          <a:ln xmlns:a="http://schemas.openxmlformats.org/drawingml/2006/main">
            <a:solidFill>
              <a:schemeClr val="bg1">
                <a:lumMod val="75000"/>
              </a:schemeClr>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 Arts. 6, 24, 29</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SchulG NRW §§ 57, 120</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FERPA 34 CFR §§ 99.30–33</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BeamtStG § 37</a:t>
            </a:r>
          </a:p>
        </p:txBody>
      </p:sp>
      <p:sp>
        <p:nvSpPr>
          <p:cNvPr id="6" name="Google Shape;281;p9">
            <a:extLst xmlns:a="http://schemas.openxmlformats.org/drawingml/2006/main">
              <a:ext uri="{FF2B5EF4-FFF2-40B4-BE49-F238E27FC236}">
                <a16:creationId xmlns:a16="http://schemas.microsoft.com/office/drawing/2014/main" id="{C130A00B-F090-BFB1-DA0E-B316032E039A}"/>
              </a:ext>
            </a:extLst>
          </p:cNvPr>
          <p:cNvSpPr>
            <a:spLocks xmlns:a="http://schemas.openxmlformats.org/drawingml/2006/main" noGrp="1"/>
          </p:cNvSpPr>
          <p:nvPr/>
        </p:nvSpPr>
        <p:spPr>
          <a:xfrm xmlns:a="http://schemas.openxmlformats.org/drawingml/2006/main">
            <a:off x="5289137" y="1765268"/>
            <a:ext cx="6286500" cy="914400"/>
          </a:xfrm>
          <a:prstGeom xmlns:a="http://schemas.openxmlformats.org/drawingml/2006/main" prst="rect">
            <a:avLst/>
          </a:prstGeom>
          <a:solidFill xmlns:a="http://schemas.openxmlformats.org/drawingml/2006/main">
            <a:srgbClr val="FFC000"/>
          </a:solidFill>
          <a:ln xmlns:a="http://schemas.openxmlformats.org/drawingml/2006/main">
            <a:solidFill>
              <a:schemeClr val="bg1">
                <a:lumMod val="75000"/>
              </a:schemeClr>
            </a:solid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171450" marR="0" lvl="0" indent="-171450" algn="l">
              <a:lnSpc>
                <a:spcPct val="100000"/>
              </a:lnSpc>
              <a:spcBef>
                <a:spcPts val="0"/>
              </a:spcBef>
              <a:spcAft>
                <a:spcPts val="0"/>
              </a:spcAft>
              <a:buClr>
                <a:srgbClr val="000000"/>
              </a:buClr>
              <a:buSzPts val="1600"/>
              <a:buFont typeface="Arial"/>
              <a:buChar char="•"/>
              <a:defRPr sz="1425" b="0">
                <a:solidFill>
                  <a:srgbClr val="121A2E"/>
                </a:solidFill>
                <a:latin typeface="Arial"/>
                <a:ea typeface="Arial"/>
                <a:cs typeface="Arial"/>
              </a:defRPr>
            </a:pPr>
            <a:r>
              <a:rPr sz="1100" b="0" i="0" u="none" cap="none">
                <a:solidFill>
                  <a:srgbClr val="121A2E"/>
                </a:solidFill>
                <a:latin typeface="Arial"/>
                <a:ea typeface="Arial"/>
                <a:cs typeface="Arial"/>
              </a:rPr>
              <a:t>Offer full anonymization and test/experiment participation only – </a:t>
            </a:r>
            <a:r>
              <a:rPr sz="1100" b="0" i="0" u="none" cap="none">
                <a:solidFill>
                  <a:srgbClr val="121A2E"/>
                </a:solidFill>
                <a:latin typeface="Arial"/>
                <a:ea typeface="Arial"/>
                <a:cs typeface="Arial"/>
              </a:rPr>
              <a:t>Check remaining permissions</a:t>
            </a:r>
            <a:r>
              <a:rPr sz="1100" b="0" i="0" u="none" cap="none">
                <a:solidFill>
                  <a:srgbClr val="121A2E"/>
                </a:solidFill>
                <a:latin typeface="Arial"/>
                <a:ea typeface="Arial"/>
                <a:cs typeface="Arial"/>
              </a:rPr>
              <a:t> – Liability risk take over guarantee</a:t>
            </a:r>
          </a:p>
          <a:p xmlns:a="http://schemas.openxmlformats.org/drawingml/2006/main">
            <a:pPr marL="171450" marR="0" lvl="0" indent="-171450" algn="l">
              <a:lnSpc>
                <a:spcPct val="100000"/>
              </a:lnSpc>
              <a:spcBef>
                <a:spcPts val="0"/>
              </a:spcBef>
              <a:spcAft>
                <a:spcPts val="0"/>
              </a:spcAft>
              <a:buClr>
                <a:srgbClr val="000000"/>
              </a:buClr>
              <a:buSzPts val="1600"/>
              <a:buFont typeface="Arial"/>
              <a:buChar char="•"/>
              <a:defRPr sz="1425" b="0">
                <a:solidFill>
                  <a:srgbClr val="121A2E"/>
                </a:solidFill>
                <a:latin typeface="Arial"/>
                <a:ea typeface="Arial"/>
                <a:cs typeface="Arial"/>
              </a:defRPr>
            </a:pPr>
            <a:r>
              <a:rPr sz="1100">
                <a:solidFill>
                  <a:srgbClr val="121A2E"/>
                </a:solidFill>
                <a:latin typeface="Arial"/>
                <a:ea typeface="Arial"/>
                <a:cs typeface="Arial"/>
              </a:rPr>
              <a:t>Seek recommendation of state level authority (</a:t>
            </a:r>
            <a:r>
              <a:rPr sz="1100">
                <a:solidFill>
                  <a:srgbClr val="121A2E"/>
                </a:solidFill>
                <a:latin typeface="Arial"/>
                <a:ea typeface="Arial"/>
                <a:cs typeface="Arial"/>
              </a:rPr>
              <a:t>Landesdatenschutzbeauftrager</a:t>
            </a:r>
            <a:r>
              <a:rPr sz="1100">
                <a:solidFill>
                  <a:srgbClr val="121A2E"/>
                </a:solidFill>
                <a:latin typeface="Arial"/>
                <a:ea typeface="Arial"/>
                <a:cs typeface="Arial"/>
              </a:rPr>
              <a:t>)</a:t>
            </a:r>
          </a:p>
          <a:p xmlns:a="http://schemas.openxmlformats.org/drawingml/2006/main">
            <a:pPr marL="171450" marR="0" lvl="0" indent="-171450" algn="l">
              <a:lnSpc>
                <a:spcPct val="100000"/>
              </a:lnSpc>
              <a:spcBef>
                <a:spcPts val="0"/>
              </a:spcBef>
              <a:spcAft>
                <a:spcPts val="0"/>
              </a:spcAft>
              <a:buClr>
                <a:srgbClr val="000000"/>
              </a:buClr>
              <a:buSzPts val="1600"/>
              <a:buFont typeface="Arial"/>
              <a:buChar char="•"/>
              <a:defRPr sz="1425" b="0">
                <a:solidFill>
                  <a:srgbClr val="121A2E"/>
                </a:solidFill>
                <a:latin typeface="Arial"/>
                <a:ea typeface="Arial"/>
                <a:cs typeface="Arial"/>
              </a:defRPr>
            </a:pPr>
            <a:r>
              <a:rPr sz="1100" b="0" i="0" u="none" cap="none">
                <a:solidFill>
                  <a:srgbClr val="121A2E"/>
                </a:solidFill>
                <a:latin typeface="Arial"/>
                <a:ea typeface="Arial"/>
                <a:cs typeface="Arial"/>
              </a:rPr>
              <a:t>Campaign into school headmasters to seek school level approval</a:t>
            </a:r>
            <a:endParaRPr sz="1050" b="0" i="0" u="none" cap="none">
              <a:solidFill>
                <a:srgbClr val="000000"/>
              </a:solidFill>
              <a:latin typeface="Arial"/>
              <a:ea typeface="Arial"/>
              <a:cs typeface="Arial"/>
            </a:endParaRPr>
          </a:p>
        </p:txBody>
      </p:sp>
      <p:sp>
        <p:nvSpPr>
          <p:cNvPr id="7" name="Google Shape;281;p9">
            <a:extLst xmlns:a="http://schemas.openxmlformats.org/drawingml/2006/main">
              <a:ext uri="{FF2B5EF4-FFF2-40B4-BE49-F238E27FC236}">
                <a16:creationId xmlns:a16="http://schemas.microsoft.com/office/drawing/2014/main" id="{A198CAA6-B945-DCB5-B7E6-4D59C296D813}"/>
              </a:ext>
            </a:extLst>
          </p:cNvPr>
          <p:cNvSpPr>
            <a:spLocks xmlns:a="http://schemas.openxmlformats.org/drawingml/2006/main" noGrp="1"/>
          </p:cNvSpPr>
          <p:nvPr/>
        </p:nvSpPr>
        <p:spPr>
          <a:xfrm xmlns:a="http://schemas.openxmlformats.org/drawingml/2006/main">
            <a:off x="621887" y="1765268"/>
            <a:ext cx="2190750" cy="914400"/>
          </a:xfrm>
          <a:prstGeom xmlns:a="http://schemas.openxmlformats.org/drawingml/2006/main" prst="rect">
            <a:avLst/>
          </a:prstGeom>
          <a:solidFill xmlns:a="http://schemas.openxmlformats.org/drawingml/2006/main">
            <a:srgbClr val="FFC000"/>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School authorization of the teacher</a:t>
            </a:r>
            <a:endParaRPr sz="1400" b="1" i="0" u="none" cap="none">
              <a:solidFill>
                <a:srgbClr val="000000"/>
              </a:solidFill>
              <a:latin typeface="Arial"/>
              <a:ea typeface="Arial"/>
              <a:cs typeface="Arial"/>
            </a:endParaRPr>
          </a:p>
        </p:txBody>
      </p:sp>
      <p:sp>
        <p:nvSpPr>
          <p:cNvPr id="8" name="Google Shape;281;p9">
            <a:extLst xmlns:a="http://schemas.openxmlformats.org/drawingml/2006/main">
              <a:ext uri="{FF2B5EF4-FFF2-40B4-BE49-F238E27FC236}">
                <a16:creationId xmlns:a16="http://schemas.microsoft.com/office/drawing/2014/main" id="{DE9CFA92-38F8-A7A8-E556-720E599F0CEE}"/>
              </a:ext>
            </a:extLst>
          </p:cNvPr>
          <p:cNvSpPr>
            <a:spLocks xmlns:a="http://schemas.openxmlformats.org/drawingml/2006/main" noGrp="1"/>
          </p:cNvSpPr>
          <p:nvPr/>
        </p:nvSpPr>
        <p:spPr>
          <a:xfrm xmlns:a="http://schemas.openxmlformats.org/drawingml/2006/main">
            <a:off x="2907887" y="2679668"/>
            <a:ext cx="22860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 Arts. 35–36</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 AI Act Arts. 9, 27</a:t>
            </a:r>
          </a:p>
        </p:txBody>
      </p:sp>
      <p:sp>
        <p:nvSpPr>
          <p:cNvPr id="9" name="Google Shape;281;p9">
            <a:extLst xmlns:a="http://schemas.openxmlformats.org/drawingml/2006/main">
              <a:ext uri="{FF2B5EF4-FFF2-40B4-BE49-F238E27FC236}">
                <a16:creationId xmlns:a16="http://schemas.microsoft.com/office/drawing/2014/main" id="{D32FC5FE-C28B-5522-4073-0FA2B0994BFF}"/>
              </a:ext>
            </a:extLst>
          </p:cNvPr>
          <p:cNvSpPr>
            <a:spLocks xmlns:a="http://schemas.openxmlformats.org/drawingml/2006/main" noGrp="1"/>
          </p:cNvSpPr>
          <p:nvPr/>
        </p:nvSpPr>
        <p:spPr>
          <a:xfrm xmlns:a="http://schemas.openxmlformats.org/drawingml/2006/main">
            <a:off x="5289137" y="2679668"/>
            <a:ext cx="62865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171450" marR="0" lvl="0" indent="-171450" algn="l">
              <a:lnSpc>
                <a:spcPct val="100000"/>
              </a:lnSpc>
              <a:spcBef>
                <a:spcPts val="0"/>
              </a:spcBef>
              <a:spcAft>
                <a:spcPts val="0"/>
              </a:spcAft>
              <a:buClr>
                <a:srgbClr val="000000"/>
              </a:buClr>
              <a:buSzPts val="1600"/>
              <a:buFont typeface="Arial"/>
              <a:buChar char="•"/>
              <a:defRPr sz="1425" b="0">
                <a:solidFill>
                  <a:srgbClr val="121A2E"/>
                </a:solidFill>
                <a:latin typeface="Arial"/>
                <a:ea typeface="Arial"/>
                <a:cs typeface="Arial"/>
              </a:defRPr>
            </a:pPr>
            <a:r>
              <a:rPr sz="1100" b="0">
                <a:solidFill>
                  <a:srgbClr val="121A2E"/>
                </a:solidFill>
                <a:latin typeface="Arial"/>
                <a:ea typeface="Arial"/>
                <a:cs typeface="Arial"/>
              </a:rPr>
              <a:t>Assess product risks. Help each school complete its DPIA and any required fundamental-rights assessment for the actual use.</a:t>
            </a:r>
            <a:endParaRPr sz="1050" b="0" i="0" u="none" cap="none">
              <a:solidFill>
                <a:srgbClr val="000000"/>
              </a:solidFill>
              <a:latin typeface="Arial"/>
              <a:ea typeface="Arial"/>
              <a:cs typeface="Arial"/>
            </a:endParaRPr>
          </a:p>
        </p:txBody>
      </p:sp>
      <p:sp>
        <p:nvSpPr>
          <p:cNvPr id="10" name="Google Shape;281;p9">
            <a:extLst xmlns:a="http://schemas.openxmlformats.org/drawingml/2006/main">
              <a:ext uri="{FF2B5EF4-FFF2-40B4-BE49-F238E27FC236}">
                <a16:creationId xmlns:a16="http://schemas.microsoft.com/office/drawing/2014/main" id="{BBFF240B-D93B-996F-149D-FE87F21D983D}"/>
              </a:ext>
            </a:extLst>
          </p:cNvPr>
          <p:cNvSpPr>
            <a:spLocks xmlns:a="http://schemas.openxmlformats.org/drawingml/2006/main" noGrp="1"/>
          </p:cNvSpPr>
          <p:nvPr/>
        </p:nvSpPr>
        <p:spPr>
          <a:xfrm xmlns:a="http://schemas.openxmlformats.org/drawingml/2006/main">
            <a:off x="621887" y="2679668"/>
            <a:ext cx="219075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Impact assessments</a:t>
            </a:r>
            <a:endParaRPr sz="1400" b="1" i="0" u="none" cap="none">
              <a:solidFill>
                <a:srgbClr val="000000"/>
              </a:solidFill>
              <a:latin typeface="Arial"/>
              <a:ea typeface="Arial"/>
              <a:cs typeface="Arial"/>
            </a:endParaRPr>
          </a:p>
        </p:txBody>
      </p:sp>
      <p:sp>
        <p:nvSpPr>
          <p:cNvPr id="11" name="Google Shape;281;p9">
            <a:extLst xmlns:a="http://schemas.openxmlformats.org/drawingml/2006/main">
              <a:ext uri="{FF2B5EF4-FFF2-40B4-BE49-F238E27FC236}">
                <a16:creationId xmlns:a16="http://schemas.microsoft.com/office/drawing/2014/main" id="{263A2C5C-1255-81B8-345D-813C53845453}"/>
              </a:ext>
            </a:extLst>
          </p:cNvPr>
          <p:cNvSpPr>
            <a:spLocks xmlns:a="http://schemas.openxmlformats.org/drawingml/2006/main" noGrp="1"/>
          </p:cNvSpPr>
          <p:nvPr/>
        </p:nvSpPr>
        <p:spPr>
          <a:xfrm xmlns:a="http://schemas.openxmlformats.org/drawingml/2006/main">
            <a:off x="2907887" y="3136868"/>
            <a:ext cx="22860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 Art. 28(3), (9)</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California Education Code</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 49073.1</a:t>
            </a:r>
          </a:p>
        </p:txBody>
      </p:sp>
      <p:sp>
        <p:nvSpPr>
          <p:cNvPr id="12" name="Google Shape;281;p9">
            <a:extLst xmlns:a="http://schemas.openxmlformats.org/drawingml/2006/main">
              <a:ext uri="{FF2B5EF4-FFF2-40B4-BE49-F238E27FC236}">
                <a16:creationId xmlns:a16="http://schemas.microsoft.com/office/drawing/2014/main" id="{8AAE6D6F-C823-5FDB-35F1-1F05DA24C15E}"/>
              </a:ext>
            </a:extLst>
          </p:cNvPr>
          <p:cNvSpPr>
            <a:spLocks xmlns:a="http://schemas.openxmlformats.org/drawingml/2006/main" noGrp="1"/>
          </p:cNvSpPr>
          <p:nvPr/>
        </p:nvSpPr>
        <p:spPr>
          <a:xfrm xmlns:a="http://schemas.openxmlformats.org/drawingml/2006/main">
            <a:off x="5289137" y="3136868"/>
            <a:ext cx="62865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171450" marR="0" lvl="0" indent="-171450" algn="l">
              <a:lnSpc>
                <a:spcPct val="100000"/>
              </a:lnSpc>
              <a:spcBef>
                <a:spcPts val="0"/>
              </a:spcBef>
              <a:spcAft>
                <a:spcPts val="0"/>
              </a:spcAft>
              <a:buClr>
                <a:srgbClr val="000000"/>
              </a:buClr>
              <a:buSzPts val="1600"/>
              <a:buFont typeface="Arial"/>
              <a:buChar char="•"/>
              <a:defRPr sz="1425" b="0">
                <a:solidFill>
                  <a:srgbClr val="121A2E"/>
                </a:solidFill>
                <a:latin typeface="Arial"/>
                <a:ea typeface="Arial"/>
                <a:cs typeface="Arial"/>
              </a:defRPr>
            </a:pPr>
            <a:r>
              <a:rPr sz="1100" b="0" i="0" u="none" cap="none">
                <a:solidFill>
                  <a:srgbClr val="121A2E"/>
                </a:solidFill>
                <a:latin typeface="Arial"/>
                <a:ea typeface="Arial"/>
                <a:cs typeface="Arial"/>
              </a:rPr>
              <a:t>Use complete standard terms and required state addenda. Record online acceptance by an authorised school representative before uploads.</a:t>
            </a:r>
            <a:endParaRPr sz="1050" b="0" i="0" u="none" cap="none">
              <a:solidFill>
                <a:srgbClr val="000000"/>
              </a:solidFill>
              <a:latin typeface="Arial"/>
              <a:ea typeface="Arial"/>
              <a:cs typeface="Arial"/>
            </a:endParaRPr>
          </a:p>
        </p:txBody>
      </p:sp>
      <p:sp>
        <p:nvSpPr>
          <p:cNvPr id="13" name="Google Shape;281;p9">
            <a:extLst xmlns:a="http://schemas.openxmlformats.org/drawingml/2006/main">
              <a:ext uri="{FF2B5EF4-FFF2-40B4-BE49-F238E27FC236}">
                <a16:creationId xmlns:a16="http://schemas.microsoft.com/office/drawing/2014/main" id="{FBBCC4D7-807C-EEAF-0B44-D631A60E8AB8}"/>
              </a:ext>
            </a:extLst>
          </p:cNvPr>
          <p:cNvSpPr>
            <a:spLocks xmlns:a="http://schemas.openxmlformats.org/drawingml/2006/main" noGrp="1"/>
          </p:cNvSpPr>
          <p:nvPr/>
        </p:nvSpPr>
        <p:spPr>
          <a:xfrm xmlns:a="http://schemas.openxmlformats.org/drawingml/2006/main">
            <a:off x="621887" y="3136868"/>
            <a:ext cx="219075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DPA with school</a:t>
            </a:r>
            <a:endParaRPr sz="1400" b="1" i="0" u="none" cap="none">
              <a:solidFill>
                <a:srgbClr val="000000"/>
              </a:solidFill>
              <a:latin typeface="Arial"/>
              <a:ea typeface="Arial"/>
              <a:cs typeface="Arial"/>
            </a:endParaRPr>
          </a:p>
        </p:txBody>
      </p:sp>
      <p:sp>
        <p:nvSpPr>
          <p:cNvPr id="14" name="Google Shape;281;p9">
            <a:extLst xmlns:a="http://schemas.openxmlformats.org/drawingml/2006/main">
              <a:ext uri="{FF2B5EF4-FFF2-40B4-BE49-F238E27FC236}">
                <a16:creationId xmlns:a16="http://schemas.microsoft.com/office/drawing/2014/main" id="{34E81186-7043-B441-B1CE-1B8AB499F892}"/>
              </a:ext>
            </a:extLst>
          </p:cNvPr>
          <p:cNvSpPr>
            <a:spLocks xmlns:a="http://schemas.openxmlformats.org/drawingml/2006/main" noGrp="1"/>
          </p:cNvSpPr>
          <p:nvPr/>
        </p:nvSpPr>
        <p:spPr>
          <a:xfrm xmlns:a="http://schemas.openxmlformats.org/drawingml/2006/main">
            <a:off x="2907887" y="3594068"/>
            <a:ext cx="22860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Art. 28(2), (4), (9)</a:t>
            </a:r>
          </a:p>
        </p:txBody>
      </p:sp>
      <p:sp>
        <p:nvSpPr>
          <p:cNvPr id="15" name="Google Shape;281;p9">
            <a:extLst xmlns:a="http://schemas.openxmlformats.org/drawingml/2006/main">
              <a:ext uri="{FF2B5EF4-FFF2-40B4-BE49-F238E27FC236}">
                <a16:creationId xmlns:a16="http://schemas.microsoft.com/office/drawing/2014/main" id="{AE14282E-CD9B-3616-664A-5818197EF5DA}"/>
              </a:ext>
            </a:extLst>
          </p:cNvPr>
          <p:cNvSpPr>
            <a:spLocks xmlns:a="http://schemas.openxmlformats.org/drawingml/2006/main" noGrp="1"/>
          </p:cNvSpPr>
          <p:nvPr/>
        </p:nvSpPr>
        <p:spPr>
          <a:xfrm xmlns:a="http://schemas.openxmlformats.org/drawingml/2006/main">
            <a:off x="5289137" y="3594068"/>
            <a:ext cx="62865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171450" marR="0" lvl="0" indent="-171450" algn="l">
              <a:lnSpc>
                <a:spcPct val="100000"/>
              </a:lnSpc>
              <a:spcBef>
                <a:spcPts val="0"/>
              </a:spcBef>
              <a:spcAft>
                <a:spcPts val="0"/>
              </a:spcAft>
              <a:buClr>
                <a:srgbClr val="000000"/>
              </a:buClr>
              <a:buSzPts val="1600"/>
              <a:buFont typeface="Arial"/>
              <a:buChar char="•"/>
              <a:defRPr sz="1425" b="0">
                <a:solidFill>
                  <a:srgbClr val="121A2E"/>
                </a:solidFill>
                <a:latin typeface="Arial"/>
                <a:ea typeface="Arial"/>
                <a:cs typeface="Arial"/>
              </a:defRPr>
            </a:pPr>
            <a:r>
              <a:rPr sz="1100" b="0" i="0" u="none" cap="none">
                <a:solidFill>
                  <a:srgbClr val="121A2E"/>
                </a:solidFill>
                <a:latin typeface="Arial"/>
                <a:ea typeface="Arial"/>
                <a:cs typeface="Arial"/>
              </a:rPr>
              <a:t>Review LLM suppliers’ standard DPAs for equivalent duties. Obtain school authorisation and cover OCR, hosting and further suppliers.</a:t>
            </a:r>
            <a:endParaRPr sz="1050" b="0" i="0" u="none" cap="none">
              <a:solidFill>
                <a:srgbClr val="000000"/>
              </a:solidFill>
              <a:latin typeface="Arial"/>
              <a:ea typeface="Arial"/>
              <a:cs typeface="Arial"/>
            </a:endParaRPr>
          </a:p>
        </p:txBody>
      </p:sp>
      <p:sp>
        <p:nvSpPr>
          <p:cNvPr id="16" name="Google Shape;281;p9">
            <a:extLst xmlns:a="http://schemas.openxmlformats.org/drawingml/2006/main">
              <a:ext uri="{FF2B5EF4-FFF2-40B4-BE49-F238E27FC236}">
                <a16:creationId xmlns:a16="http://schemas.microsoft.com/office/drawing/2014/main" id="{58359EE9-BB80-D653-7BC7-96C98160D9F3}"/>
              </a:ext>
            </a:extLst>
          </p:cNvPr>
          <p:cNvSpPr>
            <a:spLocks xmlns:a="http://schemas.openxmlformats.org/drawingml/2006/main" noGrp="1"/>
          </p:cNvSpPr>
          <p:nvPr/>
        </p:nvSpPr>
        <p:spPr>
          <a:xfrm xmlns:a="http://schemas.openxmlformats.org/drawingml/2006/main">
            <a:off x="621887" y="3594068"/>
            <a:ext cx="219075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DPA with subprocessors</a:t>
            </a:r>
            <a:endParaRPr sz="1400" b="1" i="0" u="none" cap="none">
              <a:solidFill>
                <a:srgbClr val="000000"/>
              </a:solidFill>
              <a:latin typeface="Arial"/>
              <a:ea typeface="Arial"/>
              <a:cs typeface="Arial"/>
            </a:endParaRPr>
          </a:p>
        </p:txBody>
      </p:sp>
      <p:sp>
        <p:nvSpPr>
          <p:cNvPr id="17" name="Google Shape;281;p9">
            <a:extLst xmlns:a="http://schemas.openxmlformats.org/drawingml/2006/main">
              <a:ext uri="{FF2B5EF4-FFF2-40B4-BE49-F238E27FC236}">
                <a16:creationId xmlns:a16="http://schemas.microsoft.com/office/drawing/2014/main" id="{4E49445F-5372-A857-8437-B52AACC79459}"/>
              </a:ext>
            </a:extLst>
          </p:cNvPr>
          <p:cNvSpPr>
            <a:spLocks xmlns:a="http://schemas.openxmlformats.org/drawingml/2006/main" noGrp="1"/>
          </p:cNvSpPr>
          <p:nvPr/>
        </p:nvSpPr>
        <p:spPr>
          <a:xfrm xmlns:a="http://schemas.openxmlformats.org/drawingml/2006/main">
            <a:off x="2907887" y="4051268"/>
            <a:ext cx="22860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 AI Act Arts. 9, 10, 15</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Equality Act 2010 ss. 19–21</a:t>
            </a:r>
          </a:p>
        </p:txBody>
      </p:sp>
      <p:sp>
        <p:nvSpPr>
          <p:cNvPr id="18" name="Google Shape;281;p9">
            <a:extLst xmlns:a="http://schemas.openxmlformats.org/drawingml/2006/main">
              <a:ext uri="{FF2B5EF4-FFF2-40B4-BE49-F238E27FC236}">
                <a16:creationId xmlns:a16="http://schemas.microsoft.com/office/drawing/2014/main" id="{82DECE19-7C71-CBDD-3FE7-46EE4667BC09}"/>
              </a:ext>
            </a:extLst>
          </p:cNvPr>
          <p:cNvSpPr>
            <a:spLocks xmlns:a="http://schemas.openxmlformats.org/drawingml/2006/main" noGrp="1"/>
          </p:cNvSpPr>
          <p:nvPr/>
        </p:nvSpPr>
        <p:spPr>
          <a:xfrm xmlns:a="http://schemas.openxmlformats.org/drawingml/2006/main">
            <a:off x="5289137" y="4051268"/>
            <a:ext cx="62865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171450" marR="0" lvl="0" indent="-171450" algn="l">
              <a:lnSpc>
                <a:spcPct val="100000"/>
              </a:lnSpc>
              <a:spcBef>
                <a:spcPts val="0"/>
              </a:spcBef>
              <a:spcAft>
                <a:spcPts val="0"/>
              </a:spcAft>
              <a:buClr>
                <a:srgbClr val="000000"/>
              </a:buClr>
              <a:buSzPts val="1600"/>
              <a:buFont typeface="Arial"/>
              <a:buChar char="•"/>
              <a:defRPr sz="1425" b="0">
                <a:solidFill>
                  <a:srgbClr val="121A2E"/>
                </a:solidFill>
                <a:latin typeface="Arial"/>
                <a:ea typeface="Arial"/>
                <a:cs typeface="Arial"/>
              </a:defRPr>
            </a:pPr>
            <a:r>
              <a:rPr sz="1100" b="0" i="0" u="none" cap="none">
                <a:solidFill>
                  <a:srgbClr val="121A2E"/>
                </a:solidFill>
                <a:latin typeface="Arial"/>
                <a:ea typeface="Arial"/>
                <a:cs typeface="Arial"/>
              </a:rPr>
              <a:t>Use teacher overrides as signals. Independently test bias, OCR and accessibility against representative expert-marked scripts.</a:t>
            </a:r>
            <a:endParaRPr sz="1050" b="0" i="0" u="none" cap="none">
              <a:solidFill>
                <a:srgbClr val="000000"/>
              </a:solidFill>
              <a:latin typeface="Arial"/>
              <a:ea typeface="Arial"/>
              <a:cs typeface="Arial"/>
            </a:endParaRPr>
          </a:p>
        </p:txBody>
      </p:sp>
      <p:sp>
        <p:nvSpPr>
          <p:cNvPr id="19" name="Google Shape;281;p9">
            <a:extLst xmlns:a="http://schemas.openxmlformats.org/drawingml/2006/main">
              <a:ext uri="{FF2B5EF4-FFF2-40B4-BE49-F238E27FC236}">
                <a16:creationId xmlns:a16="http://schemas.microsoft.com/office/drawing/2014/main" id="{4BFE5C3C-E485-D6F9-A812-B618E35B6C34}"/>
              </a:ext>
            </a:extLst>
          </p:cNvPr>
          <p:cNvSpPr>
            <a:spLocks xmlns:a="http://schemas.openxmlformats.org/drawingml/2006/main" noGrp="1"/>
          </p:cNvSpPr>
          <p:nvPr/>
        </p:nvSpPr>
        <p:spPr>
          <a:xfrm xmlns:a="http://schemas.openxmlformats.org/drawingml/2006/main">
            <a:off x="621887" y="4051268"/>
            <a:ext cx="219075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Evidence on bias and accuracy</a:t>
            </a:r>
            <a:endParaRPr sz="1400" b="1" i="0" u="none" cap="none">
              <a:solidFill>
                <a:srgbClr val="000000"/>
              </a:solidFill>
              <a:latin typeface="Arial"/>
              <a:ea typeface="Arial"/>
              <a:cs typeface="Arial"/>
            </a:endParaRPr>
          </a:p>
        </p:txBody>
      </p:sp>
      <p:sp>
        <p:nvSpPr>
          <p:cNvPr id="20" name="Google Shape;281;p9">
            <a:extLst xmlns:a="http://schemas.openxmlformats.org/drawingml/2006/main">
              <a:ext uri="{FF2B5EF4-FFF2-40B4-BE49-F238E27FC236}">
                <a16:creationId xmlns:a16="http://schemas.microsoft.com/office/drawing/2014/main" id="{DA7137B8-0F66-E409-AF46-2826D7E999F9}"/>
              </a:ext>
            </a:extLst>
          </p:cNvPr>
          <p:cNvSpPr>
            <a:spLocks xmlns:a="http://schemas.openxmlformats.org/drawingml/2006/main" noGrp="1"/>
          </p:cNvSpPr>
          <p:nvPr/>
        </p:nvSpPr>
        <p:spPr>
          <a:xfrm xmlns:a="http://schemas.openxmlformats.org/drawingml/2006/main">
            <a:off x="2907887" y="4508468"/>
            <a:ext cx="22860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 AI Act Art. 14</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Ofqual H1, H2, I1</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70 O.S. § 11-120 (Oklahoma)</a:t>
            </a:r>
          </a:p>
        </p:txBody>
      </p:sp>
      <p:sp>
        <p:nvSpPr>
          <p:cNvPr id="21" name="Google Shape;281;p9">
            <a:extLst xmlns:a="http://schemas.openxmlformats.org/drawingml/2006/main">
              <a:ext uri="{FF2B5EF4-FFF2-40B4-BE49-F238E27FC236}">
                <a16:creationId xmlns:a16="http://schemas.microsoft.com/office/drawing/2014/main" id="{1C300C8C-647D-E1AE-3A16-9A48E0721061}"/>
              </a:ext>
            </a:extLst>
          </p:cNvPr>
          <p:cNvSpPr>
            <a:spLocks xmlns:a="http://schemas.openxmlformats.org/drawingml/2006/main" noGrp="1"/>
          </p:cNvSpPr>
          <p:nvPr/>
        </p:nvSpPr>
        <p:spPr>
          <a:xfrm xmlns:a="http://schemas.openxmlformats.org/drawingml/2006/main">
            <a:off x="5289137" y="4508468"/>
            <a:ext cx="62865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171450" marR="0" lvl="0" indent="-171450" algn="l">
              <a:lnSpc>
                <a:spcPct val="100000"/>
              </a:lnSpc>
              <a:spcBef>
                <a:spcPts val="0"/>
              </a:spcBef>
              <a:spcAft>
                <a:spcPts val="0"/>
              </a:spcAft>
              <a:buClr>
                <a:srgbClr val="000000"/>
              </a:buClr>
              <a:buSzPts val="1600"/>
              <a:buFont typeface="Arial"/>
              <a:buChar char="•"/>
              <a:defRPr sz="1425" b="0">
                <a:solidFill>
                  <a:srgbClr val="121A2E"/>
                </a:solidFill>
                <a:latin typeface="Arial"/>
                <a:ea typeface="Arial"/>
                <a:cs typeface="Arial"/>
              </a:defRPr>
            </a:pPr>
            <a:r>
              <a:rPr sz="1100" b="0" i="0" u="none" cap="none">
                <a:solidFill>
                  <a:srgbClr val="121A2E"/>
                </a:solidFill>
                <a:latin typeface="Arial"/>
                <a:ea typeface="Arial"/>
                <a:cs typeface="Arial"/>
              </a:rPr>
              <a:t>Keep AI as advice. Require substantive teacher review before grades take effect, with item-level overrides and evidence for appeals.</a:t>
            </a:r>
            <a:endParaRPr sz="1050" b="0" i="0" u="none" cap="none">
              <a:solidFill>
                <a:srgbClr val="000000"/>
              </a:solidFill>
              <a:latin typeface="Arial"/>
              <a:ea typeface="Arial"/>
              <a:cs typeface="Arial"/>
            </a:endParaRPr>
          </a:p>
        </p:txBody>
      </p:sp>
      <p:sp>
        <p:nvSpPr>
          <p:cNvPr id="22" name="Google Shape;281;p9">
            <a:extLst xmlns:a="http://schemas.openxmlformats.org/drawingml/2006/main">
              <a:ext uri="{FF2B5EF4-FFF2-40B4-BE49-F238E27FC236}">
                <a16:creationId xmlns:a16="http://schemas.microsoft.com/office/drawing/2014/main" id="{E6122D20-90E3-E1C8-41F5-05A354CAD429}"/>
              </a:ext>
            </a:extLst>
          </p:cNvPr>
          <p:cNvSpPr>
            <a:spLocks xmlns:a="http://schemas.openxmlformats.org/drawingml/2006/main" noGrp="1"/>
          </p:cNvSpPr>
          <p:nvPr/>
        </p:nvSpPr>
        <p:spPr>
          <a:xfrm xmlns:a="http://schemas.openxmlformats.org/drawingml/2006/main">
            <a:off x="621887" y="4508468"/>
            <a:ext cx="219075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Recommendation only</a:t>
            </a:r>
            <a:endParaRPr sz="1400" b="1" i="0" u="none" cap="none">
              <a:solidFill>
                <a:srgbClr val="000000"/>
              </a:solidFill>
              <a:latin typeface="Arial"/>
              <a:ea typeface="Arial"/>
              <a:cs typeface="Arial"/>
            </a:endParaRPr>
          </a:p>
        </p:txBody>
      </p:sp>
      <p:sp>
        <p:nvSpPr>
          <p:cNvPr id="282" name="Additional control 7 column 1">
            <a:extLst xmlns:a="http://schemas.openxmlformats.org/drawingml/2006/main">
              <a:ext uri="{FF2B5EF4-FFF2-40B4-BE49-F238E27FC236}">
                <a16:creationId xmlns:a16="http://schemas.microsoft.com/office/drawing/2014/main" id="{FE348C57-2C89-4391-8B2C-58F4C7796A8C}"/>
              </a:ext>
            </a:extLst>
          </p:cNvPr>
          <p:cNvSpPr>
            <a:spLocks xmlns:a="http://schemas.openxmlformats.org/drawingml/2006/main" noGrp="1"/>
          </p:cNvSpPr>
          <p:nvPr/>
        </p:nvSpPr>
        <p:spPr>
          <a:xfrm xmlns:a="http://schemas.openxmlformats.org/drawingml/2006/main">
            <a:off x="621887" y="4965668"/>
            <a:ext cx="219075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lnSpc>
                <a:spcPct val="100000"/>
              </a:lnSpc>
              <a:buNone/>
              <a:defRPr sz="1425" b="1">
                <a:solidFill>
                  <a:srgbClr val="121A2E"/>
                </a:solidFill>
                <a:latin typeface="Arial"/>
                <a:ea typeface="Arial"/>
                <a:cs typeface="Arial"/>
              </a:defRPr>
            </a:pPr>
            <a:r>
              <a:rPr sz="1425" b="1">
                <a:solidFill>
                  <a:srgbClr val="121A2E"/>
                </a:solidFill>
                <a:latin typeface="Arial"/>
                <a:ea typeface="Arial"/>
                <a:cs typeface="Arial"/>
              </a:rPr>
              <a:t>Security and limited data use</a:t>
            </a:r>
          </a:p>
        </p:txBody>
      </p:sp>
      <p:sp>
        <p:nvSpPr>
          <p:cNvPr id="283" name="Additional control 7 column 2">
            <a:extLst xmlns:a="http://schemas.openxmlformats.org/drawingml/2006/main">
              <a:ext uri="{FF2B5EF4-FFF2-40B4-BE49-F238E27FC236}">
                <a16:creationId xmlns:a16="http://schemas.microsoft.com/office/drawing/2014/main" id="{445D510F-92C0-489F-B339-0157289F4778}"/>
              </a:ext>
            </a:extLst>
          </p:cNvPr>
          <p:cNvSpPr>
            <a:spLocks xmlns:a="http://schemas.openxmlformats.org/drawingml/2006/main" noGrp="1"/>
          </p:cNvSpPr>
          <p:nvPr/>
        </p:nvSpPr>
        <p:spPr>
          <a:xfrm xmlns:a="http://schemas.openxmlformats.org/drawingml/2006/main">
            <a:off x="2907887" y="4965668"/>
            <a:ext cx="228600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 Arts. 5, 25,</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28, 32, 44–49</a:t>
            </a:r>
          </a:p>
        </p:txBody>
      </p:sp>
      <p:sp>
        <p:nvSpPr>
          <p:cNvPr id="284" name="Additional control 7 column 3">
            <a:extLst xmlns:a="http://schemas.openxmlformats.org/drawingml/2006/main">
              <a:ext uri="{FF2B5EF4-FFF2-40B4-BE49-F238E27FC236}">
                <a16:creationId xmlns:a16="http://schemas.microsoft.com/office/drawing/2014/main" id="{DDCB3CB8-6010-4436-B644-BD46E603815B}"/>
              </a:ext>
            </a:extLst>
          </p:cNvPr>
          <p:cNvSpPr>
            <a:spLocks xmlns:a="http://schemas.openxmlformats.org/drawingml/2006/main" noGrp="1"/>
          </p:cNvSpPr>
          <p:nvPr/>
        </p:nvSpPr>
        <p:spPr>
          <a:xfrm xmlns:a="http://schemas.openxmlformats.org/drawingml/2006/main">
            <a:off x="5289137" y="4965668"/>
            <a:ext cx="628650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marL="171450" indent="-171450">
              <a:buClr>
                <a:srgbClr val="000000"/>
              </a:buClr>
              <a:buSzPts val="1600"/>
              <a:buFont typeface="Arial"/>
              <a:buChar char="•"/>
              <a:defRPr sz="1425" b="0">
                <a:solidFill>
                  <a:srgbClr val="121A2E"/>
                </a:solidFill>
                <a:latin typeface="Arial"/>
                <a:ea typeface="Arial"/>
                <a:cs typeface="Arial"/>
              </a:defRPr>
            </a:pPr>
            <a:r>
              <a:rPr sz="1100">
                <a:solidFill>
                  <a:srgbClr val="121A2E"/>
                </a:solidFill>
                <a:latin typeface="Arial"/>
                <a:ea typeface="Arial"/>
                <a:cs typeface="Arial"/>
              </a:rPr>
              <a:t>Minimise</a:t>
            </a:r>
            <a:r>
              <a:rPr sz="1100">
                <a:solidFill>
                  <a:srgbClr val="121A2E"/>
                </a:solidFill>
                <a:latin typeface="Arial"/>
                <a:ea typeface="Arial"/>
                <a:cs typeface="Arial"/>
              </a:rPr>
              <a:t> identifiers, encrypt and isolate tenants. Set deletion periods, control transfers and restrict training to </a:t>
            </a:r>
            <a:r>
              <a:rPr sz="1100">
                <a:solidFill>
                  <a:srgbClr val="121A2E"/>
                </a:solidFill>
                <a:latin typeface="Arial"/>
                <a:ea typeface="Arial"/>
                <a:cs typeface="Arial"/>
              </a:rPr>
              <a:t>authorised</a:t>
            </a:r>
            <a:r>
              <a:rPr sz="1100">
                <a:solidFill>
                  <a:srgbClr val="121A2E"/>
                </a:solidFill>
                <a:latin typeface="Arial"/>
                <a:ea typeface="Arial"/>
                <a:cs typeface="Arial"/>
              </a:rPr>
              <a:t> data.</a:t>
            </a:r>
          </a:p>
        </p:txBody>
      </p:sp>
      <p:sp>
        <p:nvSpPr>
          <p:cNvPr id="285" name="Additional control 8 column 1">
            <a:extLst xmlns:a="http://schemas.openxmlformats.org/drawingml/2006/main">
              <a:ext uri="{FF2B5EF4-FFF2-40B4-BE49-F238E27FC236}">
                <a16:creationId xmlns:a16="http://schemas.microsoft.com/office/drawing/2014/main" id="{596B7A10-5B20-4791-8F7B-07E62C17D7FD}"/>
              </a:ext>
            </a:extLst>
          </p:cNvPr>
          <p:cNvSpPr>
            <a:spLocks xmlns:a="http://schemas.openxmlformats.org/drawingml/2006/main" noGrp="1"/>
          </p:cNvSpPr>
          <p:nvPr/>
        </p:nvSpPr>
        <p:spPr>
          <a:xfrm xmlns:a="http://schemas.openxmlformats.org/drawingml/2006/main">
            <a:off x="621887" y="5422868"/>
            <a:ext cx="219075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lnSpc>
                <a:spcPct val="100000"/>
              </a:lnSpc>
              <a:buNone/>
              <a:defRPr sz="1425" b="1">
                <a:solidFill>
                  <a:srgbClr val="121A2E"/>
                </a:solidFill>
                <a:latin typeface="Arial"/>
                <a:ea typeface="Arial"/>
                <a:cs typeface="Arial"/>
              </a:defRPr>
            </a:pPr>
            <a:r>
              <a:rPr sz="1425" b="1">
                <a:solidFill>
                  <a:srgbClr val="121A2E"/>
                </a:solidFill>
                <a:latin typeface="Arial"/>
                <a:ea typeface="Arial"/>
                <a:cs typeface="Arial"/>
              </a:rPr>
              <a:t>Transparency and student rights</a:t>
            </a:r>
          </a:p>
        </p:txBody>
      </p:sp>
      <p:sp>
        <p:nvSpPr>
          <p:cNvPr id="286" name="Additional control 8 column 2">
            <a:extLst xmlns:a="http://schemas.openxmlformats.org/drawingml/2006/main">
              <a:ext uri="{FF2B5EF4-FFF2-40B4-BE49-F238E27FC236}">
                <a16:creationId xmlns:a16="http://schemas.microsoft.com/office/drawing/2014/main" id="{15CF357E-C530-4B02-A56B-8A95BFFC4DD2}"/>
              </a:ext>
            </a:extLst>
          </p:cNvPr>
          <p:cNvSpPr>
            <a:spLocks xmlns:a="http://schemas.openxmlformats.org/drawingml/2006/main" noGrp="1"/>
          </p:cNvSpPr>
          <p:nvPr/>
        </p:nvSpPr>
        <p:spPr>
          <a:xfrm xmlns:a="http://schemas.openxmlformats.org/drawingml/2006/main">
            <a:off x="2907887" y="5422868"/>
            <a:ext cx="228600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125" b="0">
                <a:solidFill>
                  <a:srgbClr val="121A2E"/>
                </a:solidFill>
                <a:latin typeface="Arial"/>
                <a:ea typeface="Arial"/>
                <a:cs typeface="Arial"/>
              </a:defRPr>
            </a:pPr>
            <a:r>
              <a:rPr sz="1125" b="0">
                <a:solidFill>
                  <a:srgbClr val="121A2E"/>
                </a:solidFill>
                <a:latin typeface="Arial"/>
                <a:ea typeface="Arial"/>
                <a:cs typeface="Arial"/>
              </a:rPr>
              <a:t>EU/UK GDPR Arts. 12–21, 33–34</a:t>
            </a:r>
          </a:p>
          <a:p xmlns:a="http://schemas.openxmlformats.org/drawingml/2006/main">
            <a:pPr marL="0" indent="0" algn="l">
              <a:lnSpc>
                <a:spcPct val="90000"/>
              </a:lnSpc>
              <a:spcBef>
                <a:spcPts val="0"/>
              </a:spcBef>
              <a:spcAft>
                <a:spcPts val="0"/>
              </a:spcAft>
              <a:buNone/>
              <a:defRPr sz="1125" b="0">
                <a:solidFill>
                  <a:srgbClr val="121A2E"/>
                </a:solidFill>
                <a:latin typeface="Arial"/>
                <a:ea typeface="Arial"/>
                <a:cs typeface="Arial"/>
              </a:defRPr>
            </a:pPr>
            <a:r>
              <a:rPr sz="1125" b="0">
                <a:solidFill>
                  <a:srgbClr val="121A2E"/>
                </a:solidFill>
                <a:latin typeface="Arial"/>
                <a:ea typeface="Arial"/>
                <a:cs typeface="Arial"/>
              </a:rPr>
              <a:t>EU AI Act Arts. 13, 26, 86</a:t>
            </a:r>
          </a:p>
          <a:p xmlns:a="http://schemas.openxmlformats.org/drawingml/2006/main">
            <a:pPr marL="0" indent="0" algn="l">
              <a:lnSpc>
                <a:spcPct val="90000"/>
              </a:lnSpc>
              <a:spcBef>
                <a:spcPts val="0"/>
              </a:spcBef>
              <a:spcAft>
                <a:spcPts val="0"/>
              </a:spcAft>
              <a:buNone/>
              <a:defRPr sz="1125" b="0">
                <a:solidFill>
                  <a:srgbClr val="121A2E"/>
                </a:solidFill>
                <a:latin typeface="Arial"/>
                <a:ea typeface="Arial"/>
                <a:cs typeface="Arial"/>
              </a:defRPr>
            </a:pPr>
            <a:r>
              <a:rPr sz="1125" b="0">
                <a:solidFill>
                  <a:srgbClr val="121A2E"/>
                </a:solidFill>
                <a:latin typeface="Arial"/>
                <a:ea typeface="Arial"/>
                <a:cs typeface="Arial"/>
              </a:rPr>
              <a:t>FERPA 34 CFR §§ 99.10–22</a:t>
            </a:r>
          </a:p>
        </p:txBody>
      </p:sp>
      <p:sp>
        <p:nvSpPr>
          <p:cNvPr id="287" name="Additional control 8 column 3">
            <a:extLst xmlns:a="http://schemas.openxmlformats.org/drawingml/2006/main">
              <a:ext uri="{FF2B5EF4-FFF2-40B4-BE49-F238E27FC236}">
                <a16:creationId xmlns:a16="http://schemas.microsoft.com/office/drawing/2014/main" id="{194A394C-9E36-4490-847A-D17C0F7DBC02}"/>
              </a:ext>
            </a:extLst>
          </p:cNvPr>
          <p:cNvSpPr>
            <a:spLocks xmlns:a="http://schemas.openxmlformats.org/drawingml/2006/main" noGrp="1"/>
          </p:cNvSpPr>
          <p:nvPr/>
        </p:nvSpPr>
        <p:spPr>
          <a:xfrm xmlns:a="http://schemas.openxmlformats.org/drawingml/2006/main">
            <a:off x="5289137" y="5422868"/>
            <a:ext cx="628650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marL="171450" indent="-171450">
              <a:lnSpc>
                <a:spcPct val="100000"/>
              </a:lnSpc>
              <a:buClr>
                <a:srgbClr val="000000"/>
              </a:buClr>
              <a:buSzPts val="1600"/>
              <a:buFont typeface="Arial"/>
              <a:buChar char="•"/>
              <a:defRPr sz="1425" b="0">
                <a:solidFill>
                  <a:srgbClr val="121A2E"/>
                </a:solidFill>
                <a:latin typeface="Arial"/>
                <a:ea typeface="Arial"/>
                <a:cs typeface="Arial"/>
              </a:defRPr>
            </a:pPr>
            <a:r>
              <a:rPr sz="1100">
                <a:solidFill>
                  <a:srgbClr val="121A2E"/>
                </a:solidFill>
                <a:latin typeface="Arial"/>
                <a:ea typeface="Arial"/>
                <a:cs typeface="Arial"/>
              </a:rPr>
              <a:t>Explain AI use and limits. Support access, correction and complaints. Notify schools of breaches promptly and help meet legal deadlines.</a:t>
            </a:r>
          </a:p>
        </p:txBody>
      </p:sp>
      <p:sp>
        <p:nvSpPr>
          <p:cNvPr id="288" name="Additional control 9 column 1">
            <a:extLst xmlns:a="http://schemas.openxmlformats.org/drawingml/2006/main">
              <a:ext uri="{FF2B5EF4-FFF2-40B4-BE49-F238E27FC236}">
                <a16:creationId xmlns:a16="http://schemas.microsoft.com/office/drawing/2014/main" id="{6F9EE814-E2BF-4299-9838-D645328E1174}"/>
              </a:ext>
            </a:extLst>
          </p:cNvPr>
          <p:cNvSpPr>
            <a:spLocks xmlns:a="http://schemas.openxmlformats.org/drawingml/2006/main" noGrp="1"/>
          </p:cNvSpPr>
          <p:nvPr/>
        </p:nvSpPr>
        <p:spPr>
          <a:xfrm xmlns:a="http://schemas.openxmlformats.org/drawingml/2006/main">
            <a:off x="621887" y="5880068"/>
            <a:ext cx="219075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lnSpc>
                <a:spcPct val="100000"/>
              </a:lnSpc>
              <a:buNone/>
              <a:defRPr sz="1425" b="1">
                <a:solidFill>
                  <a:srgbClr val="121A2E"/>
                </a:solidFill>
                <a:latin typeface="Arial"/>
                <a:ea typeface="Arial"/>
                <a:cs typeface="Arial"/>
              </a:defRPr>
            </a:pPr>
            <a:r>
              <a:rPr sz="1425" b="1">
                <a:solidFill>
                  <a:srgbClr val="121A2E"/>
                </a:solidFill>
                <a:latin typeface="Arial"/>
                <a:ea typeface="Arial"/>
                <a:cs typeface="Arial"/>
              </a:rPr>
              <a:t>Ongoing AI and market duties</a:t>
            </a:r>
          </a:p>
        </p:txBody>
      </p:sp>
      <p:sp>
        <p:nvSpPr>
          <p:cNvPr id="289" name="Additional control 9 column 2">
            <a:extLst xmlns:a="http://schemas.openxmlformats.org/drawingml/2006/main">
              <a:ext uri="{FF2B5EF4-FFF2-40B4-BE49-F238E27FC236}">
                <a16:creationId xmlns:a16="http://schemas.microsoft.com/office/drawing/2014/main" id="{A1D1800A-D131-4FF0-81FA-A93B76FF4457}"/>
              </a:ext>
            </a:extLst>
          </p:cNvPr>
          <p:cNvSpPr>
            <a:spLocks xmlns:a="http://schemas.openxmlformats.org/drawingml/2006/main" noGrp="1"/>
          </p:cNvSpPr>
          <p:nvPr/>
        </p:nvSpPr>
        <p:spPr>
          <a:xfrm xmlns:a="http://schemas.openxmlformats.org/drawingml/2006/main">
            <a:off x="2907887" y="5880068"/>
            <a:ext cx="228600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 AI Act Arts. 6, 16–21,</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43–49, 72–73</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CA 11 CCR §§ 7200–7222</a:t>
            </a:r>
          </a:p>
        </p:txBody>
      </p:sp>
      <p:sp>
        <p:nvSpPr>
          <p:cNvPr id="290" name="Additional control 9 column 3">
            <a:extLst xmlns:a="http://schemas.openxmlformats.org/drawingml/2006/main">
              <a:ext uri="{FF2B5EF4-FFF2-40B4-BE49-F238E27FC236}">
                <a16:creationId xmlns:a16="http://schemas.microsoft.com/office/drawing/2014/main" id="{6FC7C1F8-7255-40AF-81FC-65DD25E5F814}"/>
              </a:ext>
            </a:extLst>
          </p:cNvPr>
          <p:cNvSpPr>
            <a:spLocks xmlns:a="http://schemas.openxmlformats.org/drawingml/2006/main" noGrp="1"/>
          </p:cNvSpPr>
          <p:nvPr/>
        </p:nvSpPr>
        <p:spPr>
          <a:xfrm xmlns:a="http://schemas.openxmlformats.org/drawingml/2006/main">
            <a:off x="5289137" y="5880068"/>
            <a:ext cx="628650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marL="171450" indent="-171450">
              <a:buClr>
                <a:srgbClr val="000000"/>
              </a:buClr>
              <a:buSzPts val="1600"/>
              <a:buFont typeface="Arial"/>
              <a:buChar char="•"/>
              <a:defRPr sz="1425" b="0">
                <a:solidFill>
                  <a:srgbClr val="121A2E"/>
                </a:solidFill>
                <a:latin typeface="Arial"/>
                <a:ea typeface="Arial"/>
                <a:cs typeface="Arial"/>
              </a:defRPr>
            </a:pPr>
            <a:r>
              <a:rPr sz="1100">
                <a:solidFill>
                  <a:srgbClr val="121A2E"/>
                </a:solidFill>
                <a:latin typeface="Arial"/>
                <a:ea typeface="Arial"/>
                <a:cs typeface="Arial"/>
              </a:rPr>
              <a:t>Document classification, quality management and release tests. Meet triggered conformity/registration duties. Monitor changes and incidents.</a:t>
            </a:r>
          </a:p>
        </p:txBody>
      </p:sp>
    </p:spTree>
    <p:extLst>
      <p:ext uri="{BB962C8B-B14F-4D97-AF65-F5344CB8AC3E}">
        <p14:creationId xmlns:p14="http://schemas.microsoft.com/office/powerpoint/2010/main" val="28459577"/>
      </p:ext>
    </p:extLst>
  </p:cSld>
</p:sld>
</file>

<file path=ppt/theme/theme1.xml><?xml version="1.0" encoding="utf-8"?>
<a:theme xmlns:a="http://schemas.openxmlformats.org/drawingml/2006/main" name="Gradias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2026-09-12T13:01:30.8530000Z</dcterms:created>
  <dcterms:modified xsi:type="dcterms:W3CDTF">2026-09-12T13:01:30.8530000Z</dcterms:modified>
</coreProperties>
</file>