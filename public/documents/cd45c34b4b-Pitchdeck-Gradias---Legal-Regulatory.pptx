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2"/>
    <p:sldId id="258" r:id="rId3"/>
  </p:sldIdLst>
  <p:sldSz cx="12192000" cy="6858000"/>
  <p:notesSz cx="6858000" cy="9144000"/>
  <p:embeddedFontLst>
    <p:embeddedFont>
      <p:font typeface="Inter" panose="020B0604020202020204" charset="0"/>
      <p:regular r:id="rId5"/>
      <p:bold r:id="rId6"/>
      <p:italic r:id="rId7"/>
      <p:boldItalic r:id="rId8"/>
    </p:embeddedFont>
    <p:embeddedFont>
      <p:font typeface="Inter Light" panose="020B0604020202020204" charset="0"/>
      <p:regular r:id="rId9"/>
      <p:bold r:id="rId10"/>
      <p:italic r:id="rId11"/>
      <p:boldItalic r:id="rId12"/>
    </p:embeddedFont>
    <p:embeddedFont>
      <p:font typeface="Montserrat SemiBold" panose="00000700000000000000" pitchFamily="2" charset="0"/>
      <p:regular r:id="rId13"/>
      <p:bold r:id="rId14"/>
      <p:italic r:id="rId15"/>
      <p:boldItalic r:id="rId16"/>
    </p:embeddedFont>
    <p:embeddedFont>
      <p:font typeface="Poppins" panose="00000500000000000000" pitchFamily="2" charset="0"/>
      <p:regular r:id="rId17"/>
      <p:bold r:id="rId18"/>
      <p:italic r:id="rId19"/>
      <p:boldItalic r:id="rId20"/>
    </p:embeddedFont>
  </p:embeddedFontLst>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F4D372-1483-175D-CB42-E4E52CCBC817}" name="Michael Burian" initials="MB" userId="4f510493322dd37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44F5748-14AB-4321-BF65-A3762DE8F335}">
  <a:tblStyle styleId="{744F5748-14AB-4321-BF65-A3762DE8F3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D6115C50-24A0-4D59-AEF3-5AAAAD7ADC1F}"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82" y="3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font" Target="fonts/font12.fntdata"/><Relationship Id="rId20"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tableStyles" Target="tableStyles.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theme" Target="theme/theme1.xml"/><Relationship Id="rId10" Type="http://schemas.openxmlformats.org/officeDocument/2006/relationships/font" Target="fonts/font6.fntdata"/><Relationship Id="rId19" Type="http://schemas.openxmlformats.org/officeDocument/2006/relationships/font" Target="fonts/font15.fntdata"/><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a:lnSpc>
                <a:spcPct val="100000"/>
              </a:lnSpc>
              <a:spcBef>
                <a:spcPts val="0"/>
              </a:spcBef>
              <a:spcAft>
                <a:spcPts val="0"/>
              </a:spcAft>
              <a:buClr>
                <a:srgbClr val="000000"/>
              </a:buClr>
              <a:buSzPts val="1400"/>
              <a:buFont typeface="Arial"/>
              <a:buNone/>
            </a:pPr>
            <a:r>
              <a:t>Implementation of the existing controls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Supplier DPAs: standard LLM terms can work if binding and equivalent to the school’s required protection. Obtain prior specific or general written subprocessor authorisation and give advance change notice and an opportunity to object where authorisation is general. Cover the complete service chain, not merely the model vendor. No-training settings do not replace processor terms or transfer safeguards.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Impact assessments: GRADIAS should maintain its own product risk assessment and supply data flows, risks, controls and supplier evidence. The school/controller owns the required DPIA. Covered deployers own the AI Act fundamental-rights assessment. A reusable pack supports, but does not replace, an assessment of actual local use. Consult the supervisor where the applicable unmitigated high-risk trigger requires it.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School DPA: Article 28 requires all mandatory particulars and obligations. Online acceptance must bind the responsible institution through an authorised representative. Keep the accepted version and evidence. US state contracts may need their own addenda. Standard service registration alone does not prove valid institutional authority.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Authorisation: the existing authority-outreach proposal can support adoption and engagement. It does not itself grant school approval. Verify the actual controller/deployer, required local and qualification permissions, legal basis and any consent requirements. Consent is not universally required and is not always valid in education. Check procurement, confidentiality and copyright permissions before a deployment.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Bias and accuracy: preserve teacher overrides as monitoring signals, but use independent qualified reference marking and representative validation. Test rubric-level accuracy, handwriting recognition, unjustified disparities and accessibility/accommodations. Where group data is used, establish the required legal basis and sensitive-data condition. Removing names does not demonstrate freedom from bias. Substantiate performance claims and avoid promising a legally undefined zero-bias certificate.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Recommendation only: implement the proposed teacher-control model as substantive case review by an authorised, capable teacher before a significant grade takes effect. Allow output rejection, item-level correction, evidence review and a reasoned appeal process. An appeal only after an AI decision is not equivalent to prior human decision-making. Preserve mandatory human examiners and moderation. A second-opinion label does not automatically avoid EU high-risk classification or US material-influence triggers. Document any EU Article 6(3) exception and ensure its no-profiling and other conditions hold.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Security and purpose limitation: recommended implementations include access controls, tenant separation, encryption in transit and at rest, separate identifiers, tested recovery and a data-category retention/deletion schedule covering OCR, prompts, outputs, logs and backups. Honour appeal/archive retention duties. Validate all transfer routes, including remote support. No unauthorised training, advertising or cross-customer reuse. GDPR does not universally mandate domestic hosting or a particular encryption product.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Transparency and rights: provide schools with clear notices, intended use, limitations, supplier and transfer information. Enable access, correction and applicable objection or deletion rights without conflating a mark dispute with inaccurate personal data. The processor informs the controller of a breach without undue delay and supports the controller’s statutory deadlines. Establish incident escalation, complaint handling and appeal support.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AI lifecycle and market duties: maintain intended-purpose classification, documented quality/risk controls, suitable tests and technical records. Meet applicable conformity assessment, declaration, CE marking and registration duties. Maintain required logs and post-market monitoring, train users and reassess significant changes. The institution retains its own deployment duties. Follow the rule-specific dates described on slide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Country Word documents and Questions and Answers, Questions 7–15, as of 12 September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https://eur-lex.europa.eu/legal-content/EN/TXT/?uri=CELEX:32016R0679 (Articles 5, 6, 9, 22, 28, 32–36 and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https://www.edpb.europa.eu/system/files/documents/2023-10/EDPB_guidelines_202007_controllerprocessor_final_en.pdf (paragraphs 100–110, 128–129 and section 1.6)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https://ico.org.uk/for-organisations/uk-gdpr-guidance-and-resources/controllers-and-processors/controllers-and-processors/what-does-it-mean-if-you-are-a-processor/</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https://ico.org.uk/for-organisations/uk-gdpr-guidance-and-resources/artificial-intelligence/guidance-on-ai-and-data-protection/how-do-we-ensure-fairness-in-ai/what-about-fairness-bias-and-discrimination/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https://eur-lex.europa.eu/eli/reg/2024/1689/oj/eng (Articles 6, 9–27, 43–50 and 72–73)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Scope and application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The country columns group related norms from the country documents. Requirements bind different actors: GRADIAS as provider or processor, institutions as controllers or deployers, and teachers or examiners. Conditions, local jurisdiction, institution type, qualification and actual processing determine applicability. These are compliance requirements and proposed implementation measures, not a statement that GRADIAS has already implemented them.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 Land school and data rules include SchulG NRW and VO-DV I, BayEUG and BaySchO, NSchG, HSchG, and SchG/NVO Baden-Württemberg. LPVG NRW and BetrVG apply only within their respective public-sector and private-employer scopes. BDSG section 38 adds provider DPO triggers. GG and VwVfG do not provide general authority for autonomous discretionary examination decisions.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States: State student-data laws include NY Education Law section 2-d and 8 NYCRR 121, Connecticut sections 10-234aa–dd, Illinois SOPPA, Colorado Student Data Transparency and Security Act, California SOPIPA and Education Code 49073.1, Texas Education Code chapter 32, Ohio 3319.325–326, Utah 53E-9-309, Washington chapter 28A.604, DC 38-831.02 and Louisiana 17:3914. General state privacy laws include CCPA, Colorado, Connecticut, Minnesota and New Jersey, subject to scope and exemptions. Illinois BIPA and Texas biometric law apply if covered biometric identification is added. Ordinary handwriting transcription does not automatically trigger them. Ohio district AI policies and executed service/data agreements govern local use.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COPPA applies to covered online collection from under-13s, not automatically to adult-only teacher uploads. PPRA concerns covered sensitive surveys or evaluations, not ordinary academic marking. Section 508 applies to federal ICT procurement, not every federally funded school. Section 504, ADA, IDEA and Title VI/IX have distinct scopes and obligations.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United Kingdom: Devolved qualification rules mean Qualifications Wales, Qualifications Scotland and CCEA requirements. Ofqual and OfS B4 apply in England within their respective scopes. Ofqual bars sole AI marking in assessments forming part of regulated qualifications. Equality Act 2010 covers Great Britain. Northern Ireland DDA/SENDO and Northern Ireland Act section 75 have distinct scopes. Procurement Act 2023 does not replace Scotland’s general devolved procurement regime. The Children’s code depends on likely access by under-18s. DfE product standards bind through incorporation into the relevant contract rather than acting as a universal statutory licence.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Timing: The accompanying Germany document identifies Regulation (EU) 2026/1744, which shifts AI Act Chapter III Sections 1–3 for Annex III systems to 2 December 2027, except Article 6(5). Section 5 is not expressly deferred. Assess conformity and registration timing separately rather than treating the change as blanket relief. Already applicable literacy measures, prohibitions and transparency rules still matter. Colorado SB 26-189 and California’s ADMT duties begin on 1 January 2027, with their own scope and transitional rules. Oklahoma’s substantive educator-control requirements apply from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https://eur-lex.europa.eu/legal-content/EN/ALL/?uri=CELEX:32026R1744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Full norm references from the accompanying Word documents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GERMANY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Germany.docx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Datenschutz-Grundverordnung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2016/679, insbesondere Art. 4–6, 9, 12–22, 24–39 und 44–49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https://eur-lex.europa.eu/legal-content/DE/TXT/?uri=CELEX:32016R0679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EU-Verordnung über künstliche Intelligenz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Verordnung (EU) 2024/1689, insbesondere Art. 3–6, 8–27, 43–50, 72–73, 86, 111 und 113 sowie Anhang III Nr. 3 Buchst. 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https://eur-lex.europa.eu/eli/reg/2024/1689/oj/deu</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Änderung durch Verordnung (EU) 2026/1744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https://eur-lex.europa.eu/legal-content/DE/TXT/?uri=CELEX:32026R1744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Grundgesetz und verfassungsrechtliches Prüfungsrecht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3 Abs. 1, 12 Abs. 1 und 19 Abs. 4 GG; BVerwG 6 B 1.16, Rn. 12–14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https://www.bverwg.de/190516B6B1.16.0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BVerwG 6 C 19.18 zur rechtlichen Festlegung des Bewertungsverfahrens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https://www.bverwg.de/100419U6C19.18.0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Verwaltungsverfahrensgesetz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35a VwVfG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https://www.gesetze-im-internet.de/vwvfg/__35a.html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Beamtenstatusgesetz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37 BeamtStG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https://www.gesetze-im-internet.de/beamtstg/__37.html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Strafgesetzbuch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203 Abs. 2–4 StGB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https://www.gesetze-im-internet.de/stgb/__203.html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Urheberrechtsgesetz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 15, 16, 31, 44b, 60a und 60d 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https://www.gesetze-im-internet.de/urhg/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Bundesdatenschutzgesetz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38 BDSG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https://www.gesetze-im-internet.de/bdsg_2018/__38.html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Schulgesetz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48, 57, 120 und 121 SchulG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https://recht.nrw.de/lmi/owa/br_bes_text?anw_nr=2&amp;bes_id=7345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Schülerdatenverordnung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1–3 und 9 sowie Anlagen der VO-DV 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https://recht.nrw.de/lrgv/rechtsverordnung/01082022-verordnung-ueber-die-zur-verarbeitung-zugelassenen-daten-von/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Landespersonalvertretungsgesetz Nordrhein-Westfalen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72 LPVG NRW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https://recht.nrw.de/lmi/owa/pl_text_anzeigen?v_id=720031009101436847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Bayerisches Gesetz über das Erziehungs- und Unterrichtswesen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Art. 52 und 85 BayEUG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https://www.gesetze-bayern.de/Content/Document/BayEUG/true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Bayerische Schulordnung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46 und Anlage 2 BaySchO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https://www.gesetze-bayern.de/Content/Document/BaySchO2016-46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Niedersächsisches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31 NSchG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https://www.mk.niedersachsen.de/download/231335/Nds._Schulgesetz_zuletzt_geaendert_durch_Artikel_2_des_Gesetzes_vom_23._Juni_2026.pdf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Hessisches Schulgesetz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73 und 83 HSchG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https://www.rv.hessenrecht.hessen.de/bshe/document/jlr-SchulGHE2017V5IVZ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Schulgesetz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115b SchG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https://www.landesrecht-bw.de/bsbw/?query=DOKNR%3Ajlr-NNLBW00007DD4NN00000000514&amp;source=PermaLink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Notenbildungsverordnung Baden-Württemberg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7 NVO</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https://www.landesrecht-bw.de/bsbw/?docId=jlr-NNLBW00007BBDNN00000000032&amp;query=JURISLINK%3A%22NotBildV+BW+%C2%A7+7%22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Betriebsverfassungsgesetz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87 Abs. 1 Nr. 6 BetrVG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https://www.gesetze-im-internet.de/betrvg/__87.html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Telekommunikation-Digitale-Dienste-Datenschutz-Gesetz</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25 TDDDG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https://www.gesetze-im-internet.de/tdddg/__25.html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US.docx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Family Educational Rights and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1232g; 34 CFR §§ 99.3, 99.7, 99.10–22, 99.30–33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https://studentprivacy.ed.gov/ferpa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Children’s Online Privacy Protection Act and 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6501–6506; 16 CFR Part 312, as amended in 2025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https://www.ftc.gov/legal-library/browse/rules/childrens-online-privacy-protection-rule-coppa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FTC guidance on school authorisation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https://www.ftc.gov/business-guidance/resources/complying-coppa-frequently-asked-questions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Protection of Pupil Rights Amendment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1232h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https://studentprivacy.ed.gov/ppra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Title VI of the Civil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2000d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https://www.justice.gov/crt/fcs/TitleVI</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Title IX of the Education Amendments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1681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https://www.ed.gov/laws-and-policy/civil-rights-laws/title-ix-and-sex-discrimination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Section 504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 34 CFR §§ 104.33–35 and 104.44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https://www.ed.gov/laws-and-policy/civil-rights-laws/disability-discrimination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Individuals with Disabilities Education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USC § 1414; 34 CFR §§ 300.304 and 300.320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https://sites.ed.gov/idea/regs/b/d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Americans with Disabilities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42 USC §§ 12132 and 12182; 28 CFR Part 35, including Subpart H</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https://www.ada.gov/resources/2024-03-08-web-rule/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Federal distance education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CFR § 600.2, definition of distance education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https://www.ecfr.gov/current/title-34/subtitle-B/chapter-VI/part-600/section-600.2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Federal Trade Commission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USC § 45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https://www.ftc.gov/legal-library/browse/statutes/federal-trade-commission-act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United States Copyright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USC §§ 106, 107 and 201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https://www.copyright.gov/title17/92chap1.html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New York Education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Education Law § 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https://www.nysenate.gov/legislation/laws/EDN/2-D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New York Commissioner’s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NYCRR Part 121, especially §§ 121.3 and 121.6–7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https://www.counsel.nysed.gov/sites/counsel/files/rulesandregs/part-121-terms.pdf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Connecticut student data protection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10-234aa–10-234dd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https://www.cga.ct.gov/current/pub/chap_170.htm#sec_10-234bb</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Illinois Student Online Personal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105 ILCS 85, especially §§ 10, 15 and 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https://www.ilga.gov/Documents/legislation/ilcs/documents/010500850K15.htm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Colorado Student Data Transparency and Security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22-16-101–112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https://www.cde.state.co.us/dataprivacyandsecurity/studentdatatransparencyandsecurityact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California Student Online Personal Information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Business and Professions Code § 22584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https://leginfo.legislature.ca.gov/faces/codes_displaySection.xhtml?sectionNum=22584.&amp;lawCode=BPC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18 California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49073.1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https://leginfo.legislature.ca.gov/faces/codes_displaySection.xhtml?sectionNum=49073.1.&amp;lawCode=EDC</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19 Texas Education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Chapter 32, Subchapter D, §§ 32.151–32.156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https://statutes.capitol.texas.gov/Docs/ED/htm/ED.32.htm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20 Ohio Revised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 3319.325–3319.326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https://codes.ohio.gov/ohio-revised-code/section-3319.326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21 Ohio district AI policy requirement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Ohio Revised Code § 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https://codes.ohio.gov/ohio-revised-code/section-3301.24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22 Utah Student Data Protection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Utah Code § 53E-9-309, amended text effective 1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https://le.utah.gov/Session/2026/bills/enrolled/HB0055.pdf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23 Washington Student User Privacy in Education Rights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RCW Chapter 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https://app.leg.wa.gov/RCW/default.aspx?cite=28A.604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24 District of Columbia Protecting Students Digital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D.C. Code § 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https://code.dccouncil.gov/us/dc/council/code/sections/38-831.02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25 California Consumer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California Civil Code §§ 1798.100–1798.199.100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https://leginfo.legislature.ca.gov/faces/codes_displayText.xhtml?division=3.&amp;part=4.&amp;lawCode=CIV&amp;title=1.81.5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26 California automated decisionmaking and risk assessment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CCR §§ 7001, 7150–7157 and 7200–7222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https://cppa.ca.gov/regulations/pdf/ccpa_updates_cyber_risk_admt_appr_text.pdf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27 Colorado Automated Decision Making Technology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SB 26-189, enacted 14 May 2026; duties from 1 January 2027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https://www.leg.colorado.gov/bills/SB26-189</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28 Oklahoma Responsible Technology in Schools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70 O.S. § 11-120, enacted by SB 1734 of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https://www.oklegislature.gov/cf_pdf/2025-26%20ENR/SB/SB1734%20ENR.PDF</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Illinois Biometric Information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740 ILCS 14, especially §§ 10 and 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https://www.ilga.gov/legislation/ilcs/ilcs3.asp?ActID=3004&amp;ChapterID=57</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30 Texas biometric identifier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Texas Business and Commerce Code § 503.001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https://statutes.capitol.texas.gov/Docs/BC/htm/BC.503.htm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31 Colorado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C.R.S. §§ 6-1-1301–1313 and implementing rules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https://coag.gov/resources/colorado-privacy-act/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32 Connecticut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Conn. Gen. Stat. §§ 42-515–42-526,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https://www.cga.ct.gov/2026/sup/chap_743jj.htm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33 Minnesota Consumer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Minnesota Statutes §§ 325M.10–325M.21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https://www.revisor.mn.gov/statutes/cite/325M/full</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34 New Jersey Data Privacy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N.J.S.A. 56:8-166.4 et seq., P.L. 2023 chapter 266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https://pub.njleg.state.nj.us/Bills/2022/PL23/266_.HTM</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35 Louisiana student information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Louisiana R.S. 17:3914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https://legis.la.gov/legis/Law.aspx?d=920124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36 Section 508 of the Rehabilitation Act</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29 USC § 794d and applicable federal accessibility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https://www.section508.gov/manage/laws-and-policies/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37 Executed education service and data protection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Source document: AI Exam Grading - Legal and Regulatory Requirements - UK.docx</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 United Kingdom General Data Protection Regulation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UK GDPR, especially Articles 4–9, 12–22D, 24–39 and Chapter V</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https://www.legislation.gov.uk/eur/2016/679/contents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Data (Use and Access) Act 2025, sections 80 and 81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https://www.legislation.gov.uk/ukpga/2025/18/contents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2 Data Protection Act 2018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Schedule 1; Schedule 2 Part 4 paragraph 25; section 164A</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https://www.legislation.gov.uk/ukpga/2018/12/contents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3 Children’s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DPA 2018 section 123; ICO Age Appropriate Design Code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https://ico.org.uk/for-organisations/uk-gdpr-guidance-and-resources/childrens-information/childrens-code-guidance-and-resources/age-appropriate-design-a-code-of-practice-for-online-services/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4 Ofqual General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Conditions A4, A6, A8, C1, D1, G6, H1, H2 and I1, where applicable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https://www.gov.uk/guidance/ofqual-handbook</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Ofqual AI regulatory position, updated 16 July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https://www.gov.uk/government/publications/ofquals-approach-to-regulating-the-use-of-artificial-intelligence-in-the-qualifications-sector/ofquals-approach-to-regulating-the-use-of-artificial-intelligence-in-the-qualifications-sector--2</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5 Awarding body and centre assessment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JCQ AI Use in Assessments, applicable qualification specifications and centre agreements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https://www.jcq.org.uk/exams-office/malpractice/artificial-intelligence/</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6 Qualifications Wales Standard Conditions of Recognition</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Standard Conditions, including requirements for valid assessment and marking</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https://www.qualifications.wales/regulation/regulatory-conditions/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7 Scottish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Qualifications Scotland qualification specifications, assessment and quality-assurance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https://blogs.qualifications.gov.scot/nationalqualifications/understanding-the-road-to-results-day/</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8 Northern Ireland qualification assessment requirements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CCEA qualification specifications and assessment instructions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https://ccea.org.uk/document/23891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9 Equality Act 2010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13, 19–21, 85, 91 and 149; applicable schedules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https://www.legislation.gov.uk/ukpga/2010/15/contents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10 Northern Ireland disability discrimination law</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Disability Discrimination Act 1995 as amended by the Special Educational Needs and Disability (Northern Ireland) Order 2005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https://www.legislation.gov.uk/nisi/2005/1117/contents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11 Northern Ireland Act 1998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 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https://www.legislation.gov.uk/ukpga/1998/47/section/75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12 Office for Students condition B4</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Ongoing condition B4 on assessment and 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https://www.officeforstudents.org.uk/for-providers/quality-and-standards/how-we-regulate-quality-and-standards/conditions-of-registration/condition-b4-assessment-and-awards/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13 Copyright Designs and Patents Act 1988</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Sections 1, 16–17, 29A, 32 and 90</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https://www.legislation.gov.uk/ukpga/1988/48/contents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14 Procurement Act 2023</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and Schedule 1</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https://www.legislation.gov.uk/ukpga/2023/54/contents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15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Applicable provisions of the Public Contracts (Scotland) Regulations 2015</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https://www.legislation.gov.uk/ssi/2015/446/contents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16 Privacy and Electronic Communications Regulations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Regulation 6 of the Privacy and Electronic Communications (EC Directive) Regulations 2003, as amended</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https://www.legislation.gov.uk/uksi/2003/2426/regulation/6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17 Contractually incorporated education product standards</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Department for Education Generative AI product safety standards, updated 19 January 2026</a:t>
            </a:r>
            <a:endParaRPr sz="1200">
              <a:solidFill>
                <a:schemeClr val="dk1"/>
              </a:solidFill>
              <a:latin typeface="Arial"/>
              <a:ea typeface="Arial"/>
              <a:cs typeface="Arial"/>
            </a:endParaRPr>
          </a:p>
          <a:p>
            <a:pPr marL="457200" marR="0" lvl="0" indent="-228600" algn="l">
              <a:lnSpc>
                <a:spcPct val="100000"/>
              </a:lnSpc>
              <a:spcBef>
                <a:spcPts val="0"/>
              </a:spcBef>
              <a:spcAft>
                <a:spcPts val="0"/>
              </a:spcAft>
              <a:buClr>
                <a:srgbClr val="000000"/>
              </a:buClr>
              <a:buSzPts val="1400"/>
              <a:buFont typeface="Arial"/>
              <a:buNone/>
            </a:pPr>
            <a:r>
              <a:t>https://www.gov.uk/government/publications/generative-ai-product-safety-standards/generative-ai-product-safety-standards</a:t>
            </a:r>
            <a:endParaRPr sz="1200">
              <a:solidFill>
                <a:schemeClr val="dk1"/>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preserve="1" userDrawn="1">
  <p:cSld name="Cover">
    <p:bg>
      <p:bgPr>
        <a:solidFill>
          <a:srgbClr val="89B4D6"/>
        </a:solidFill>
        <a:effectLst/>
      </p:bgPr>
    </p:bg>
    <p:spTree>
      <p:nvGrpSpPr>
        <p:cNvPr id="1" name=""/>
        <p:cNvGrpSpPr/>
        <p:nvPr/>
      </p:nvGrpSpPr>
      <p:grpSpPr>
        <a:xfrm>
          <a:off x="0" y="0"/>
          <a:ext cx="0" cy="0"/>
          <a:chOff x="0" y="0"/>
          <a:chExt cx="0" cy="0"/>
        </a:xfrm>
      </p:grpSpPr>
      <p:pic>
        <p:nvPicPr>
          <p:cNvPr id="2" name="Google Shape;93;p2"/>
          <p:cNvPicPr>
            <a:picLocks noChangeAspect="1"/>
          </p:cNvPicPr>
          <p:nvPr/>
        </p:nvPicPr>
        <p:blipFill rotWithShape="1">
          <a:blip r:embed="rId2">
            <a:alphaModFix amt="23000"/>
          </a:blip>
          <a:srcRect/>
          <a:stretch/>
        </p:blipFill>
        <p:spPr>
          <a:xfrm>
            <a:off x="3540262" y="-4983252"/>
            <a:ext cx="16824504" cy="16824504"/>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Default Slide">
    <p:spTree>
      <p:nvGrpSpPr>
        <p:cNvPr id="1" name=""/>
        <p:cNvGrpSpPr/>
        <p:nvPr/>
      </p:nvGrpSpPr>
      <p:grpSpPr>
        <a:xfrm>
          <a:off x="0" y="0"/>
          <a:ext cx="0" cy="0"/>
          <a:chOff x="0" y="0"/>
          <a:chExt cx="0" cy="0"/>
        </a:xfrm>
      </p:grpSpPr>
      <p:sp>
        <p:nvSpPr>
          <p:cNvPr id="7" name="Google Shape;7;p43">
            <a:extLst>
              <a:ext uri="{FF2B5EF4-FFF2-40B4-BE49-F238E27FC236}">
                <a16:creationId xmlns:a16="http://schemas.microsoft.com/office/drawing/2014/main" id="{D69E13AB-9D1B-4442-95D3-0878429C9C40}"/>
              </a:ext>
            </a:extLst>
          </p:cNvPr>
          <p:cNvSpPr>
            <a:spLocks noGrp="1"/>
          </p:cNvSpPr>
          <p:nvPr>
            <p:ph type="body" idx="1"/>
          </p:nvPr>
        </p:nvSpPr>
        <p:spPr>
          <a:xfrm>
            <a:off x="330200" y="272235"/>
            <a:ext cx="11655300" cy="2961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1200" b="1" i="0" u="none" cap="none">
                <a:solidFill>
                  <a:srgbClr val="89B4D6"/>
                </a:solidFill>
                <a:latin typeface="Inter"/>
                <a:ea typeface="Inter"/>
                <a:cs typeface="Inter"/>
              </a:defRPr>
            </a:lvl1pPr>
            <a:lvl2pPr marL="914400" marR="0" indent="-228600" algn="l">
              <a:lnSpc>
                <a:spcPct val="100000"/>
              </a:lnSpc>
              <a:spcBef>
                <a:spcPts val="0"/>
              </a:spcBef>
              <a:spcAft>
                <a:spcPts val="0"/>
              </a:spcAft>
              <a:buClr>
                <a:srgbClr val="000000"/>
              </a:buClr>
              <a:buSzPts val="1400"/>
              <a:buFont typeface="Arial"/>
              <a:buNone/>
              <a:defRPr sz="1050" b="0" i="0" u="none" cap="none">
                <a:solidFill>
                  <a:srgbClr val="7F7F7F"/>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8" name="Google Shape;8;p43">
            <a:extLst>
              <a:ext uri="{FF2B5EF4-FFF2-40B4-BE49-F238E27FC236}">
                <a16:creationId xmlns:a16="http://schemas.microsoft.com/office/drawing/2014/main" id="{CC783599-0657-43D6-9563-765FF7BD06FD}"/>
              </a:ext>
            </a:extLst>
          </p:cNvPr>
          <p:cNvSpPr>
            <a:spLocks noGrp="1"/>
          </p:cNvSpPr>
          <p:nvPr>
            <p:ph type="body" idx="2"/>
          </p:nvPr>
        </p:nvSpPr>
        <p:spPr>
          <a:xfrm>
            <a:off x="330200" y="626802"/>
            <a:ext cx="11655300" cy="847800"/>
          </a:xfrm>
          <a:prstGeom prst="rect">
            <a:avLst/>
          </a:prstGeom>
          <a:noFill/>
          <a:ln>
            <a:noFill/>
          </a:ln>
        </p:spPr>
        <p:txBody>
          <a:bodyPr spcFirstLastPara="1" wrap="square" lIns="0" tIns="0" rIns="0" bIns="0" anchor="ctr">
            <a:noAutofit/>
          </a:bodyPr>
          <a:lstStyle>
            <a:lvl1pPr marL="457200" marR="0" indent="-228600" algn="l">
              <a:lnSpc>
                <a:spcPct val="100000"/>
              </a:lnSpc>
              <a:spcBef>
                <a:spcPts val="0"/>
              </a:spcBef>
              <a:spcAft>
                <a:spcPts val="0"/>
              </a:spcAft>
              <a:buClr>
                <a:srgbClr val="000000"/>
              </a:buClr>
              <a:buSzPts val="1400"/>
              <a:buFont typeface="Arial"/>
              <a:buNone/>
              <a:defRPr sz="3000" b="1" i="0" u="none" cap="none">
                <a:solidFill>
                  <a:srgbClr val="0F172A"/>
                </a:solidFill>
                <a:latin typeface="Poppins"/>
                <a:ea typeface="Poppins"/>
                <a:cs typeface="Poppins"/>
              </a:defRPr>
            </a:lvl1pPr>
            <a:lvl2pPr marL="914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L="1371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L="1828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L="22860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9" name="Google Shape;9;p43">
            <a:extLst>
              <a:ext uri="{FF2B5EF4-FFF2-40B4-BE49-F238E27FC236}">
                <a16:creationId xmlns:a16="http://schemas.microsoft.com/office/drawing/2014/main" id="{979C03F3-333E-4A56-9B47-A5B0F2544E90}"/>
              </a:ext>
            </a:extLst>
          </p:cNvPr>
          <p:cNvSpPr>
            <a:spLocks noGrp="1"/>
          </p:cNvSpPr>
          <p:nvPr>
            <p:ph type="body" idx="3"/>
          </p:nvPr>
        </p:nvSpPr>
        <p:spPr>
          <a:xfrm>
            <a:off x="330199" y="1833756"/>
            <a:ext cx="11655300" cy="4258200"/>
          </a:xfrm>
          <a:prstGeom prst="rect">
            <a:avLst/>
          </a:prstGeom>
          <a:noFill/>
          <a:ln>
            <a:noFill/>
          </a:ln>
        </p:spPr>
        <p:txBody>
          <a:bodyPr spcFirstLastPara="1" wrap="square" lIns="91425" tIns="91425" rIns="91425" bIns="91425" anchor="t">
            <a:normAutofit/>
          </a:bodyPr>
          <a:lstStyle>
            <a:lvl1pPr marL="457200" marR="0" indent="-342900" algn="l">
              <a:lnSpc>
                <a:spcPct val="115000"/>
              </a:lnSpc>
              <a:spcBef>
                <a:spcPts val="0"/>
              </a:spcBef>
              <a:spcAft>
                <a:spcPts val="0"/>
              </a:spcAft>
              <a:buClr>
                <a:srgbClr val="0070C0"/>
              </a:buClr>
              <a:buSzPts val="1800"/>
              <a:buFont typeface="Arial"/>
              <a:buChar char="●"/>
              <a:defRPr sz="1600" b="0" i="0" u="none" cap="none">
                <a:solidFill>
                  <a:srgbClr val="000000"/>
                </a:solidFill>
                <a:latin typeface="Arial"/>
                <a:ea typeface="Arial"/>
                <a:cs typeface="Arial"/>
              </a:defRPr>
            </a:lvl1pPr>
            <a:lvl2pPr marL="914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6pPr>
            <a:lvl7pPr marL="32004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7pPr>
            <a:lvl8pPr marL="36576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8pPr>
            <a:lvl9pPr marL="4114800" marR="0" indent="-317500" algn="l">
              <a:lnSpc>
                <a:spcPct val="115000"/>
              </a:lnSpc>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9pPr>
          </a:lstStyle>
          <a:p>
            <a:endParaRPr/>
          </a:p>
        </p:txBody>
      </p:sp>
      <p:pic>
        <p:nvPicPr>
          <p:cNvPr id="14"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reserve="1" userDrawn="1">
  <p:cSld name="Divider Page">
    <p:spTree>
      <p:nvGrpSpPr>
        <p:cNvPr id="1" name=""/>
        <p:cNvGrpSpPr/>
        <p:nvPr/>
      </p:nvGrpSpPr>
      <p:grpSpPr>
        <a:xfrm>
          <a:off x="0" y="0"/>
          <a:ext cx="0" cy="0"/>
          <a:chOff x="0" y="0"/>
          <a:chExt cx="0" cy="0"/>
        </a:xfrm>
      </p:grpSpPr>
      <p:pic>
        <p:nvPicPr>
          <p:cNvPr id="9" name="Google Shape;10;p43"/>
          <p:cNvPicPr>
            <a:picLocks noChangeAspect="1"/>
          </p:cNvPicPr>
          <p:nvPr/>
        </p:nvPicPr>
        <p:blipFill rotWithShape="1">
          <a:blip r:embed="rId2">
            <a:alphaModFix/>
          </a:blip>
          <a:srcRect l="17291" t="28026" r="16180" b="30886"/>
          <a:stretch/>
        </p:blipFill>
        <p:spPr>
          <a:xfrm>
            <a:off x="11032066" y="6415406"/>
            <a:ext cx="1032934" cy="340717"/>
          </a:xfrm>
          <a:prstGeom prst="rect">
            <a:avLst/>
          </a:prstGeom>
          <a:ln>
            <a:noFill/>
          </a:ln>
        </p:spPr>
      </p:pic>
      <p:sp>
        <p:nvSpPr>
          <p:cNvPr id="3" name="Google Shape;598;p23">
            <a:extLst>
              <a:ext uri="{FF2B5EF4-FFF2-40B4-BE49-F238E27FC236}">
                <a16:creationId xmlns:a16="http://schemas.microsoft.com/office/drawing/2014/main" id="{33F2048B-42B8-87D3-6EA7-46420BEE8E8F}"/>
              </a:ext>
            </a:extLst>
          </p:cNvPr>
          <p:cNvSpPr>
            <a:spLocks noGrp="1"/>
          </p:cNvSpPr>
          <p:nvPr/>
        </p:nvSpPr>
        <p:spPr>
          <a:xfrm>
            <a:off x="1" y="1"/>
            <a:ext cx="12192000" cy="6858000"/>
          </a:xfrm>
          <a:prstGeom prst="rect">
            <a:avLst/>
          </a:prstGeom>
          <a:solidFill>
            <a:srgbClr val="5594CF"/>
          </a:solidFill>
          <a:ln>
            <a:noFill/>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Calibri"/>
              <a:ea typeface="Calibri"/>
              <a:cs typeface="Calibri"/>
            </a:endParaRPr>
          </a:p>
        </p:txBody>
      </p:sp>
      <p:sp>
        <p:nvSpPr>
          <p:cNvPr id="4" name="Google Shape;599;p23">
            <a:extLst>
              <a:ext uri="{FF2B5EF4-FFF2-40B4-BE49-F238E27FC236}">
                <a16:creationId xmlns:a16="http://schemas.microsoft.com/office/drawing/2014/main" id="{36272CB6-52A3-2AD4-E10A-B15939BEC421}"/>
              </a:ext>
            </a:extLst>
          </p:cNvPr>
          <p:cNvSpPr>
            <a:spLocks noGrp="1"/>
          </p:cNvSpPr>
          <p:nvPr/>
        </p:nvSpPr>
        <p:spPr>
          <a:xfrm>
            <a:off x="1" y="5468341"/>
            <a:ext cx="12191999" cy="369332"/>
          </a:xfrm>
          <a:prstGeom prst="rect">
            <a:avLst/>
          </a:prstGeom>
          <a:noFill/>
          <a:ln>
            <a:noFill/>
          </a:ln>
        </p:spPr>
        <p:txBody>
          <a:bodyPr spcFirstLastPara="1" wrap="square" lIns="91425" tIns="45700" rIns="91425" bIns="45700" anchor="t">
            <a:spAutoFit/>
          </a:bodyPr>
          <a:lstStyle/>
          <a:p>
            <a:pPr marL="0" marR="0" lvl="0" indent="0" algn="ctr">
              <a:spcBef>
                <a:spcPts val="0"/>
              </a:spcBef>
              <a:spcAft>
                <a:spcPts val="0"/>
              </a:spcAft>
              <a:buNone/>
            </a:pPr>
            <a:r>
              <a:rPr sz="1800">
                <a:solidFill>
                  <a:schemeClr val="lt1"/>
                </a:solidFill>
                <a:latin typeface="Inter Light"/>
                <a:ea typeface="Inter Light"/>
                <a:cs typeface="Inter Light"/>
              </a:rPr>
              <a:t>app.gradias.ai | gradias.ai</a:t>
            </a:r>
          </a:p>
        </p:txBody>
      </p:sp>
      <p:sp>
        <p:nvSpPr>
          <p:cNvPr id="6" name="Google Shape;601;p23">
            <a:extLst>
              <a:ext uri="{FF2B5EF4-FFF2-40B4-BE49-F238E27FC236}">
                <a16:creationId xmlns:a16="http://schemas.microsoft.com/office/drawing/2014/main" id="{317D7568-7BEB-3E6C-345E-26CD824CABAC}"/>
              </a:ext>
            </a:extLst>
          </p:cNvPr>
          <p:cNvSpPr>
            <a:spLocks noGrp="1"/>
          </p:cNvSpPr>
          <p:nvPr/>
        </p:nvSpPr>
        <p:spPr>
          <a:xfrm>
            <a:off x="4112895" y="4146923"/>
            <a:ext cx="3966210" cy="1200329"/>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7200" b="1">
                <a:solidFill>
                  <a:schemeClr val="lt1"/>
                </a:solidFill>
                <a:latin typeface="Poppins"/>
                <a:ea typeface="Poppins"/>
                <a:cs typeface="Poppins"/>
              </a:rPr>
              <a:t>gradias</a:t>
            </a:r>
          </a:p>
        </p:txBody>
      </p:sp>
      <p:pic>
        <p:nvPicPr>
          <p:cNvPr id="13" name="Google Shape;602;p23"/>
          <p:cNvPicPr>
            <a:picLocks noChangeAspect="1"/>
          </p:cNvPicPr>
          <p:nvPr/>
        </p:nvPicPr>
        <p:blipFill rotWithShape="1">
          <a:blip r:embed="rId3">
            <a:alphaModFix/>
          </a:blip>
          <a:srcRect/>
          <a:stretch/>
        </p:blipFill>
        <p:spPr>
          <a:xfrm>
            <a:off x="4003729" y="883404"/>
            <a:ext cx="4184542" cy="4184542"/>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277;p9">
            <a:extLst>
              <a:ext uri="{FF2B5EF4-FFF2-40B4-BE49-F238E27FC236}">
                <a16:creationId xmlns:a16="http://schemas.microsoft.com/office/drawing/2014/main" id="{42503814-A4B8-443E-8D24-AF5979063D62}"/>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a:solidFill>
                  <a:srgbClr val="009CD2"/>
                </a:solidFill>
                <a:latin typeface="Arial"/>
                <a:ea typeface="Arial"/>
                <a:cs typeface="Arial"/>
              </a:rPr>
              <a:t>Legal and regulatory requirements</a:t>
            </a:r>
            <a:endParaRPr>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E5873CC2-2996-1BF5-9EB9-FD6BD621AAAB}"/>
              </a:ext>
            </a:extLst>
          </p:cNvPr>
          <p:cNvSpPr>
            <a:spLocks noGrp="1"/>
          </p:cNvSpPr>
          <p:nvPr>
            <p:ph type="body" idx="2"/>
          </p:nvPr>
        </p:nvSpPr>
        <p:spPr>
          <a:xfrm>
            <a:off x="330232" y="626745"/>
            <a:ext cx="11655266" cy="495300"/>
          </a:xfrm>
        </p:spPr>
        <p:txBody>
          <a:bodyPr wrap="square" lIns="0" tIns="0" rIns="0" bIns="0" anchor="ctr">
            <a:noAutofit/>
          </a:bodyPr>
          <a:lstStyle/>
          <a:p>
            <a:pPr marL="0" indent="0" algn="l">
              <a:buNone/>
              <a:defRPr sz="2700" b="1">
                <a:solidFill>
                  <a:srgbClr val="121A2E"/>
                </a:solidFill>
                <a:latin typeface="Arial"/>
                <a:ea typeface="Arial"/>
                <a:cs typeface="Arial"/>
              </a:defRPr>
            </a:pPr>
            <a:r>
              <a:rPr sz="2700" b="1">
                <a:solidFill>
                  <a:srgbClr val="121A2E"/>
                </a:solidFill>
                <a:latin typeface="Arial"/>
                <a:ea typeface="Arial"/>
                <a:cs typeface="Arial"/>
              </a:rPr>
              <a:t>AI grading can be offered under country-specific rules</a:t>
            </a:r>
          </a:p>
        </p:txBody>
      </p:sp>
      <p:sp>
        <p:nvSpPr>
          <p:cNvPr id="279" name="Google Shape;279;p9">
            <a:extLst>
              <a:ext uri="{FF2B5EF4-FFF2-40B4-BE49-F238E27FC236}">
                <a16:creationId xmlns:a16="http://schemas.microsoft.com/office/drawing/2014/main" id="{08DC22B0-B55D-4D88-AFCE-7E844EEB7818}"/>
              </a:ext>
            </a:extLst>
          </p:cNvPr>
          <p:cNvSpPr>
            <a:spLocks noGrp="1"/>
          </p:cNvSpPr>
          <p:nvPr/>
        </p:nvSpPr>
        <p:spPr>
          <a:xfrm>
            <a:off x="330232"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Germany</a:t>
            </a:r>
            <a:endParaRPr sz="1400" b="0" i="0" u="none" cap="none">
              <a:solidFill>
                <a:srgbClr val="FFFFFF"/>
              </a:solidFill>
              <a:latin typeface="Arial"/>
              <a:ea typeface="Arial"/>
              <a:cs typeface="Arial"/>
            </a:endParaRPr>
          </a:p>
        </p:txBody>
      </p:sp>
      <p:sp>
        <p:nvSpPr>
          <p:cNvPr id="280" name="Google Shape;280;p9">
            <a:extLst>
              <a:ext uri="{FF2B5EF4-FFF2-40B4-BE49-F238E27FC236}">
                <a16:creationId xmlns:a16="http://schemas.microsoft.com/office/drawing/2014/main" id="{59222012-9FB4-4234-AECC-6780B8101733}"/>
              </a:ext>
            </a:extLst>
          </p:cNvPr>
          <p:cNvSpPr>
            <a:spLocks noGrp="1"/>
          </p:cNvSpPr>
          <p:nvPr/>
        </p:nvSpPr>
        <p:spPr>
          <a:xfrm>
            <a:off x="330232"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GDPR + BDSG: </a:t>
            </a:r>
            <a:r>
              <a:rPr sz="1425" b="0">
                <a:solidFill>
                  <a:srgbClr val="121A2E"/>
                </a:solidFill>
                <a:latin typeface="Arial"/>
                <a:ea typeface="Arial"/>
                <a:cs typeface="Arial"/>
              </a:rPr>
              <a:t>Lawful basis, DPAs, security and rights. DPIA and DPO where required.</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EU AI Act: </a:t>
            </a:r>
            <a:r>
              <a:rPr sz="1425" b="0">
                <a:solidFill>
                  <a:srgbClr val="121A2E"/>
                </a:solidFill>
                <a:latin typeface="Arial"/>
                <a:ea typeface="Arial"/>
                <a:cs typeface="Arial"/>
              </a:rPr>
              <a:t>Classification, testing, oversight, records and applicable conformity duties.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Examination law (GG, VwVfG): </a:t>
            </a:r>
            <a:r>
              <a:rPr sz="1425" b="0">
                <a:solidFill>
                  <a:srgbClr val="121A2E"/>
                </a:solidFill>
                <a:latin typeface="Arial"/>
                <a:ea typeface="Arial"/>
                <a:cs typeface="Arial"/>
              </a:rPr>
              <a:t>Preserve examiner judgment, equal treatment and reasoned review.</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Land school and data rules: </a:t>
            </a:r>
            <a:r>
              <a:rPr sz="1425" b="0">
                <a:solidFill>
                  <a:srgbClr val="121A2E"/>
                </a:solidFill>
                <a:latin typeface="Arial"/>
                <a:ea typeface="Arial"/>
                <a:cs typeface="Arial"/>
              </a:rPr>
              <a:t>Authorised uses, devices and retention in NRW, BY, NI, HE and BW.</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BeamtStG + StGB: </a:t>
            </a:r>
            <a:r>
              <a:rPr sz="1425" b="0">
                <a:solidFill>
                  <a:srgbClr val="121A2E"/>
                </a:solidFill>
                <a:latin typeface="Arial"/>
                <a:ea typeface="Arial"/>
                <a:cs typeface="Arial"/>
              </a:rPr>
              <a:t>Protect confidential scripts and authorise external disclosure.</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LPVG NRW + BetrVG: </a:t>
            </a:r>
            <a:r>
              <a:rPr sz="1425" b="0">
                <a:solidFill>
                  <a:srgbClr val="121A2E"/>
                </a:solidFill>
                <a:latin typeface="Arial"/>
                <a:ea typeface="Arial"/>
                <a:cs typeface="Arial"/>
              </a:rPr>
              <a:t>Complete required staff participation for monitoring functions.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UrhG: </a:t>
            </a:r>
            <a:r>
              <a:rPr sz="1425" b="0">
                <a:solidFill>
                  <a:srgbClr val="121A2E"/>
                </a:solidFill>
                <a:latin typeface="Arial"/>
                <a:ea typeface="Arial"/>
                <a:cs typeface="Arial"/>
              </a:rPr>
              <a:t>Secure rights to scripts and tasks. Assess model-training rights separately.</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TDDDG: </a:t>
            </a:r>
            <a:r>
              <a:rPr sz="1425" b="0">
                <a:solidFill>
                  <a:srgbClr val="121A2E"/>
                </a:solidFill>
                <a:latin typeface="Arial"/>
                <a:ea typeface="Arial"/>
                <a:cs typeface="Arial"/>
              </a:rPr>
              <a:t>Obtain device-access consent unless an exception applies.</a:t>
            </a:r>
          </a:p>
        </p:txBody>
      </p:sp>
      <p:sp>
        <p:nvSpPr>
          <p:cNvPr id="281" name="Google Shape;281;p9">
            <a:extLst>
              <a:ext uri="{FF2B5EF4-FFF2-40B4-BE49-F238E27FC236}">
                <a16:creationId xmlns:a16="http://schemas.microsoft.com/office/drawing/2014/main" id="{05E489CA-D589-4F06-B6CE-EA2E505D389D}"/>
              </a:ext>
            </a:extLst>
          </p:cNvPr>
          <p:cNvSpPr>
            <a:spLocks noGrp="1"/>
          </p:cNvSpPr>
          <p:nvPr/>
        </p:nvSpPr>
        <p:spPr>
          <a:xfrm>
            <a:off x="4109466"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States</a:t>
            </a:r>
            <a:endParaRPr sz="1400" b="0" i="0" u="none" cap="none">
              <a:solidFill>
                <a:srgbClr val="FFFFFF"/>
              </a:solidFill>
              <a:latin typeface="Arial"/>
              <a:ea typeface="Arial"/>
              <a:cs typeface="Arial"/>
            </a:endParaRPr>
          </a:p>
        </p:txBody>
      </p:sp>
      <p:sp>
        <p:nvSpPr>
          <p:cNvPr id="282" name="Google Shape;282;p9">
            <a:extLst>
              <a:ext uri="{FF2B5EF4-FFF2-40B4-BE49-F238E27FC236}">
                <a16:creationId xmlns:a16="http://schemas.microsoft.com/office/drawing/2014/main" id="{B7238CC7-5973-4107-A0F6-D21F3177A033}"/>
              </a:ext>
            </a:extLst>
          </p:cNvPr>
          <p:cNvSpPr>
            <a:spLocks noGrp="1"/>
          </p:cNvSpPr>
          <p:nvPr/>
        </p:nvSpPr>
        <p:spPr>
          <a:xfrm>
            <a:off x="7888796" y="1238250"/>
            <a:ext cx="3690652" cy="4191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75" b="1">
                <a:solidFill>
                  <a:srgbClr val="FFFFFF"/>
                </a:solidFill>
                <a:latin typeface="Arial"/>
                <a:ea typeface="Arial"/>
                <a:cs typeface="Arial"/>
              </a:defRPr>
            </a:pPr>
            <a:r>
              <a:rPr sz="1875" b="1" i="0" u="none" cap="none">
                <a:solidFill>
                  <a:srgbClr val="FFFFFF"/>
                </a:solidFill>
                <a:latin typeface="Arial"/>
                <a:ea typeface="Arial"/>
                <a:cs typeface="Arial"/>
              </a:rPr>
              <a:t>United Kingdom</a:t>
            </a:r>
            <a:endParaRPr sz="1400" b="0" i="0" u="none" cap="none">
              <a:solidFill>
                <a:srgbClr val="FFFFFF"/>
              </a:solidFill>
              <a:latin typeface="Arial"/>
              <a:ea typeface="Arial"/>
              <a:cs typeface="Arial"/>
            </a:endParaRPr>
          </a:p>
        </p:txBody>
      </p:sp>
      <p:sp>
        <p:nvSpPr>
          <p:cNvPr id="283" name="Google Shape;283;p9">
            <a:extLst>
              <a:ext uri="{FF2B5EF4-FFF2-40B4-BE49-F238E27FC236}">
                <a16:creationId xmlns:a16="http://schemas.microsoft.com/office/drawing/2014/main" id="{033FC2E4-5152-4F31-8D2A-55ABD1D81FA3}"/>
              </a:ext>
            </a:extLst>
          </p:cNvPr>
          <p:cNvSpPr>
            <a:spLocks noGrp="1"/>
          </p:cNvSpPr>
          <p:nvPr/>
        </p:nvSpPr>
        <p:spPr>
          <a:xfrm>
            <a:off x="4109466"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FERPA: </a:t>
            </a:r>
            <a:r>
              <a:rPr sz="1425" b="0">
                <a:solidFill>
                  <a:srgbClr val="121A2E"/>
                </a:solidFill>
                <a:latin typeface="Arial"/>
                <a:ea typeface="Arial"/>
                <a:cs typeface="Arial"/>
              </a:rPr>
              <a:t>Lawful disclosure, school control, purpose limits and student rights.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State student-data laws: </a:t>
            </a:r>
            <a:r>
              <a:rPr sz="1425" b="0">
                <a:solidFill>
                  <a:srgbClr val="121A2E"/>
                </a:solidFill>
                <a:latin typeface="Arial"/>
                <a:ea typeface="Arial"/>
                <a:cs typeface="Arial"/>
              </a:rPr>
              <a:t>Contracts, security, deletion and use limits.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CCPA + privacy/biometric laws: </a:t>
            </a:r>
            <a:r>
              <a:rPr sz="1425" b="0">
                <a:solidFill>
                  <a:srgbClr val="121A2E"/>
                </a:solidFill>
                <a:latin typeface="Arial"/>
                <a:ea typeface="Arial"/>
                <a:cs typeface="Arial"/>
              </a:rPr>
              <a:t>Triggered rights, consent and profiling safeguards.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AI / ADMT rules: </a:t>
            </a:r>
            <a:r>
              <a:rPr sz="1425" b="0">
                <a:solidFill>
                  <a:srgbClr val="121A2E"/>
                </a:solidFill>
                <a:latin typeface="Arial"/>
                <a:ea typeface="Arial"/>
                <a:cs typeface="Arial"/>
              </a:rPr>
              <a:t>OK bars primary AI grading. CO/CA duties from 2027.</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COPPA + PPRA: </a:t>
            </a:r>
            <a:r>
              <a:rPr sz="1425" b="0">
                <a:solidFill>
                  <a:srgbClr val="121A2E"/>
                </a:solidFill>
                <a:latin typeface="Arial"/>
                <a:ea typeface="Arial"/>
                <a:cs typeface="Arial"/>
              </a:rPr>
              <a:t>Triggered consent, notices and opt-outs for child collection or surveys.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Title VI/IX, ADA, IDEA, §§504/508: </a:t>
            </a:r>
            <a:r>
              <a:rPr sz="1425" b="0">
                <a:solidFill>
                  <a:srgbClr val="121A2E"/>
                </a:solidFill>
                <a:latin typeface="Arial"/>
                <a:ea typeface="Arial"/>
                <a:cs typeface="Arial"/>
              </a:rPr>
              <a:t>Fair assessment, accessibility and accommodations.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34 CFR 600.2: </a:t>
            </a:r>
            <a:r>
              <a:rPr sz="1425" b="0">
                <a:solidFill>
                  <a:srgbClr val="121A2E"/>
                </a:solidFill>
                <a:latin typeface="Arial"/>
                <a:ea typeface="Arial"/>
                <a:cs typeface="Arial"/>
              </a:rPr>
              <a:t>Instructor interaction in covered distance education.</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FTC Act + copyright + contracts: </a:t>
            </a:r>
            <a:r>
              <a:rPr sz="1425" b="0">
                <a:solidFill>
                  <a:srgbClr val="121A2E"/>
                </a:solidFill>
                <a:latin typeface="Arial"/>
                <a:ea typeface="Arial"/>
                <a:cs typeface="Arial"/>
              </a:rPr>
              <a:t>Evidence claims, secure rights and honour terms.</a:t>
            </a:r>
          </a:p>
        </p:txBody>
      </p:sp>
      <p:sp>
        <p:nvSpPr>
          <p:cNvPr id="284" name="Google Shape;284;p9">
            <a:extLst>
              <a:ext uri="{FF2B5EF4-FFF2-40B4-BE49-F238E27FC236}">
                <a16:creationId xmlns:a16="http://schemas.microsoft.com/office/drawing/2014/main" id="{70F4B0DD-CC06-445A-81AB-962000F8FF76}"/>
              </a:ext>
            </a:extLst>
          </p:cNvPr>
          <p:cNvSpPr>
            <a:spLocks noGrp="1"/>
          </p:cNvSpPr>
          <p:nvPr/>
        </p:nvSpPr>
        <p:spPr>
          <a:xfrm>
            <a:off x="7888796" y="1657350"/>
            <a:ext cx="3690557" cy="4638675"/>
          </a:xfrm>
          <a:prstGeom prst="rect">
            <a:avLst/>
          </a:prstGeom>
          <a:noFill/>
          <a:ln w="9525" cmpd="sng">
            <a:solidFill>
              <a:srgbClr val="1C3052"/>
            </a:solidFill>
            <a:prstDash val="solid"/>
            <a:headEnd type="none" w="sm" len="sm"/>
            <a:tailEnd type="none" w="sm" len="sm"/>
          </a:ln>
        </p:spPr>
        <p:txBody>
          <a:bodyPr spcFirstLastPara="1" wrap="square" lIns="133350" tIns="104775" rIns="133350" bIns="85725" anchor="t">
            <a:noAutofit/>
          </a:bodyPr>
          <a:lstStyle/>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UK GDPR + DPA 2018: </a:t>
            </a:r>
            <a:r>
              <a:rPr sz="1425" b="0">
                <a:solidFill>
                  <a:srgbClr val="121A2E"/>
                </a:solidFill>
                <a:latin typeface="Arial"/>
                <a:ea typeface="Arial"/>
                <a:cs typeface="Arial"/>
              </a:rPr>
              <a:t>Lawful basis, DPAs, security, rights and required risk/decision safeguards.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Ofqual + awarding rules: </a:t>
            </a:r>
            <a:r>
              <a:rPr sz="1425" b="0">
                <a:solidFill>
                  <a:srgbClr val="121A2E"/>
                </a:solidFill>
                <a:latin typeface="Arial"/>
                <a:ea typeface="Arial"/>
                <a:cs typeface="Arial"/>
              </a:rPr>
              <a:t>No sole AI marking of regulated exams in England.</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Devolved qualification rules + OfS B4: </a:t>
            </a:r>
            <a:r>
              <a:rPr sz="1425" b="0">
                <a:solidFill>
                  <a:srgbClr val="121A2E"/>
                </a:solidFill>
                <a:latin typeface="Arial"/>
                <a:ea typeface="Arial"/>
                <a:cs typeface="Arial"/>
              </a:rPr>
              <a:t>Valid marking, moderation and appeals.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Equality Act + NI laws: </a:t>
            </a:r>
            <a:r>
              <a:rPr sz="1425" b="0">
                <a:solidFill>
                  <a:srgbClr val="121A2E"/>
                </a:solidFill>
                <a:latin typeface="Arial"/>
                <a:ea typeface="Arial"/>
                <a:cs typeface="Arial"/>
              </a:rPr>
              <a:t>No discrimination. Apply required adjustments.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Children’s code: </a:t>
            </a:r>
            <a:r>
              <a:rPr sz="1425" b="0">
                <a:solidFill>
                  <a:srgbClr val="121A2E"/>
                </a:solidFill>
                <a:latin typeface="Arial"/>
                <a:ea typeface="Arial"/>
                <a:cs typeface="Arial"/>
              </a:rPr>
              <a:t>High privacy where under-18s are likely users.</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Copyright Act: </a:t>
            </a:r>
            <a:r>
              <a:rPr sz="1425" b="0">
                <a:solidFill>
                  <a:srgbClr val="121A2E"/>
                </a:solidFill>
                <a:latin typeface="Arial"/>
                <a:ea typeface="Arial"/>
                <a:cs typeface="Arial"/>
              </a:rPr>
              <a:t>Rights for scripts, tasks and any training use.</a:t>
            </a:r>
          </a:p>
          <a:p>
            <a:pPr marL="0" indent="0" algn="l">
              <a:lnSpc>
                <a:spcPct val="98000"/>
              </a:lnSpc>
              <a:spcAft>
                <a:spcPts val="120"/>
              </a:spcAft>
              <a:buNone/>
              <a:defRPr sz="1425" b="0">
                <a:solidFill>
                  <a:srgbClr val="121A2E"/>
                </a:solidFill>
                <a:latin typeface="Arial"/>
                <a:ea typeface="Arial"/>
                <a:cs typeface="Arial"/>
              </a:defRPr>
            </a:pPr>
            <a:r>
              <a:rPr sz="1425" b="1">
                <a:solidFill>
                  <a:srgbClr val="121A2E"/>
                </a:solidFill>
                <a:latin typeface="Arial"/>
                <a:ea typeface="Arial"/>
                <a:cs typeface="Arial"/>
              </a:rPr>
              <a:t>Procurement Act + Scottish rules: </a:t>
            </a:r>
            <a:r>
              <a:rPr sz="1425" b="0">
                <a:solidFill>
                  <a:srgbClr val="121A2E"/>
                </a:solidFill>
                <a:latin typeface="Arial"/>
                <a:ea typeface="Arial"/>
                <a:cs typeface="Arial"/>
              </a:rPr>
              <a:t>Lawful buying and contract terms.</a:t>
            </a:r>
          </a:p>
          <a:p>
            <a:pPr marL="0" indent="0" algn="l">
              <a:lnSpc>
                <a:spcPct val="98000"/>
              </a:lnSpc>
              <a:spcAft>
                <a:spcPts val="0"/>
              </a:spcAft>
              <a:buNone/>
              <a:defRPr sz="1425" b="0">
                <a:solidFill>
                  <a:srgbClr val="121A2E"/>
                </a:solidFill>
                <a:latin typeface="Arial"/>
                <a:ea typeface="Arial"/>
                <a:cs typeface="Arial"/>
              </a:defRPr>
            </a:pPr>
            <a:r>
              <a:rPr sz="1425" b="1">
                <a:solidFill>
                  <a:srgbClr val="121A2E"/>
                </a:solidFill>
                <a:latin typeface="Arial"/>
                <a:ea typeface="Arial"/>
                <a:cs typeface="Arial"/>
              </a:rPr>
              <a:t>PECR + DfE contract standards: </a:t>
            </a:r>
            <a:r>
              <a:rPr sz="1425" b="0">
                <a:solidFill>
                  <a:srgbClr val="121A2E"/>
                </a:solidFill>
                <a:latin typeface="Arial"/>
                <a:ea typeface="Arial"/>
                <a:cs typeface="Arial"/>
              </a:rPr>
              <a:t>Device consent where required and agreed safety controls.</a:t>
            </a:r>
          </a:p>
        </p:txBody>
      </p:sp>
      <p:sp>
        <p:nvSpPr>
          <p:cNvPr id="285" name="Country requirements scope">
            <a:extLst>
              <a:ext uri="{FF2B5EF4-FFF2-40B4-BE49-F238E27FC236}">
                <a16:creationId xmlns:a16="http://schemas.microsoft.com/office/drawing/2014/main" id="{799B15D9-36D3-4AD6-A938-4626A15BBFBF}"/>
              </a:ext>
            </a:extLst>
          </p:cNvPr>
          <p:cNvSpPr>
            <a:spLocks noGrp="1"/>
          </p:cNvSpPr>
          <p:nvPr/>
        </p:nvSpPr>
        <p:spPr>
          <a:xfrm>
            <a:off x="330232" y="6372225"/>
            <a:ext cx="10191750" cy="228600"/>
          </a:xfrm>
          <a:prstGeom prst="rect">
            <a:avLst/>
          </a:prstGeom>
          <a:noFill/>
          <a:ln w="0">
            <a:noFill/>
          </a:ln>
        </p:spPr>
        <p:txBody>
          <a:bodyPr wrap="square" lIns="0" tIns="0" rIns="0" bIns="0" anchor="ctr">
            <a:noAutofit/>
          </a:bodyPr>
          <a:lstStyle/>
          <a:p>
            <a:pPr algn="l">
              <a:defRPr sz="975" b="0">
                <a:solidFill>
                  <a:srgbClr val="404754"/>
                </a:solidFill>
                <a:latin typeface="Arial"/>
                <a:ea typeface="Arial"/>
                <a:cs typeface="Arial"/>
              </a:defRPr>
            </a:pPr>
            <a:r>
              <a:rPr sz="975" b="0">
                <a:solidFill>
                  <a:srgbClr val="404754"/>
                </a:solidFill>
                <a:latin typeface="Arial"/>
                <a:ea typeface="Arial"/>
                <a:cs typeface="Arial"/>
              </a:rPr>
              <a:t>Each rule applies within its scope. Regional statutes, exceptions and dates appear in the notes. 12 September 2026.</a:t>
            </a:r>
          </a:p>
        </p:txBody>
      </p:sp>
    </p:spTree>
    <p:extLst>
      <p:ext uri="{BB962C8B-B14F-4D97-AF65-F5344CB8AC3E}">
        <p14:creationId xmlns:p14="http://schemas.microsoft.com/office/powerpoint/2010/main" val="315698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277;p9">
            <a:extLst>
              <a:ext uri="{FF2B5EF4-FFF2-40B4-BE49-F238E27FC236}">
                <a16:creationId xmlns:a16="http://schemas.microsoft.com/office/drawing/2014/main" id="{851C3D03-C3AE-1FA7-6DBC-717D8B679EDD}"/>
              </a:ext>
            </a:extLst>
          </p:cNvPr>
          <p:cNvSpPr>
            <a:spLocks noGrp="1"/>
          </p:cNvSpPr>
          <p:nvPr>
            <p:ph type="body" idx="1"/>
          </p:nvPr>
        </p:nvSpPr>
        <p:spPr>
          <a:xfrm>
            <a:off x="330200" y="272288"/>
            <a:ext cx="11655298" cy="296037"/>
          </a:xfrm>
          <a:prstGeom prst="rect">
            <a:avLst/>
          </a:prstGeom>
          <a:noFill/>
          <a:ln>
            <a:noFill/>
          </a:ln>
        </p:spPr>
        <p:txBody>
          <a:bodyPr spcFirstLastPara="1" wrap="square" lIns="19050" tIns="0" rIns="19050" bIns="0" anchor="ctr">
            <a:noAutofit/>
          </a:bodyPr>
          <a:lstStyle/>
          <a:p>
            <a:pPr marL="90487" marR="0" lvl="0" indent="-90487" algn="l">
              <a:lnSpc>
                <a:spcPct val="100000"/>
              </a:lnSpc>
              <a:spcBef>
                <a:spcPts val="0"/>
              </a:spcBef>
              <a:spcAft>
                <a:spcPts val="0"/>
              </a:spcAft>
              <a:buSzPts val="1400"/>
              <a:buNone/>
              <a:defRPr sz="1275" b="1">
                <a:solidFill>
                  <a:srgbClr val="009CD2"/>
                </a:solidFill>
                <a:latin typeface="Arial"/>
                <a:ea typeface="Arial"/>
                <a:cs typeface="Arial"/>
              </a:defRPr>
            </a:pPr>
            <a:r>
              <a:rPr sz="1275" b="1" dirty="0">
                <a:solidFill>
                  <a:srgbClr val="009CD2"/>
                </a:solidFill>
                <a:latin typeface="Arial"/>
                <a:ea typeface="Arial"/>
                <a:cs typeface="Arial"/>
              </a:rPr>
              <a:t>Legal and regulatory requirements</a:t>
            </a:r>
            <a:endParaRPr dirty="0">
              <a:solidFill>
                <a:srgbClr val="1190CB"/>
              </a:solidFill>
              <a:latin typeface="Montserrat SemiBold"/>
              <a:ea typeface="Montserrat SemiBold"/>
              <a:cs typeface="Montserrat SemiBold"/>
            </a:endParaRPr>
          </a:p>
        </p:txBody>
      </p:sp>
      <p:sp>
        <p:nvSpPr>
          <p:cNvPr id="5" name="Text Placeholder 4">
            <a:extLst>
              <a:ext uri="{FF2B5EF4-FFF2-40B4-BE49-F238E27FC236}">
                <a16:creationId xmlns:a16="http://schemas.microsoft.com/office/drawing/2014/main" id="{B888E9F9-5B11-BF7C-47F8-B0F8A681D394}"/>
              </a:ext>
            </a:extLst>
          </p:cNvPr>
          <p:cNvSpPr>
            <a:spLocks noGrp="1"/>
          </p:cNvSpPr>
          <p:nvPr>
            <p:ph type="body" idx="2"/>
          </p:nvPr>
        </p:nvSpPr>
        <p:spPr>
          <a:xfrm>
            <a:off x="330232" y="626745"/>
            <a:ext cx="11655266" cy="685800"/>
          </a:xfrm>
        </p:spPr>
        <p:txBody>
          <a:bodyPr wrap="square" lIns="0" tIns="0" rIns="0" bIns="0" anchor="ctr">
            <a:noAutofit/>
          </a:bodyPr>
          <a:lstStyle/>
          <a:p>
            <a:pPr marL="0" indent="0" algn="l">
              <a:buNone/>
              <a:defRPr sz="2700" b="1">
                <a:solidFill>
                  <a:srgbClr val="121A2E"/>
                </a:solidFill>
                <a:latin typeface="Arial"/>
                <a:ea typeface="Arial"/>
                <a:cs typeface="Arial"/>
              </a:defRPr>
            </a:pPr>
            <a:r>
              <a:rPr sz="2700" b="1" dirty="0">
                <a:solidFill>
                  <a:srgbClr val="121A2E"/>
                </a:solidFill>
                <a:latin typeface="Arial"/>
                <a:ea typeface="Arial"/>
                <a:cs typeface="Arial"/>
              </a:rPr>
              <a:t>Key controls and how GRADIAS can comply</a:t>
            </a:r>
          </a:p>
        </p:txBody>
      </p:sp>
      <p:sp>
        <p:nvSpPr>
          <p:cNvPr id="281" name="Google Shape;281;p9">
            <a:extLst>
              <a:ext uri="{FF2B5EF4-FFF2-40B4-BE49-F238E27FC236}">
                <a16:creationId xmlns:a16="http://schemas.microsoft.com/office/drawing/2014/main" id="{EE969B1F-1F14-B778-547F-F17B84A3158F}"/>
              </a:ext>
            </a:extLst>
          </p:cNvPr>
          <p:cNvSpPr>
            <a:spLocks noGrp="1"/>
          </p:cNvSpPr>
          <p:nvPr/>
        </p:nvSpPr>
        <p:spPr>
          <a:xfrm>
            <a:off x="3384137" y="1371600"/>
            <a:ext cx="1714500" cy="3937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Source</a:t>
            </a:r>
            <a:endParaRPr sz="1400" b="0" i="0" u="none" cap="none">
              <a:solidFill>
                <a:schemeClr val="bg1"/>
              </a:solidFill>
              <a:latin typeface="Arial"/>
              <a:ea typeface="Arial"/>
              <a:cs typeface="Arial"/>
            </a:endParaRPr>
          </a:p>
        </p:txBody>
      </p:sp>
      <p:sp>
        <p:nvSpPr>
          <p:cNvPr id="2" name="Google Shape;281;p9">
            <a:extLst>
              <a:ext uri="{FF2B5EF4-FFF2-40B4-BE49-F238E27FC236}">
                <a16:creationId xmlns:a16="http://schemas.microsoft.com/office/drawing/2014/main" id="{D4DAF4FA-0B7D-1FFC-05D4-5E8BF1AA0A88}"/>
              </a:ext>
            </a:extLst>
          </p:cNvPr>
          <p:cNvSpPr>
            <a:spLocks noGrp="1"/>
          </p:cNvSpPr>
          <p:nvPr/>
        </p:nvSpPr>
        <p:spPr>
          <a:xfrm>
            <a:off x="5193887" y="1371600"/>
            <a:ext cx="6381750" cy="3937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dirty="0">
                <a:solidFill>
                  <a:srgbClr val="FFFFFF"/>
                </a:solidFill>
                <a:latin typeface="Arial"/>
                <a:ea typeface="Arial"/>
                <a:cs typeface="Arial"/>
              </a:rPr>
              <a:t>How GRADIAS </a:t>
            </a:r>
            <a:r>
              <a:rPr lang="en-GB" sz="1800" b="1" i="0" u="none" cap="none" dirty="0">
                <a:solidFill>
                  <a:srgbClr val="FFFFFF"/>
                </a:solidFill>
                <a:latin typeface="Arial"/>
                <a:ea typeface="Arial"/>
                <a:cs typeface="Arial"/>
              </a:rPr>
              <a:t>will</a:t>
            </a:r>
            <a:r>
              <a:rPr sz="1800" b="1" i="0" u="none" cap="none" dirty="0">
                <a:solidFill>
                  <a:srgbClr val="FFFFFF"/>
                </a:solidFill>
                <a:latin typeface="Arial"/>
                <a:ea typeface="Arial"/>
                <a:cs typeface="Arial"/>
              </a:rPr>
              <a:t> comply</a:t>
            </a:r>
            <a:endParaRPr sz="1400" b="0" i="0" u="none" cap="none" dirty="0">
              <a:solidFill>
                <a:schemeClr val="bg1"/>
              </a:solidFill>
              <a:latin typeface="Arial"/>
              <a:ea typeface="Arial"/>
              <a:cs typeface="Arial"/>
            </a:endParaRPr>
          </a:p>
        </p:txBody>
      </p:sp>
      <p:sp>
        <p:nvSpPr>
          <p:cNvPr id="3" name="Google Shape;281;p9">
            <a:extLst>
              <a:ext uri="{FF2B5EF4-FFF2-40B4-BE49-F238E27FC236}">
                <a16:creationId xmlns:a16="http://schemas.microsoft.com/office/drawing/2014/main" id="{8AB53871-DAF0-4D8E-3AD8-28370930FABF}"/>
              </a:ext>
            </a:extLst>
          </p:cNvPr>
          <p:cNvSpPr>
            <a:spLocks noGrp="1"/>
          </p:cNvSpPr>
          <p:nvPr/>
        </p:nvSpPr>
        <p:spPr>
          <a:xfrm>
            <a:off x="621887" y="1371600"/>
            <a:ext cx="2667000" cy="393700"/>
          </a:xfrm>
          <a:prstGeom prst="rect">
            <a:avLst/>
          </a:prstGeom>
          <a:solidFill>
            <a:srgbClr val="0E6C9E"/>
          </a:solidFill>
          <a:ln>
            <a:noFill/>
          </a:ln>
        </p:spPr>
        <p:txBody>
          <a:bodyPr spcFirstLastPara="1" wrap="square" lIns="95250" tIns="38100" rIns="95250" bIns="38100" anchor="ctr">
            <a:noAutofit/>
          </a:bodyPr>
          <a:lstStyle/>
          <a:p>
            <a:pPr marL="0" marR="0" lvl="0" indent="0" algn="ctr">
              <a:lnSpc>
                <a:spcPct val="100000"/>
              </a:lnSpc>
              <a:spcBef>
                <a:spcPts val="0"/>
              </a:spcBef>
              <a:spcAft>
                <a:spcPts val="0"/>
              </a:spcAft>
              <a:buClr>
                <a:srgbClr val="000000"/>
              </a:buClr>
              <a:buSzPts val="1600"/>
              <a:buFont typeface="Arial"/>
              <a:buNone/>
              <a:defRPr sz="1800" b="1">
                <a:solidFill>
                  <a:srgbClr val="FFFFFF"/>
                </a:solidFill>
                <a:latin typeface="Arial"/>
                <a:ea typeface="Arial"/>
                <a:cs typeface="Arial"/>
              </a:defRPr>
            </a:pPr>
            <a:r>
              <a:rPr sz="1800" b="1" i="0" u="none" cap="none">
                <a:solidFill>
                  <a:srgbClr val="FFFFFF"/>
                </a:solidFill>
                <a:latin typeface="Arial"/>
                <a:ea typeface="Arial"/>
                <a:cs typeface="Arial"/>
              </a:rPr>
              <a:t>Control</a:t>
            </a:r>
            <a:endParaRPr sz="1400" b="0" i="0" u="none" cap="none">
              <a:solidFill>
                <a:schemeClr val="bg1"/>
              </a:solidFill>
              <a:latin typeface="Arial"/>
              <a:ea typeface="Arial"/>
              <a:cs typeface="Arial"/>
            </a:endParaRPr>
          </a:p>
        </p:txBody>
      </p:sp>
      <p:sp>
        <p:nvSpPr>
          <p:cNvPr id="4" name="Google Shape;281;p9">
            <a:extLst>
              <a:ext uri="{FF2B5EF4-FFF2-40B4-BE49-F238E27FC236}">
                <a16:creationId xmlns:a16="http://schemas.microsoft.com/office/drawing/2014/main" id="{54027D23-A28C-777D-327D-0D4FCBABD961}"/>
              </a:ext>
            </a:extLst>
          </p:cNvPr>
          <p:cNvSpPr>
            <a:spLocks noGrp="1"/>
          </p:cNvSpPr>
          <p:nvPr/>
        </p:nvSpPr>
        <p:spPr>
          <a:xfrm>
            <a:off x="3384137" y="1765300"/>
            <a:ext cx="1714500" cy="914400"/>
          </a:xfrm>
          <a:prstGeom prst="rect">
            <a:avLst/>
          </a:prstGeom>
          <a:solidFill>
            <a:srgbClr val="ED7D3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Education and privacy law</a:t>
            </a:r>
            <a:endParaRPr sz="1400" b="0" i="0" u="none" cap="none">
              <a:solidFill>
                <a:srgbClr val="000000"/>
              </a:solidFill>
              <a:latin typeface="Arial"/>
              <a:ea typeface="Arial"/>
              <a:cs typeface="Arial"/>
            </a:endParaRPr>
          </a:p>
        </p:txBody>
      </p:sp>
      <p:sp>
        <p:nvSpPr>
          <p:cNvPr id="6" name="Google Shape;281;p9">
            <a:extLst>
              <a:ext uri="{FF2B5EF4-FFF2-40B4-BE49-F238E27FC236}">
                <a16:creationId xmlns:a16="http://schemas.microsoft.com/office/drawing/2014/main" id="{C130A00B-F090-BFB1-DA0E-B316032E039A}"/>
              </a:ext>
            </a:extLst>
          </p:cNvPr>
          <p:cNvSpPr>
            <a:spLocks noGrp="1"/>
          </p:cNvSpPr>
          <p:nvPr/>
        </p:nvSpPr>
        <p:spPr>
          <a:xfrm>
            <a:off x="5193887" y="1765300"/>
            <a:ext cx="6381750" cy="914400"/>
          </a:xfrm>
          <a:prstGeom prst="rect">
            <a:avLst/>
          </a:prstGeom>
          <a:solidFill>
            <a:srgbClr val="ED7D3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Combine authority outreach with documented institution approval, a lawful basis, required consent and local assessment permissions.</a:t>
            </a:r>
            <a:endParaRPr sz="1400" b="0" i="0" u="none" cap="none">
              <a:solidFill>
                <a:srgbClr val="000000"/>
              </a:solidFill>
              <a:latin typeface="Arial"/>
              <a:ea typeface="Arial"/>
              <a:cs typeface="Arial"/>
            </a:endParaRPr>
          </a:p>
        </p:txBody>
      </p:sp>
      <p:sp>
        <p:nvSpPr>
          <p:cNvPr id="7" name="Google Shape;281;p9">
            <a:extLst>
              <a:ext uri="{FF2B5EF4-FFF2-40B4-BE49-F238E27FC236}">
                <a16:creationId xmlns:a16="http://schemas.microsoft.com/office/drawing/2014/main" id="{A198CAA6-B945-DCB5-B7E6-4D59C296D813}"/>
              </a:ext>
            </a:extLst>
          </p:cNvPr>
          <p:cNvSpPr>
            <a:spLocks noGrp="1"/>
          </p:cNvSpPr>
          <p:nvPr/>
        </p:nvSpPr>
        <p:spPr>
          <a:xfrm>
            <a:off x="621887" y="1765300"/>
            <a:ext cx="2667000" cy="914400"/>
          </a:xfrm>
          <a:prstGeom prst="rect">
            <a:avLst/>
          </a:prstGeom>
          <a:solidFill>
            <a:srgbClr val="ED7D3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dirty="0">
                <a:solidFill>
                  <a:srgbClr val="121A2E"/>
                </a:solidFill>
                <a:latin typeface="Arial"/>
                <a:ea typeface="Arial"/>
                <a:cs typeface="Arial"/>
              </a:rPr>
              <a:t>School authorization</a:t>
            </a:r>
            <a:r>
              <a:rPr lang="en-GB" sz="1425" b="1" dirty="0">
                <a:solidFill>
                  <a:srgbClr val="121A2E"/>
                </a:solidFill>
                <a:latin typeface="Arial"/>
                <a:ea typeface="Arial"/>
                <a:cs typeface="Arial"/>
              </a:rPr>
              <a:t> of the teacher</a:t>
            </a:r>
            <a:endParaRPr sz="1400" b="1" i="0" u="none" cap="none" dirty="0">
              <a:solidFill>
                <a:srgbClr val="000000"/>
              </a:solidFill>
              <a:latin typeface="Arial"/>
              <a:ea typeface="Arial"/>
              <a:cs typeface="Arial"/>
            </a:endParaRPr>
          </a:p>
        </p:txBody>
      </p:sp>
      <p:sp>
        <p:nvSpPr>
          <p:cNvPr id="8" name="Google Shape;281;p9">
            <a:extLst>
              <a:ext uri="{FF2B5EF4-FFF2-40B4-BE49-F238E27FC236}">
                <a16:creationId xmlns:a16="http://schemas.microsoft.com/office/drawing/2014/main" id="{DE9CFA92-38F8-A7A8-E556-720E599F0CEE}"/>
              </a:ext>
            </a:extLst>
          </p:cNvPr>
          <p:cNvSpPr>
            <a:spLocks noGrp="1"/>
          </p:cNvSpPr>
          <p:nvPr/>
        </p:nvSpPr>
        <p:spPr>
          <a:xfrm>
            <a:off x="3384137" y="2679700"/>
            <a:ext cx="17145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GDPR and AI Act</a:t>
            </a:r>
            <a:endParaRPr sz="1400" b="0" i="0" u="none" cap="none">
              <a:solidFill>
                <a:srgbClr val="000000"/>
              </a:solidFill>
              <a:latin typeface="Arial"/>
              <a:ea typeface="Arial"/>
              <a:cs typeface="Arial"/>
            </a:endParaRPr>
          </a:p>
        </p:txBody>
      </p:sp>
      <p:sp>
        <p:nvSpPr>
          <p:cNvPr id="9" name="Google Shape;281;p9">
            <a:extLst>
              <a:ext uri="{FF2B5EF4-FFF2-40B4-BE49-F238E27FC236}">
                <a16:creationId xmlns:a16="http://schemas.microsoft.com/office/drawing/2014/main" id="{D32FC5FE-C28B-5522-4073-0FA2B0994BFF}"/>
              </a:ext>
            </a:extLst>
          </p:cNvPr>
          <p:cNvSpPr>
            <a:spLocks noGrp="1"/>
          </p:cNvSpPr>
          <p:nvPr/>
        </p:nvSpPr>
        <p:spPr>
          <a:xfrm>
            <a:off x="5193887" y="2679700"/>
            <a:ext cx="638175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a:solidFill>
                  <a:srgbClr val="121A2E"/>
                </a:solidFill>
                <a:latin typeface="Arial"/>
                <a:ea typeface="Arial"/>
                <a:cs typeface="Arial"/>
              </a:rPr>
              <a:t>Assess product risks. Help each school complete its DPIA and any required fundamental-rights assessment for the actual use.</a:t>
            </a:r>
            <a:endParaRPr sz="1400" b="0" i="0" u="none" cap="none">
              <a:solidFill>
                <a:srgbClr val="000000"/>
              </a:solidFill>
              <a:latin typeface="Arial"/>
              <a:ea typeface="Arial"/>
              <a:cs typeface="Arial"/>
            </a:endParaRPr>
          </a:p>
        </p:txBody>
      </p:sp>
      <p:sp>
        <p:nvSpPr>
          <p:cNvPr id="10" name="Google Shape;281;p9">
            <a:extLst>
              <a:ext uri="{FF2B5EF4-FFF2-40B4-BE49-F238E27FC236}">
                <a16:creationId xmlns:a16="http://schemas.microsoft.com/office/drawing/2014/main" id="{BBFF240B-D93B-996F-149D-FE87F21D983D}"/>
              </a:ext>
            </a:extLst>
          </p:cNvPr>
          <p:cNvSpPr>
            <a:spLocks noGrp="1"/>
          </p:cNvSpPr>
          <p:nvPr/>
        </p:nvSpPr>
        <p:spPr>
          <a:xfrm>
            <a:off x="621887" y="2679700"/>
            <a:ext cx="26670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Impact assessments</a:t>
            </a:r>
            <a:endParaRPr sz="1400" b="1" i="0" u="none" cap="none">
              <a:solidFill>
                <a:srgbClr val="000000"/>
              </a:solidFill>
              <a:latin typeface="Arial"/>
              <a:ea typeface="Arial"/>
              <a:cs typeface="Arial"/>
            </a:endParaRPr>
          </a:p>
        </p:txBody>
      </p:sp>
      <p:sp>
        <p:nvSpPr>
          <p:cNvPr id="11" name="Google Shape;281;p9">
            <a:extLst>
              <a:ext uri="{FF2B5EF4-FFF2-40B4-BE49-F238E27FC236}">
                <a16:creationId xmlns:a16="http://schemas.microsoft.com/office/drawing/2014/main" id="{263A2C5C-1255-81B8-345D-813C53845453}"/>
              </a:ext>
            </a:extLst>
          </p:cNvPr>
          <p:cNvSpPr>
            <a:spLocks noGrp="1"/>
          </p:cNvSpPr>
          <p:nvPr/>
        </p:nvSpPr>
        <p:spPr>
          <a:xfrm>
            <a:off x="3384137" y="3136900"/>
            <a:ext cx="17145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GDPR and US student laws</a:t>
            </a:r>
            <a:endParaRPr sz="1400" b="0" i="0" u="none" cap="none">
              <a:solidFill>
                <a:srgbClr val="000000"/>
              </a:solidFill>
              <a:latin typeface="Arial"/>
              <a:ea typeface="Arial"/>
              <a:cs typeface="Arial"/>
            </a:endParaRPr>
          </a:p>
        </p:txBody>
      </p:sp>
      <p:sp>
        <p:nvSpPr>
          <p:cNvPr id="12" name="Google Shape;281;p9">
            <a:extLst>
              <a:ext uri="{FF2B5EF4-FFF2-40B4-BE49-F238E27FC236}">
                <a16:creationId xmlns:a16="http://schemas.microsoft.com/office/drawing/2014/main" id="{8AAE6D6F-C823-5FDB-35F1-1F05DA24C15E}"/>
              </a:ext>
            </a:extLst>
          </p:cNvPr>
          <p:cNvSpPr>
            <a:spLocks noGrp="1"/>
          </p:cNvSpPr>
          <p:nvPr/>
        </p:nvSpPr>
        <p:spPr>
          <a:xfrm>
            <a:off x="5193887" y="3136900"/>
            <a:ext cx="638175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Use complete standard terms and required state addenda. Record online acceptance by an authorised school representative before uploads.</a:t>
            </a:r>
            <a:endParaRPr sz="1400" b="0" i="0" u="none" cap="none">
              <a:solidFill>
                <a:srgbClr val="000000"/>
              </a:solidFill>
              <a:latin typeface="Arial"/>
              <a:ea typeface="Arial"/>
              <a:cs typeface="Arial"/>
            </a:endParaRPr>
          </a:p>
        </p:txBody>
      </p:sp>
      <p:sp>
        <p:nvSpPr>
          <p:cNvPr id="13" name="Google Shape;281;p9">
            <a:extLst>
              <a:ext uri="{FF2B5EF4-FFF2-40B4-BE49-F238E27FC236}">
                <a16:creationId xmlns:a16="http://schemas.microsoft.com/office/drawing/2014/main" id="{FBBCC4D7-807C-EEAF-0B44-D631A60E8AB8}"/>
              </a:ext>
            </a:extLst>
          </p:cNvPr>
          <p:cNvSpPr>
            <a:spLocks noGrp="1"/>
          </p:cNvSpPr>
          <p:nvPr/>
        </p:nvSpPr>
        <p:spPr>
          <a:xfrm>
            <a:off x="621887" y="3136900"/>
            <a:ext cx="26670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school</a:t>
            </a:r>
            <a:endParaRPr sz="1400" b="1" i="0" u="none" cap="none">
              <a:solidFill>
                <a:srgbClr val="000000"/>
              </a:solidFill>
              <a:latin typeface="Arial"/>
              <a:ea typeface="Arial"/>
              <a:cs typeface="Arial"/>
            </a:endParaRPr>
          </a:p>
        </p:txBody>
      </p:sp>
      <p:sp>
        <p:nvSpPr>
          <p:cNvPr id="14" name="Google Shape;281;p9">
            <a:extLst>
              <a:ext uri="{FF2B5EF4-FFF2-40B4-BE49-F238E27FC236}">
                <a16:creationId xmlns:a16="http://schemas.microsoft.com/office/drawing/2014/main" id="{34E81186-7043-B441-B1CE-1B8AB499F892}"/>
              </a:ext>
            </a:extLst>
          </p:cNvPr>
          <p:cNvSpPr>
            <a:spLocks noGrp="1"/>
          </p:cNvSpPr>
          <p:nvPr/>
        </p:nvSpPr>
        <p:spPr>
          <a:xfrm>
            <a:off x="3384137" y="3594100"/>
            <a:ext cx="17145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GDPR Art. 28</a:t>
            </a:r>
            <a:endParaRPr sz="1400" b="0" i="0" u="none" cap="none">
              <a:solidFill>
                <a:srgbClr val="000000"/>
              </a:solidFill>
              <a:latin typeface="Arial"/>
              <a:ea typeface="Arial"/>
              <a:cs typeface="Arial"/>
            </a:endParaRPr>
          </a:p>
        </p:txBody>
      </p:sp>
      <p:sp>
        <p:nvSpPr>
          <p:cNvPr id="15" name="Google Shape;281;p9">
            <a:extLst>
              <a:ext uri="{FF2B5EF4-FFF2-40B4-BE49-F238E27FC236}">
                <a16:creationId xmlns:a16="http://schemas.microsoft.com/office/drawing/2014/main" id="{AE14282E-CD9B-3616-664A-5818197EF5DA}"/>
              </a:ext>
            </a:extLst>
          </p:cNvPr>
          <p:cNvSpPr>
            <a:spLocks noGrp="1"/>
          </p:cNvSpPr>
          <p:nvPr/>
        </p:nvSpPr>
        <p:spPr>
          <a:xfrm>
            <a:off x="5193887" y="3594100"/>
            <a:ext cx="638175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Review LLM suppliers’ standard DPAs for equivalent duties. Obtain school authorisation and cover OCR, hosting and further suppliers.</a:t>
            </a:r>
            <a:endParaRPr sz="1400" b="0" i="0" u="none" cap="none">
              <a:solidFill>
                <a:srgbClr val="000000"/>
              </a:solidFill>
              <a:latin typeface="Arial"/>
              <a:ea typeface="Arial"/>
              <a:cs typeface="Arial"/>
            </a:endParaRPr>
          </a:p>
        </p:txBody>
      </p:sp>
      <p:sp>
        <p:nvSpPr>
          <p:cNvPr id="16" name="Google Shape;281;p9">
            <a:extLst>
              <a:ext uri="{FF2B5EF4-FFF2-40B4-BE49-F238E27FC236}">
                <a16:creationId xmlns:a16="http://schemas.microsoft.com/office/drawing/2014/main" id="{58359EE9-BB80-D653-7BC7-96C98160D9F3}"/>
              </a:ext>
            </a:extLst>
          </p:cNvPr>
          <p:cNvSpPr>
            <a:spLocks noGrp="1"/>
          </p:cNvSpPr>
          <p:nvPr/>
        </p:nvSpPr>
        <p:spPr>
          <a:xfrm>
            <a:off x="621887" y="3594100"/>
            <a:ext cx="26670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DPA with subprocessors</a:t>
            </a:r>
            <a:endParaRPr sz="1400" b="1" i="0" u="none" cap="none">
              <a:solidFill>
                <a:srgbClr val="000000"/>
              </a:solidFill>
              <a:latin typeface="Arial"/>
              <a:ea typeface="Arial"/>
              <a:cs typeface="Arial"/>
            </a:endParaRPr>
          </a:p>
        </p:txBody>
      </p:sp>
      <p:sp>
        <p:nvSpPr>
          <p:cNvPr id="17" name="Google Shape;281;p9">
            <a:extLst>
              <a:ext uri="{FF2B5EF4-FFF2-40B4-BE49-F238E27FC236}">
                <a16:creationId xmlns:a16="http://schemas.microsoft.com/office/drawing/2014/main" id="{4E49445F-5372-A857-8437-B52AACC79459}"/>
              </a:ext>
            </a:extLst>
          </p:cNvPr>
          <p:cNvSpPr>
            <a:spLocks noGrp="1"/>
          </p:cNvSpPr>
          <p:nvPr/>
        </p:nvSpPr>
        <p:spPr>
          <a:xfrm>
            <a:off x="3384137" y="4051300"/>
            <a:ext cx="17145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AI Act and equality law</a:t>
            </a:r>
            <a:endParaRPr sz="1400" b="0" i="0" u="none" cap="none">
              <a:solidFill>
                <a:srgbClr val="000000"/>
              </a:solidFill>
              <a:latin typeface="Arial"/>
              <a:ea typeface="Arial"/>
              <a:cs typeface="Arial"/>
            </a:endParaRPr>
          </a:p>
        </p:txBody>
      </p:sp>
      <p:sp>
        <p:nvSpPr>
          <p:cNvPr id="18" name="Google Shape;281;p9">
            <a:extLst>
              <a:ext uri="{FF2B5EF4-FFF2-40B4-BE49-F238E27FC236}">
                <a16:creationId xmlns:a16="http://schemas.microsoft.com/office/drawing/2014/main" id="{82DECE19-7C71-CBDD-3FE7-46EE4667BC09}"/>
              </a:ext>
            </a:extLst>
          </p:cNvPr>
          <p:cNvSpPr>
            <a:spLocks noGrp="1"/>
          </p:cNvSpPr>
          <p:nvPr/>
        </p:nvSpPr>
        <p:spPr>
          <a:xfrm>
            <a:off x="5193887" y="4051300"/>
            <a:ext cx="638175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Use teacher overrides as signals. Independently test bias, OCR and accessibility against representative expert-marked scripts.</a:t>
            </a:r>
            <a:endParaRPr sz="1400" b="0" i="0" u="none" cap="none">
              <a:solidFill>
                <a:srgbClr val="000000"/>
              </a:solidFill>
              <a:latin typeface="Arial"/>
              <a:ea typeface="Arial"/>
              <a:cs typeface="Arial"/>
            </a:endParaRPr>
          </a:p>
        </p:txBody>
      </p:sp>
      <p:sp>
        <p:nvSpPr>
          <p:cNvPr id="19" name="Google Shape;281;p9">
            <a:extLst>
              <a:ext uri="{FF2B5EF4-FFF2-40B4-BE49-F238E27FC236}">
                <a16:creationId xmlns:a16="http://schemas.microsoft.com/office/drawing/2014/main" id="{4BFE5C3C-E485-D6F9-A812-B618E35B6C34}"/>
              </a:ext>
            </a:extLst>
          </p:cNvPr>
          <p:cNvSpPr>
            <a:spLocks noGrp="1"/>
          </p:cNvSpPr>
          <p:nvPr/>
        </p:nvSpPr>
        <p:spPr>
          <a:xfrm>
            <a:off x="621887" y="4051300"/>
            <a:ext cx="26670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Evidence on bias and accuracy</a:t>
            </a:r>
            <a:endParaRPr sz="1400" b="1" i="0" u="none" cap="none">
              <a:solidFill>
                <a:srgbClr val="000000"/>
              </a:solidFill>
              <a:latin typeface="Arial"/>
              <a:ea typeface="Arial"/>
              <a:cs typeface="Arial"/>
            </a:endParaRPr>
          </a:p>
        </p:txBody>
      </p:sp>
      <p:sp>
        <p:nvSpPr>
          <p:cNvPr id="20" name="Google Shape;281;p9">
            <a:extLst>
              <a:ext uri="{FF2B5EF4-FFF2-40B4-BE49-F238E27FC236}">
                <a16:creationId xmlns:a16="http://schemas.microsoft.com/office/drawing/2014/main" id="{DA7137B8-0F66-E409-AF46-2826D7E999F9}"/>
              </a:ext>
            </a:extLst>
          </p:cNvPr>
          <p:cNvSpPr>
            <a:spLocks noGrp="1"/>
          </p:cNvSpPr>
          <p:nvPr/>
        </p:nvSpPr>
        <p:spPr>
          <a:xfrm>
            <a:off x="3384137" y="4508500"/>
            <a:ext cx="17145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313" b="0">
                <a:solidFill>
                  <a:srgbClr val="121A2E"/>
                </a:solidFill>
                <a:latin typeface="Arial"/>
                <a:ea typeface="Arial"/>
                <a:cs typeface="Arial"/>
              </a:defRPr>
            </a:pPr>
            <a:r>
              <a:rPr sz="1313" b="0" i="0" u="none" cap="none">
                <a:solidFill>
                  <a:srgbClr val="121A2E"/>
                </a:solidFill>
                <a:latin typeface="Arial"/>
                <a:ea typeface="Arial"/>
                <a:cs typeface="Arial"/>
              </a:rPr>
              <a:t>Examination and AI / ADM rules</a:t>
            </a:r>
            <a:endParaRPr sz="1400" b="0" i="0" u="none" cap="none">
              <a:solidFill>
                <a:srgbClr val="000000"/>
              </a:solidFill>
              <a:latin typeface="Arial"/>
              <a:ea typeface="Arial"/>
              <a:cs typeface="Arial"/>
            </a:endParaRPr>
          </a:p>
        </p:txBody>
      </p:sp>
      <p:sp>
        <p:nvSpPr>
          <p:cNvPr id="21" name="Google Shape;281;p9">
            <a:extLst>
              <a:ext uri="{FF2B5EF4-FFF2-40B4-BE49-F238E27FC236}">
                <a16:creationId xmlns:a16="http://schemas.microsoft.com/office/drawing/2014/main" id="{1C300C8C-647D-E1AE-3A16-9A48E0721061}"/>
              </a:ext>
            </a:extLst>
          </p:cNvPr>
          <p:cNvSpPr>
            <a:spLocks noGrp="1"/>
          </p:cNvSpPr>
          <p:nvPr/>
        </p:nvSpPr>
        <p:spPr>
          <a:xfrm>
            <a:off x="5193887" y="4508500"/>
            <a:ext cx="638175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0">
                <a:solidFill>
                  <a:srgbClr val="121A2E"/>
                </a:solidFill>
                <a:latin typeface="Arial"/>
                <a:ea typeface="Arial"/>
                <a:cs typeface="Arial"/>
              </a:defRPr>
            </a:pPr>
            <a:r>
              <a:rPr sz="1425" b="0" i="0" u="none" cap="none">
                <a:solidFill>
                  <a:srgbClr val="121A2E"/>
                </a:solidFill>
                <a:latin typeface="Arial"/>
                <a:ea typeface="Arial"/>
                <a:cs typeface="Arial"/>
              </a:rPr>
              <a:t>Keep AI as advice. Require substantive teacher review before grades take effect, with item-level overrides and evidence for appeals.</a:t>
            </a:r>
            <a:endParaRPr sz="1400" b="0" i="0" u="none" cap="none">
              <a:solidFill>
                <a:srgbClr val="000000"/>
              </a:solidFill>
              <a:latin typeface="Arial"/>
              <a:ea typeface="Arial"/>
              <a:cs typeface="Arial"/>
            </a:endParaRPr>
          </a:p>
        </p:txBody>
      </p:sp>
      <p:sp>
        <p:nvSpPr>
          <p:cNvPr id="22" name="Google Shape;281;p9">
            <a:extLst>
              <a:ext uri="{FF2B5EF4-FFF2-40B4-BE49-F238E27FC236}">
                <a16:creationId xmlns:a16="http://schemas.microsoft.com/office/drawing/2014/main" id="{E6122D20-90E3-E1C8-41F5-05A354CAD429}"/>
              </a:ext>
            </a:extLst>
          </p:cNvPr>
          <p:cNvSpPr>
            <a:spLocks noGrp="1"/>
          </p:cNvSpPr>
          <p:nvPr/>
        </p:nvSpPr>
        <p:spPr>
          <a:xfrm>
            <a:off x="621887" y="4508500"/>
            <a:ext cx="2667000" cy="457200"/>
          </a:xfrm>
          <a:prstGeom prst="rect">
            <a:avLst/>
          </a:prstGeom>
          <a:solidFill>
            <a:schemeClr val="bg1"/>
          </a:solidFill>
          <a:ln>
            <a:solidFill>
              <a:schemeClr val="bg1"/>
            </a:solidFill>
          </a:ln>
        </p:spPr>
        <p:txBody>
          <a:bodyPr spcFirstLastPara="1" wrap="square" lIns="95250" tIns="28575" rIns="76200" bIns="28575" anchor="ctr">
            <a:noAutofit/>
          </a:bodyPr>
          <a:lstStyle/>
          <a:p>
            <a:pPr marL="0" marR="0" lvl="0" indent="0" algn="l">
              <a:lnSpc>
                <a:spcPct val="100000"/>
              </a:lnSpc>
              <a:spcBef>
                <a:spcPts val="0"/>
              </a:spcBef>
              <a:spcAft>
                <a:spcPts val="0"/>
              </a:spcAft>
              <a:buClr>
                <a:srgbClr val="000000"/>
              </a:buClr>
              <a:buSzPts val="1600"/>
              <a:buFont typeface="Arial"/>
              <a:buNone/>
              <a:defRPr sz="1425" b="1">
                <a:solidFill>
                  <a:srgbClr val="121A2E"/>
                </a:solidFill>
                <a:latin typeface="Arial"/>
                <a:ea typeface="Arial"/>
                <a:cs typeface="Arial"/>
              </a:defRPr>
            </a:pPr>
            <a:r>
              <a:rPr sz="1425" b="1">
                <a:solidFill>
                  <a:srgbClr val="121A2E"/>
                </a:solidFill>
                <a:latin typeface="Arial"/>
                <a:ea typeface="Arial"/>
                <a:cs typeface="Arial"/>
              </a:rPr>
              <a:t>Recommendation only</a:t>
            </a:r>
            <a:endParaRPr sz="1400" b="1" i="0" u="none" cap="none">
              <a:solidFill>
                <a:srgbClr val="000000"/>
              </a:solidFill>
              <a:latin typeface="Arial"/>
              <a:ea typeface="Arial"/>
              <a:cs typeface="Arial"/>
            </a:endParaRPr>
          </a:p>
        </p:txBody>
      </p:sp>
      <p:sp>
        <p:nvSpPr>
          <p:cNvPr id="282" name="Additional control 7 column 1">
            <a:extLst>
              <a:ext uri="{FF2B5EF4-FFF2-40B4-BE49-F238E27FC236}">
                <a16:creationId xmlns:a16="http://schemas.microsoft.com/office/drawing/2014/main" id="{FE348C57-2C89-4391-8B2C-58F4C7796A8C}"/>
              </a:ext>
            </a:extLst>
          </p:cNvPr>
          <p:cNvSpPr>
            <a:spLocks noGrp="1"/>
          </p:cNvSpPr>
          <p:nvPr/>
        </p:nvSpPr>
        <p:spPr>
          <a:xfrm>
            <a:off x="621887" y="4965700"/>
            <a:ext cx="2667000" cy="457200"/>
          </a:xfrm>
          <a:prstGeom prst="rect">
            <a:avLst/>
          </a:prstGeom>
          <a:noFill/>
          <a:ln w="0">
            <a:no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Security and limited data use</a:t>
            </a:r>
          </a:p>
        </p:txBody>
      </p:sp>
      <p:sp>
        <p:nvSpPr>
          <p:cNvPr id="283" name="Additional control 7 column 2">
            <a:extLst>
              <a:ext uri="{FF2B5EF4-FFF2-40B4-BE49-F238E27FC236}">
                <a16:creationId xmlns:a16="http://schemas.microsoft.com/office/drawing/2014/main" id="{445D510F-92C0-489F-B339-0157289F4778}"/>
              </a:ext>
            </a:extLst>
          </p:cNvPr>
          <p:cNvSpPr>
            <a:spLocks noGrp="1"/>
          </p:cNvSpPr>
          <p:nvPr/>
        </p:nvSpPr>
        <p:spPr>
          <a:xfrm>
            <a:off x="3384137" y="4965700"/>
            <a:ext cx="1714500" cy="457200"/>
          </a:xfrm>
          <a:prstGeom prst="rect">
            <a:avLst/>
          </a:prstGeom>
          <a:noFill/>
          <a:ln w="0">
            <a:noFill/>
          </a:ln>
        </p:spPr>
        <p:txBody>
          <a:bodyPr wrap="square" lIns="95250" tIns="28575" rIns="76200" bIns="28575" anchor="ctr">
            <a:noAutofit/>
          </a:bodyPr>
          <a:lstStyle/>
          <a:p>
            <a:pPr algn="l">
              <a:lnSpc>
                <a:spcPct val="100000"/>
              </a:lnSpc>
              <a:buNone/>
              <a:defRPr sz="1313" b="0">
                <a:solidFill>
                  <a:srgbClr val="121A2E"/>
                </a:solidFill>
                <a:latin typeface="Arial"/>
                <a:ea typeface="Arial"/>
                <a:cs typeface="Arial"/>
              </a:defRPr>
            </a:pPr>
            <a:r>
              <a:rPr sz="1313" b="0">
                <a:solidFill>
                  <a:srgbClr val="121A2E"/>
                </a:solidFill>
                <a:latin typeface="Arial"/>
                <a:ea typeface="Arial"/>
                <a:cs typeface="Arial"/>
              </a:rPr>
              <a:t>Privacy law and contracts</a:t>
            </a:r>
          </a:p>
        </p:txBody>
      </p:sp>
      <p:sp>
        <p:nvSpPr>
          <p:cNvPr id="284" name="Additional control 7 column 3">
            <a:extLst>
              <a:ext uri="{FF2B5EF4-FFF2-40B4-BE49-F238E27FC236}">
                <a16:creationId xmlns:a16="http://schemas.microsoft.com/office/drawing/2014/main" id="{DDCB3CB8-6010-4436-B644-BD46E603815B}"/>
              </a:ext>
            </a:extLst>
          </p:cNvPr>
          <p:cNvSpPr>
            <a:spLocks noGrp="1"/>
          </p:cNvSpPr>
          <p:nvPr/>
        </p:nvSpPr>
        <p:spPr>
          <a:xfrm>
            <a:off x="5193887" y="4965700"/>
            <a:ext cx="6381750" cy="457200"/>
          </a:xfrm>
          <a:prstGeom prst="rect">
            <a:avLst/>
          </a:prstGeom>
          <a:noFill/>
          <a:ln w="0">
            <a:noFill/>
          </a:ln>
        </p:spPr>
        <p:txBody>
          <a:bodyPr wrap="square" lIns="95250" tIns="28575" rIns="76200" bIns="28575" anchor="ctr">
            <a:noAutofit/>
          </a:bodyPr>
          <a:lstStyle/>
          <a:p>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Minimise identifiers, encrypt and isolate tenants. Set deletion periods, control transfers and restrict training to authorised data.</a:t>
            </a:r>
          </a:p>
        </p:txBody>
      </p:sp>
      <p:sp>
        <p:nvSpPr>
          <p:cNvPr id="285" name="Additional control 8 column 1">
            <a:extLst>
              <a:ext uri="{FF2B5EF4-FFF2-40B4-BE49-F238E27FC236}">
                <a16:creationId xmlns:a16="http://schemas.microsoft.com/office/drawing/2014/main" id="{596B7A10-5B20-4791-8F7B-07E62C17D7FD}"/>
              </a:ext>
            </a:extLst>
          </p:cNvPr>
          <p:cNvSpPr>
            <a:spLocks noGrp="1"/>
          </p:cNvSpPr>
          <p:nvPr/>
        </p:nvSpPr>
        <p:spPr>
          <a:xfrm>
            <a:off x="621887" y="5422900"/>
            <a:ext cx="2667000" cy="457200"/>
          </a:xfrm>
          <a:prstGeom prst="rect">
            <a:avLst/>
          </a:prstGeom>
          <a:noFill/>
          <a:ln w="0">
            <a:no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Transparency and student rights</a:t>
            </a:r>
          </a:p>
        </p:txBody>
      </p:sp>
      <p:sp>
        <p:nvSpPr>
          <p:cNvPr id="286" name="Additional control 8 column 2">
            <a:extLst>
              <a:ext uri="{FF2B5EF4-FFF2-40B4-BE49-F238E27FC236}">
                <a16:creationId xmlns:a16="http://schemas.microsoft.com/office/drawing/2014/main" id="{15CF357E-C530-4B02-A56B-8A95BFFC4DD2}"/>
              </a:ext>
            </a:extLst>
          </p:cNvPr>
          <p:cNvSpPr>
            <a:spLocks noGrp="1"/>
          </p:cNvSpPr>
          <p:nvPr/>
        </p:nvSpPr>
        <p:spPr>
          <a:xfrm>
            <a:off x="3384137" y="5422900"/>
            <a:ext cx="1714500" cy="457200"/>
          </a:xfrm>
          <a:prstGeom prst="rect">
            <a:avLst/>
          </a:prstGeom>
          <a:noFill/>
          <a:ln w="0">
            <a:noFill/>
          </a:ln>
        </p:spPr>
        <p:txBody>
          <a:bodyPr wrap="square" lIns="95250" tIns="28575" rIns="76200" bIns="28575" anchor="ctr">
            <a:noAutofit/>
          </a:bodyPr>
          <a:lstStyle/>
          <a:p>
            <a:pPr algn="l">
              <a:lnSpc>
                <a:spcPct val="100000"/>
              </a:lnSpc>
              <a:buNone/>
              <a:defRPr sz="1313" b="0">
                <a:solidFill>
                  <a:srgbClr val="121A2E"/>
                </a:solidFill>
                <a:latin typeface="Arial"/>
                <a:ea typeface="Arial"/>
                <a:cs typeface="Arial"/>
              </a:defRPr>
            </a:pPr>
            <a:r>
              <a:rPr sz="1313" b="0">
                <a:solidFill>
                  <a:srgbClr val="121A2E"/>
                </a:solidFill>
                <a:latin typeface="Arial"/>
                <a:ea typeface="Arial"/>
                <a:cs typeface="Arial"/>
              </a:rPr>
              <a:t>Privacy and AI rules</a:t>
            </a:r>
          </a:p>
        </p:txBody>
      </p:sp>
      <p:sp>
        <p:nvSpPr>
          <p:cNvPr id="287" name="Additional control 8 column 3">
            <a:extLst>
              <a:ext uri="{FF2B5EF4-FFF2-40B4-BE49-F238E27FC236}">
                <a16:creationId xmlns:a16="http://schemas.microsoft.com/office/drawing/2014/main" id="{194A394C-9E36-4490-847A-D17C0F7DBC02}"/>
              </a:ext>
            </a:extLst>
          </p:cNvPr>
          <p:cNvSpPr>
            <a:spLocks noGrp="1"/>
          </p:cNvSpPr>
          <p:nvPr/>
        </p:nvSpPr>
        <p:spPr>
          <a:xfrm>
            <a:off x="5193887" y="5422900"/>
            <a:ext cx="6381750" cy="457200"/>
          </a:xfrm>
          <a:prstGeom prst="rect">
            <a:avLst/>
          </a:prstGeom>
          <a:noFill/>
          <a:ln w="0">
            <a:noFill/>
          </a:ln>
        </p:spPr>
        <p:txBody>
          <a:bodyPr wrap="square" lIns="95250" tIns="28575" rIns="76200" bIns="28575" anchor="ctr">
            <a:noAutofit/>
          </a:bodyPr>
          <a:lstStyle/>
          <a:p>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Explain AI use and limits. Support access, correction and complaints. Notify schools of breaches promptly and help meet legal deadlines.</a:t>
            </a:r>
          </a:p>
        </p:txBody>
      </p:sp>
      <p:sp>
        <p:nvSpPr>
          <p:cNvPr id="288" name="Additional control 9 column 1">
            <a:extLst>
              <a:ext uri="{FF2B5EF4-FFF2-40B4-BE49-F238E27FC236}">
                <a16:creationId xmlns:a16="http://schemas.microsoft.com/office/drawing/2014/main" id="{6F9EE814-E2BF-4299-9838-D645328E1174}"/>
              </a:ext>
            </a:extLst>
          </p:cNvPr>
          <p:cNvSpPr>
            <a:spLocks noGrp="1"/>
          </p:cNvSpPr>
          <p:nvPr/>
        </p:nvSpPr>
        <p:spPr>
          <a:xfrm>
            <a:off x="621887" y="5880100"/>
            <a:ext cx="2667000" cy="457200"/>
          </a:xfrm>
          <a:prstGeom prst="rect">
            <a:avLst/>
          </a:prstGeom>
          <a:noFill/>
          <a:ln w="0">
            <a:noFill/>
          </a:ln>
        </p:spPr>
        <p:txBody>
          <a:bodyPr wrap="square" lIns="95250" tIns="28575" rIns="76200" bIns="28575" anchor="ctr">
            <a:noAutofit/>
          </a:bodyPr>
          <a:lstStyle/>
          <a:p>
            <a:pPr algn="l">
              <a:lnSpc>
                <a:spcPct val="100000"/>
              </a:lnSpc>
              <a:buNone/>
              <a:defRPr sz="1425" b="1">
                <a:solidFill>
                  <a:srgbClr val="121A2E"/>
                </a:solidFill>
                <a:latin typeface="Arial"/>
                <a:ea typeface="Arial"/>
                <a:cs typeface="Arial"/>
              </a:defRPr>
            </a:pPr>
            <a:r>
              <a:rPr sz="1425" b="1">
                <a:solidFill>
                  <a:srgbClr val="121A2E"/>
                </a:solidFill>
                <a:latin typeface="Arial"/>
                <a:ea typeface="Arial"/>
                <a:cs typeface="Arial"/>
              </a:rPr>
              <a:t>Ongoing AI and market duties</a:t>
            </a:r>
          </a:p>
        </p:txBody>
      </p:sp>
      <p:sp>
        <p:nvSpPr>
          <p:cNvPr id="289" name="Additional control 9 column 2">
            <a:extLst>
              <a:ext uri="{FF2B5EF4-FFF2-40B4-BE49-F238E27FC236}">
                <a16:creationId xmlns:a16="http://schemas.microsoft.com/office/drawing/2014/main" id="{A1D1800A-D131-4FF0-81FA-A93B76FF4457}"/>
              </a:ext>
            </a:extLst>
          </p:cNvPr>
          <p:cNvSpPr>
            <a:spLocks noGrp="1"/>
          </p:cNvSpPr>
          <p:nvPr/>
        </p:nvSpPr>
        <p:spPr>
          <a:xfrm>
            <a:off x="3384137" y="5880100"/>
            <a:ext cx="1714500" cy="457200"/>
          </a:xfrm>
          <a:prstGeom prst="rect">
            <a:avLst/>
          </a:prstGeom>
          <a:noFill/>
          <a:ln w="0">
            <a:noFill/>
          </a:ln>
        </p:spPr>
        <p:txBody>
          <a:bodyPr wrap="square" lIns="95250" tIns="28575" rIns="76200" bIns="28575" anchor="ctr">
            <a:noAutofit/>
          </a:bodyPr>
          <a:lstStyle/>
          <a:p>
            <a:pPr algn="l">
              <a:lnSpc>
                <a:spcPct val="100000"/>
              </a:lnSpc>
              <a:buNone/>
              <a:defRPr sz="1313" b="0">
                <a:solidFill>
                  <a:srgbClr val="121A2E"/>
                </a:solidFill>
                <a:latin typeface="Arial"/>
                <a:ea typeface="Arial"/>
                <a:cs typeface="Arial"/>
              </a:defRPr>
            </a:pPr>
            <a:r>
              <a:rPr sz="1313" b="0">
                <a:solidFill>
                  <a:srgbClr val="121A2E"/>
                </a:solidFill>
                <a:latin typeface="Arial"/>
                <a:ea typeface="Arial"/>
                <a:cs typeface="Arial"/>
              </a:rPr>
              <a:t>AI Act and US state AI laws</a:t>
            </a:r>
          </a:p>
        </p:txBody>
      </p:sp>
      <p:sp>
        <p:nvSpPr>
          <p:cNvPr id="290" name="Additional control 9 column 3">
            <a:extLst>
              <a:ext uri="{FF2B5EF4-FFF2-40B4-BE49-F238E27FC236}">
                <a16:creationId xmlns:a16="http://schemas.microsoft.com/office/drawing/2014/main" id="{6FC7C1F8-7255-40AF-81FC-65DD25E5F814}"/>
              </a:ext>
            </a:extLst>
          </p:cNvPr>
          <p:cNvSpPr>
            <a:spLocks noGrp="1"/>
          </p:cNvSpPr>
          <p:nvPr/>
        </p:nvSpPr>
        <p:spPr>
          <a:xfrm>
            <a:off x="5193887" y="5880100"/>
            <a:ext cx="6381750" cy="457200"/>
          </a:xfrm>
          <a:prstGeom prst="rect">
            <a:avLst/>
          </a:prstGeom>
          <a:noFill/>
          <a:ln w="0">
            <a:noFill/>
          </a:ln>
        </p:spPr>
        <p:txBody>
          <a:bodyPr wrap="square" lIns="95250" tIns="28575" rIns="76200" bIns="28575" anchor="ctr">
            <a:noAutofit/>
          </a:bodyPr>
          <a:lstStyle/>
          <a:p>
            <a:pPr algn="l">
              <a:lnSpc>
                <a:spcPct val="100000"/>
              </a:lnSpc>
              <a:buNone/>
              <a:defRPr sz="1425" b="0">
                <a:solidFill>
                  <a:srgbClr val="121A2E"/>
                </a:solidFill>
                <a:latin typeface="Arial"/>
                <a:ea typeface="Arial"/>
                <a:cs typeface="Arial"/>
              </a:defRPr>
            </a:pPr>
            <a:r>
              <a:rPr sz="1425" b="0">
                <a:solidFill>
                  <a:srgbClr val="121A2E"/>
                </a:solidFill>
                <a:latin typeface="Arial"/>
                <a:ea typeface="Arial"/>
                <a:cs typeface="Arial"/>
              </a:rPr>
              <a:t>Document classification, quality management and release tests. Meet triggered conformity/registration duties. Monitor changes and incidents.</a:t>
            </a:r>
          </a:p>
        </p:txBody>
      </p:sp>
      <p:sp>
        <p:nvSpPr>
          <p:cNvPr id="291" name="Implementation scope">
            <a:extLst>
              <a:ext uri="{FF2B5EF4-FFF2-40B4-BE49-F238E27FC236}">
                <a16:creationId xmlns:a16="http://schemas.microsoft.com/office/drawing/2014/main" id="{02ADF29A-2B21-4D4A-A278-209AE3DDCB30}"/>
              </a:ext>
            </a:extLst>
          </p:cNvPr>
          <p:cNvSpPr>
            <a:spLocks noGrp="1"/>
          </p:cNvSpPr>
          <p:nvPr/>
        </p:nvSpPr>
        <p:spPr>
          <a:xfrm>
            <a:off x="621887" y="6413500"/>
            <a:ext cx="10191750" cy="257175"/>
          </a:xfrm>
          <a:prstGeom prst="rect">
            <a:avLst/>
          </a:prstGeom>
          <a:noFill/>
          <a:ln w="0">
            <a:noFill/>
          </a:ln>
        </p:spPr>
        <p:txBody>
          <a:bodyPr wrap="square" lIns="0" tIns="0" rIns="0" bIns="0" anchor="ctr">
            <a:noAutofit/>
          </a:bodyPr>
          <a:lstStyle/>
          <a:p>
            <a:pPr algn="l">
              <a:defRPr sz="975" b="0">
                <a:solidFill>
                  <a:srgbClr val="404754"/>
                </a:solidFill>
                <a:latin typeface="Arial"/>
                <a:ea typeface="Arial"/>
                <a:cs typeface="Arial"/>
              </a:defRPr>
            </a:pPr>
            <a:r>
              <a:rPr sz="975" b="0">
                <a:solidFill>
                  <a:srgbClr val="404754"/>
                </a:solidFill>
                <a:latin typeface="Arial"/>
                <a:ea typeface="Arial"/>
                <a:cs typeface="Arial"/>
              </a:rPr>
              <a:t>Additional deployment checks: content rights, procurement, staff participation and applicable child or biometric rules.</a:t>
            </a:r>
          </a:p>
        </p:txBody>
      </p:sp>
    </p:spTree>
    <p:extLst>
      <p:ext uri="{BB962C8B-B14F-4D97-AF65-F5344CB8AC3E}">
        <p14:creationId xmlns:p14="http://schemas.microsoft.com/office/powerpoint/2010/main" val="28459577"/>
      </p:ext>
    </p:extLst>
  </p:cSld>
  <p:clrMapOvr>
    <a:masterClrMapping/>
  </p:clrMapOvr>
</p:sld>
</file>

<file path=ppt/theme/theme1.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adias Master">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628ADEC-166E-430E-95F9-664E1911EF2A}">
  <we:reference id="wa200010725" version="1.0.0.1" store="en-GB" storeType="OMEX"/>
  <we:alternateReferences>
    <we:reference id="wa200010725" version="1.0.0.1" store="" storeType="OMEX"/>
  </we:alternateReferences>
  <we:properties>
    <we:property name="claude.fileId" value="&quot;5f0dc0bc-9a44-493a-8585-499596e76a7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7536</Words>
  <Application>Microsoft Office PowerPoint</Application>
  <DocSecurity>0</DocSecurity>
  <PresentationFormat>Widescreen</PresentationFormat>
  <Paragraphs>739</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Inter</vt:lpstr>
      <vt:lpstr>Inter Light</vt:lpstr>
      <vt:lpstr>Montserrat SemiBold</vt:lpstr>
      <vt:lpstr>Arial</vt:lpstr>
      <vt:lpstr>Poppins</vt:lpstr>
      <vt:lpstr>Calibri</vt:lpstr>
      <vt:lpstr>Gradias Master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Michael Burian</cp:lastModifiedBy>
  <cp:revision>1</cp:revision>
  <dcterms:created xsi:type="dcterms:W3CDTF">2026-09-12T10:41:48Z</dcterms:created>
  <dcterms:modified xsi:type="dcterms:W3CDTF">2026-09-12T12:07:45Z</dcterms:modified>
</cp:coreProperties>
</file>