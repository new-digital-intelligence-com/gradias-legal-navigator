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3"/>
  </p:notesMasterIdLst>
  <p:sldIdLst>
    <p:sldId id="379" r:id="rId2"/>
  </p:sldIdLst>
  <p:sldSz cx="12192000" cy="6858000"/>
  <p:notesSz cx="6858000" cy="12192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Inter Light" panose="020B0604020202020204" charset="0"/>
      <p:regular r:id="rId8"/>
      <p:bold r:id="rId9"/>
      <p:italic r:id="rId10"/>
      <p:boldItalic r:id="rId11"/>
    </p:embeddedFont>
    <p:embeddedFont>
      <p:font typeface="Montserrat SemiBold" panose="00000700000000000000" pitchFamily="2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3" roundtripDataSignature="AMtx7mhjRatbGaB51RYJhAw/0W2pnld5Q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F4D372-1483-175D-CB42-E4E52CCBC817}" name="Michael Burian" initials="MB" userId="4f510493322dd37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B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4F5748-14AB-4321-BF65-A3762DE8F335}">
  <a:tblStyle styleId="{744F5748-14AB-4321-BF65-A3762DE8F3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6115C50-24A0-4D59-AEF3-5AAAAD7ADC1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85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83" Type="http://customschemas.google.com/relationships/presentationmetadata" Target="metadata"/><Relationship Id="rId88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87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86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60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 userDrawn="1">
  <p:cSld name="Cover">
    <p:bg>
      <p:bgPr>
        <a:solidFill>
          <a:srgbClr val="89B4D6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3;p2" descr="owl_white_transparent.png">
            <a:extLst>
              <a:ext uri="{FF2B5EF4-FFF2-40B4-BE49-F238E27FC236}">
                <a16:creationId xmlns:a16="http://schemas.microsoft.com/office/drawing/2014/main" id="{E8DBF9FC-3BB5-A195-5BF0-BD9D39B766C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23000"/>
          </a:blip>
          <a:srcRect/>
          <a:stretch/>
        </p:blipFill>
        <p:spPr>
          <a:xfrm>
            <a:off x="3540262" y="-4983252"/>
            <a:ext cx="16824504" cy="16824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724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Default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3"/>
          <p:cNvSpPr txBox="1">
            <a:spLocks noGrp="1"/>
          </p:cNvSpPr>
          <p:nvPr>
            <p:ph type="body" idx="1"/>
          </p:nvPr>
        </p:nvSpPr>
        <p:spPr>
          <a:xfrm>
            <a:off x="330200" y="272235"/>
            <a:ext cx="11655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89B4D6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3"/>
          <p:cNvSpPr txBox="1">
            <a:spLocks noGrp="1"/>
          </p:cNvSpPr>
          <p:nvPr>
            <p:ph type="body" idx="2"/>
          </p:nvPr>
        </p:nvSpPr>
        <p:spPr>
          <a:xfrm>
            <a:off x="330200" y="626802"/>
            <a:ext cx="116553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3"/>
          <p:cNvSpPr txBox="1">
            <a:spLocks noGrp="1"/>
          </p:cNvSpPr>
          <p:nvPr>
            <p:ph type="body" idx="3"/>
          </p:nvPr>
        </p:nvSpPr>
        <p:spPr>
          <a:xfrm>
            <a:off x="330199" y="1833756"/>
            <a:ext cx="11655300" cy="42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43"/>
          <p:cNvPicPr preferRelativeResize="0"/>
          <p:nvPr/>
        </p:nvPicPr>
        <p:blipFill rotWithShape="1">
          <a:blip r:embed="rId2">
            <a:alphaModFix/>
          </a:blip>
          <a:srcRect l="17291" t="28026" r="16180" b="30886"/>
          <a:stretch/>
        </p:blipFill>
        <p:spPr>
          <a:xfrm>
            <a:off x="11032066" y="6415406"/>
            <a:ext cx="1032934" cy="340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 userDrawn="1">
  <p:cSld name="Divider Pag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3"/>
          <p:cNvPicPr preferRelativeResize="0"/>
          <p:nvPr/>
        </p:nvPicPr>
        <p:blipFill rotWithShape="1">
          <a:blip r:embed="rId2">
            <a:alphaModFix/>
          </a:blip>
          <a:srcRect l="17291" t="28026" r="16180" b="30886"/>
          <a:stretch/>
        </p:blipFill>
        <p:spPr>
          <a:xfrm>
            <a:off x="11032066" y="6415406"/>
            <a:ext cx="1032934" cy="34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8;p23">
            <a:extLst>
              <a:ext uri="{FF2B5EF4-FFF2-40B4-BE49-F238E27FC236}">
                <a16:creationId xmlns:a16="http://schemas.microsoft.com/office/drawing/2014/main" id="{33F2048B-42B8-87D3-6EA7-46420BEE8E8F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559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99;p23">
            <a:extLst>
              <a:ext uri="{FF2B5EF4-FFF2-40B4-BE49-F238E27FC236}">
                <a16:creationId xmlns:a16="http://schemas.microsoft.com/office/drawing/2014/main" id="{36272CB6-52A3-2AD4-E10A-B15939BEC421}"/>
              </a:ext>
            </a:extLst>
          </p:cNvPr>
          <p:cNvSpPr txBox="1"/>
          <p:nvPr userDrawn="1"/>
        </p:nvSpPr>
        <p:spPr>
          <a:xfrm>
            <a:off x="1" y="5468341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app.gradias.ai | gradias.ai</a:t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5" name="Google Shape;600;p23">
            <a:extLst>
              <a:ext uri="{FF2B5EF4-FFF2-40B4-BE49-F238E27FC236}">
                <a16:creationId xmlns:a16="http://schemas.microsoft.com/office/drawing/2014/main" id="{D7DB0952-0972-6D7B-881D-A1203B1E6D42}"/>
              </a:ext>
            </a:extLst>
          </p:cNvPr>
          <p:cNvGrpSpPr/>
          <p:nvPr userDrawn="1"/>
        </p:nvGrpSpPr>
        <p:grpSpPr>
          <a:xfrm>
            <a:off x="4003729" y="883404"/>
            <a:ext cx="4184542" cy="4463848"/>
            <a:chOff x="4003727" y="263472"/>
            <a:chExt cx="4184542" cy="4463848"/>
          </a:xfrm>
        </p:grpSpPr>
        <p:sp>
          <p:nvSpPr>
            <p:cNvPr id="6" name="Google Shape;601;p23">
              <a:extLst>
                <a:ext uri="{FF2B5EF4-FFF2-40B4-BE49-F238E27FC236}">
                  <a16:creationId xmlns:a16="http://schemas.microsoft.com/office/drawing/2014/main" id="{317D7568-7BEB-3E6C-345E-26CD824CABAC}"/>
                </a:ext>
              </a:extLst>
            </p:cNvPr>
            <p:cNvSpPr txBox="1"/>
            <p:nvPr/>
          </p:nvSpPr>
          <p:spPr>
            <a:xfrm>
              <a:off x="4112893" y="3526991"/>
              <a:ext cx="396621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gradias</a:t>
              </a:r>
              <a:endParaRPr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1" name="Google Shape;602;p23" descr="owl_white_transparent.png">
              <a:extLst>
                <a:ext uri="{FF2B5EF4-FFF2-40B4-BE49-F238E27FC236}">
                  <a16:creationId xmlns:a16="http://schemas.microsoft.com/office/drawing/2014/main" id="{408FD87B-8A3D-DD9D-09C5-F081D79051F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003727" y="263472"/>
              <a:ext cx="4184542" cy="418454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6129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E7EBB1D0-DAEB-B1B0-5211-CD3B5AD42AF1}"/>
              </a:ext>
            </a:extLst>
          </p:cNvPr>
          <p:cNvGraphicFramePr>
            <a:graphicFrameLocks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2208528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25" imgH="425" progId="TCLayout.ActiveDocument.1">
                  <p:embed/>
                </p:oleObj>
              </mc:Choice>
              <mc:Fallback>
                <p:oleObj name="thinkcell Slide" r:id="rId6" imgW="425" imgH="42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>
            <a:spLocks noGrp="1"/>
          </p:cNvSpPr>
          <p:nvPr>
            <p:ph type="body" idx="1"/>
          </p:nvPr>
        </p:nvSpPr>
        <p:spPr>
          <a:xfrm>
            <a:off x="330200" y="272288"/>
            <a:ext cx="11655298" cy="29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90487" marR="0" lvl="0" indent="-904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rgbClr val="1190C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Legal and Regulatory requirements</a:t>
            </a:r>
            <a:endParaRPr>
              <a:solidFill>
                <a:srgbClr val="1190C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73CC2-2996-1BF5-9EB9-FD6BD621AAA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0200" y="626745"/>
            <a:ext cx="11655298" cy="847852"/>
          </a:xfrm>
        </p:spPr>
        <p:txBody>
          <a:bodyPr/>
          <a:lstStyle/>
          <a:p>
            <a:pPr marL="0" indent="0" algn="l"/>
            <a:r>
              <a:rPr lang="en-GB" dirty="0"/>
              <a:t>We are subject to the </a:t>
            </a:r>
            <a:r>
              <a:rPr lang="en-GB" dirty="0">
                <a:solidFill>
                  <a:srgbClr val="89B4D6"/>
                </a:solidFill>
              </a:rPr>
              <a:t>GDPR</a:t>
            </a:r>
            <a:r>
              <a:rPr lang="en-GB" dirty="0"/>
              <a:t> in Europe, while we seek an exemption from the System 4 rules of </a:t>
            </a:r>
            <a:r>
              <a:rPr lang="en-GB" dirty="0">
                <a:solidFill>
                  <a:srgbClr val="89B4D6"/>
                </a:solidFill>
              </a:rPr>
              <a:t>EU AI act</a:t>
            </a:r>
            <a:r>
              <a:rPr lang="en-GB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A55B88-FC76-8265-0502-AE525E8CA26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79" name="Google Shape;279;p9"/>
          <p:cNvSpPr/>
          <p:nvPr/>
        </p:nvSpPr>
        <p:spPr>
          <a:xfrm>
            <a:off x="330200" y="2344462"/>
            <a:ext cx="3690693" cy="519758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EU: GDPR (General Data Protection Regulation)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30200" y="2864220"/>
            <a:ext cx="3690600" cy="2115884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Lawful Basis for Processing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Transparency and Consent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Minimization and Purpose Limitation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to Object and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Retention and Security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Assessment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Oversight and Right to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109488" y="2344462"/>
            <a:ext cx="3690693" cy="519758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EU: AI-Act (EU AI Regulation) – Category 4 System (High-Risk)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888776" y="2344462"/>
            <a:ext cx="3690693" cy="519758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Specific Individual Policies by School and University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109488" y="2864220"/>
            <a:ext cx="3690600" cy="2115884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Management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and Training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Transparency and Documentation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Accuracy, Robustness, and Cybersecurity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Oversight Mechanisms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Compliance with Conformity Assessment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7888776" y="2864220"/>
            <a:ext cx="3690600" cy="2115884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Institutional Approval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Integrity and Fairness Policies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Transparency with Students and Faculty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Pilot Testing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Contingency for System Errors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Adherence to Ethical Standards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324216" y="1734406"/>
            <a:ext cx="11255253" cy="519758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Although we do not store student names or any other personal identifiable data in the application, data is considered “pseudonymized”</a:t>
            </a:r>
            <a:endParaRPr sz="2000" b="1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330200" y="5213792"/>
            <a:ext cx="3690600" cy="519900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106495" y="5213792"/>
            <a:ext cx="3690600" cy="519900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Seek exception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882790" y="5213792"/>
            <a:ext cx="3690600" cy="519900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Comply individually (no strong requirements expected)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 rot="10800000" flipH="1">
            <a:off x="1471885" y="5038619"/>
            <a:ext cx="1407300" cy="1059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 rot="10800000" flipH="1">
            <a:off x="5248180" y="5038619"/>
            <a:ext cx="1407300" cy="1059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 rot="10800000" flipH="1">
            <a:off x="9024475" y="5038619"/>
            <a:ext cx="1407300" cy="1059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260540" y="6326243"/>
            <a:ext cx="523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Legal and regulatory situation outside EU to be further analysed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24216" y="5801889"/>
            <a:ext cx="11255253" cy="519758"/>
          </a:xfrm>
          <a:prstGeom prst="rect">
            <a:avLst/>
          </a:prstGeom>
          <a:solidFill>
            <a:srgbClr val="0E6C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Further regulation will apply in countries outside Europe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69834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radias Mast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EC662D-5E93-4754-B86A-E94BD34D0F12}">
  <we:reference id="wa200010725" version="1.0.0.1" store="en-GB" storeType="OMEX"/>
  <we:alternateReferences>
    <we:reference id="WA200010725" version="1.0.0.1" store="" storeType="OMEX"/>
  </we:alternateReferences>
  <we:properties>
    <we:property name="claude.fileId" value="&quot;cc3e4003-fcf2-486e-9144-9297b31fc44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Montserrat SemiBold</vt:lpstr>
      <vt:lpstr>Arial</vt:lpstr>
      <vt:lpstr>Calibri</vt:lpstr>
      <vt:lpstr>Poppins</vt:lpstr>
      <vt:lpstr>Inter Light</vt:lpstr>
      <vt:lpstr>Gradias Master</vt:lpstr>
      <vt:lpstr>thinkcell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Michael Burian</cp:lastModifiedBy>
  <cp:revision>27</cp:revision>
  <dcterms:created xsi:type="dcterms:W3CDTF">2026-08-12T10:49:41Z</dcterms:created>
  <dcterms:modified xsi:type="dcterms:W3CDTF">2026-09-12T08:12:40Z</dcterms:modified>
</cp:coreProperties>
</file>