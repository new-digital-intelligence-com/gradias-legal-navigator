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6" r:id="rId2"/>
    <p:sldId id="259" r:id="rId3"/>
  </p:sldIdLst>
  <p:sldSz cx="12192000" cy="6858000"/>
  <p:notesSz cx="6858000" cy="9144000"/>
  <p:embeddedFontLst>
    <p:embeddedFont>
      <p:font typeface="Inter" panose="020B0604020202020204" charset="0"/>
      <p:regular r:id="rId5"/>
      <p:bold r:id="rId6"/>
      <p:italic r:id="rId7"/>
      <p:boldItalic r:id="rId8"/>
    </p:embeddedFont>
    <p:embeddedFont>
      <p:font typeface="Inter Light" panose="020B0604020202020204" charset="0"/>
      <p:regular r:id="rId9"/>
      <p:bold r:id="rId10"/>
      <p:italic r:id="rId11"/>
      <p:boldItalic r:id="rId12"/>
    </p:embeddedFont>
    <p:embeddedFont>
      <p:font typeface="Montserrat SemiBold" panose="00000700000000000000" pitchFamily="2" charset="0"/>
      <p:regular r:id="rId13"/>
      <p:bold r:id="rId14"/>
      <p:italic r:id="rId15"/>
      <p:boldItalic r:id="rId16"/>
    </p:embeddedFont>
    <p:embeddedFont>
      <p:font typeface="Poppins" panose="00000500000000000000" pitchFamily="2" charset="0"/>
      <p:regular r:id="rId17"/>
      <p:bold r:id="rId18"/>
      <p:italic r:id="rId19"/>
      <p:boldItalic r:id="rId20"/>
    </p:embeddedFont>
  </p:embeddedFontLst>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5F4D372-1483-175D-CB42-E4E52CCBC817}" name="Michael Burian" initials="MB" userId="4f510493322dd37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44F5748-14AB-4321-BF65-A3762DE8F335}">
  <a:tblStyle styleId="{744F5748-14AB-4321-BF65-A3762DE8F33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D6115C50-24A0-4D59-AEF3-5AAAAD7ADC1F}"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82" y="37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font" Target="fonts/font13.fntdata"/><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font" Target="fonts/font12.fntdata"/><Relationship Id="rId20"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tableStyles" Target="tableStyles.xml"/><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theme" Target="theme/theme1.xml"/><Relationship Id="rId10" Type="http://schemas.openxmlformats.org/officeDocument/2006/relationships/font" Target="fonts/font6.fntdata"/><Relationship Id="rId19" Type="http://schemas.openxmlformats.org/officeDocument/2006/relationships/font" Target="fonts/font15.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a:lnSpc>
                <a:spcPct val="100000"/>
              </a:lnSpc>
              <a:spcBef>
                <a:spcPts val="0"/>
              </a:spcBef>
              <a:spcAft>
                <a:spcPts val="0"/>
              </a:spcAft>
              <a:buClr>
                <a:srgbClr val="000000"/>
              </a:buClr>
              <a:buSzPts val="1400"/>
              <a:buFont typeface="Arial"/>
              <a:buNone/>
            </a:pPr>
            <a:r>
              <a:t>Scope: teacher-facing AI assistance with exam evaluation. This slide summarises the accompanying country documents. It does not assert that GRADIAS currently meets all requirements. Requirements depend on the institution, qualification, actual use and applicable state or Land law. Reviewed 12 September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GERMANY</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GDPR: Articles 5, 6, 9, 22, 28, 32, 35 and 44–49. Removing names alone does not necessarily anonymise exam scripts.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https://eur-lex.europa.eu/legal-content/EN/TXT/?uri=CELEX:32016R0679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AI Act: Annex III 3(b), Article 6(3)–(4), recital 53, Articles 9–27 and 43–49. A limited retrospective check of a teacher's completed grading pattern can qualify under Article 6(3)(c), provided no significant risk and no profiling of natural persons, with the required documentation and applicable registration. Independently scoring identifiable students can constitute profiling. The label second opinion does not establish the exception.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https://eur-lex.europa.eu/eli/reg/2024/1689/oj/eng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Regulation (EU) 2026/1744 defers Chapter III Sections 1–3 (except Article 6(5)) for Annex III systems to 2 December 2027. Section 5 is not expressly deferred. Treat market-access timing separately. Literacy measures and the already applicable prohibited-practice and transparency rules remain relevant. See the Germany document for the transition provisions.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https://eur-lex.europa.eu/legal-content/EN/TXT/?uri=CELEX:32026R1744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Examination responsibility: applicable Land law and qualification rules. A statutory second human examiner cannot be replaced by an AI comparison.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https://www.bverwg.de/190516B6B1.16.0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UNITED STATES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FERPA: school-official exception requires an outsourced institutional function, direct control, legitimate educational interest and restricted use and redisclosure. Written contracts also follow applicable state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https://studentprivacy.ed.gov/ferpa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COPPA applies only within its operator and online collection scope for children under 13. Adult teacher uploads do not automatically trigger COPPA.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https://www.ecfr.gov/current/title-16/chapter-I/subchapter-C/part-312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Examples of state AI requirements: Oklahoma SB 1734 requires educator review and prohibits AI as the primary basis of grading. Colorado SB 26-189 duties for material influence on consequential decisions take effect 1 January 2027. Do not apply these examples as nationwide rules.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https://www.oklegislature.gov/cf_pdf/2025-26%20ENR/SB/SB1734%20ENR.PDF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UNITED KINGDOM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UK GDPR, including amended Articles 22A–22D: meaningful human involvement determines whether a decision is solely automated. Significant automated decisions require safeguards, with additional restrictions for special-category data. A teacher must act within the institution's authority.</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https://www.legislation.gov.uk/eur/2016/679/contents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https://www.legislation.gov.uk/ukpga/2025/18/contents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Ofqual regulates qualifications in England. AI cannot be the sole marker for those qualifications, while permitted quality assurance can support human marking. Scotland, Wales and Northern Ireland have separate qualification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https://www.gov.uk/government/publications/principles-of-ai-use-in-marking/principles-of-ai-use-in-marking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Equality Act 2010 applies in Great Britain. Northern Ireland has separate discrimination law, including the Disability Discrimination Act 1995 as amended by SENDO 2005.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https://www.legislation.gov.uk/ukpga/2010/15/contents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https://www.legislation.gov.uk/nisi/2005/1117/contents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Second-opinion use must also respect applicable confidentiality, copyright and examination permissions. The seven questions and concise answers appear only in the accompanying questions document.</a:t>
            </a:r>
            <a:endParaRPr sz="1200">
              <a:solidFill>
                <a:schemeClr val="dk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7B6E0-87AE-EF31-A7F7-D7C6A4657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423148-00A4-083F-DAEF-EE958019A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404619-FB22-E247-61FC-000971654DC7}"/>
              </a:ext>
            </a:extLst>
          </p:cNvPr>
          <p:cNvSpPr>
            <a:spLocks noGrp="1"/>
          </p:cNvSpPr>
          <p:nvPr>
            <p:ph type="body" idx="1"/>
          </p:nvPr>
        </p:nvSpPr>
        <p:spPr/>
        <p:txBody>
          <a:bodyPr/>
          <a:lstStyle/>
          <a:p>
            <a:pPr marL="457200" marR="0" lvl="0" indent="-228600" algn="l">
              <a:lnSpc>
                <a:spcPct val="100000"/>
              </a:lnSpc>
              <a:spcBef>
                <a:spcPts val="0"/>
              </a:spcBef>
              <a:spcAft>
                <a:spcPts val="0"/>
              </a:spcAft>
              <a:buClr>
                <a:srgbClr val="000000"/>
              </a:buClr>
              <a:buSzPts val="1400"/>
              <a:buFont typeface="Arial"/>
              <a:buNone/>
            </a:pPr>
            <a:r>
              <a:t>Scope: teacher-facing AI assistance with exam evaluation. This slide summarises the accompanying country documents. It does not assert that GRADIAS currently meets all requirements. Requirements depend on the institution, qualification, actual use and applicable state or Land law. Reviewed 12 September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GERMANY</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GDPR: Articles 5, 6, 9, 22, 28, 32, 35 and 44–49. Removing names alone does not necessarily anonymise exam scripts.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https://eur-lex.europa.eu/legal-content/EN/TXT/?uri=CELEX:32016R0679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AI Act: Annex III 3(b), Article 6(3)–(4), recital 53, Articles 9–27 and 43–49. A limited retrospective check of a teacher's completed grading pattern can qualify under Article 6(3)(c), provided no significant risk and no profiling of natural persons, with the required documentation and applicable registration. Independently scoring identifiable students can constitute profiling. The label second opinion does not establish the exception.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https://eur-lex.europa.eu/eli/reg/2024/1689/oj/eng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Regulation (EU) 2026/1744 defers Chapter III Sections 1–3 (except Article 6(5)) for Annex III systems to 2 December 2027. Section 5 is not expressly deferred. Treat market-access timing separately. Literacy measures and the already applicable prohibited-practice and transparency rules remain relevant. See the Germany document for the transition provisions.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https://eur-lex.europa.eu/legal-content/EN/TXT/?uri=CELEX:32026R1744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Examination responsibility: applicable Land law and qualification rules. A statutory second human examiner cannot be replaced by an AI comparison.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https://www.bverwg.de/190516B6B1.16.0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UNITED STATES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FERPA: school-official exception requires an outsourced institutional function, direct control, legitimate educational interest and restricted use and redisclosure. Written contracts also follow applicable state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https://studentprivacy.ed.gov/ferpa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COPPA applies only within its operator and online collection scope for children under 13. Adult teacher uploads do not automatically trigger COPPA.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https://www.ecfr.gov/current/title-16/chapter-I/subchapter-C/part-312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Examples of state AI requirements: Oklahoma SB 1734 requires educator review and prohibits AI as the primary basis of grading. Colorado SB 26-189 duties for material influence on consequential decisions take effect 1 January 2027. Do not apply these examples as nationwide rules.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https://www.oklegislature.gov/cf_pdf/2025-26%20ENR/SB/SB1734%20ENR.PDF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UNITED KINGDOM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UK GDPR, including amended Articles 22A–22D: meaningful human involvement determines whether a decision is solely automated. Significant automated decisions require safeguards, with additional restrictions for special-category data. A teacher must act within the institution's authority.</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https://www.legislation.gov.uk/eur/2016/679/contents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https://www.legislation.gov.uk/ukpga/2025/18/contents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Ofqual regulates qualifications in England. AI cannot be the sole marker for those qualifications, while permitted quality assurance can support human marking. Scotland, Wales and Northern Ireland have separate qualification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https://www.gov.uk/government/publications/principles-of-ai-use-in-marking/principles-of-ai-use-in-marking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Equality Act 2010 applies in Great Britain. Northern Ireland has separate discrimination law, including the Disability Discrimination Act 1995 as amended by SENDO 2005.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https://www.legislation.gov.uk/ukpga/2010/15/contents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https://www.legislation.gov.uk/nisi/2005/1117/contents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Second-opinion use must also respect applicable confidentiality, copyright and examination permissions. The seven questions and concise answers appear only in the accompanying questions document.</a:t>
            </a:r>
            <a:endParaRPr sz="1200">
              <a:solidFill>
                <a:schemeClr val="dk1"/>
              </a:solidFill>
              <a:latin typeface="Arial"/>
              <a:ea typeface="Arial"/>
              <a:cs typeface="Arial"/>
            </a:endParaRPr>
          </a:p>
        </p:txBody>
      </p:sp>
      <p:sp>
        <p:nvSpPr>
          <p:cNvPr id="4" name="Slide Number Placeholder 3">
            <a:extLst>
              <a:ext uri="{FF2B5EF4-FFF2-40B4-BE49-F238E27FC236}">
                <a16:creationId xmlns:a16="http://schemas.microsoft.com/office/drawing/2014/main" id="{D93ECF26-5C4D-82A8-72A4-F629B56D1DF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141854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1" preserve="1" userDrawn="1">
  <p:cSld name="Cover">
    <p:bg>
      <p:bgPr>
        <a:solidFill>
          <a:srgbClr val="89B4D6"/>
        </a:solidFill>
        <a:effectLst/>
      </p:bgPr>
    </p:bg>
    <p:spTree>
      <p:nvGrpSpPr>
        <p:cNvPr id="1" name=""/>
        <p:cNvGrpSpPr/>
        <p:nvPr/>
      </p:nvGrpSpPr>
      <p:grpSpPr>
        <a:xfrm>
          <a:off x="0" y="0"/>
          <a:ext cx="0" cy="0"/>
          <a:chOff x="0" y="0"/>
          <a:chExt cx="0" cy="0"/>
        </a:xfrm>
      </p:grpSpPr>
      <p:pic>
        <p:nvPicPr>
          <p:cNvPr id="2" name="Google Shape;93;p2"/>
          <p:cNvPicPr>
            <a:picLocks noChangeAspect="1"/>
          </p:cNvPicPr>
          <p:nvPr/>
        </p:nvPicPr>
        <p:blipFill rotWithShape="1">
          <a:blip r:embed="rId2">
            <a:alphaModFix amt="23000"/>
          </a:blip>
          <a:srcRect/>
          <a:stretch/>
        </p:blipFill>
        <p:spPr>
          <a:xfrm>
            <a:off x="3540262" y="-4983252"/>
            <a:ext cx="16824504" cy="16824504"/>
          </a:xfrm>
          <a:prstGeom prst="rect">
            <a:avLst/>
          </a:prstGeom>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1">
  <p:cSld name="Default Slide">
    <p:spTree>
      <p:nvGrpSpPr>
        <p:cNvPr id="1" name=""/>
        <p:cNvGrpSpPr/>
        <p:nvPr/>
      </p:nvGrpSpPr>
      <p:grpSpPr>
        <a:xfrm>
          <a:off x="0" y="0"/>
          <a:ext cx="0" cy="0"/>
          <a:chOff x="0" y="0"/>
          <a:chExt cx="0" cy="0"/>
        </a:xfrm>
      </p:grpSpPr>
      <p:sp>
        <p:nvSpPr>
          <p:cNvPr id="7" name="Google Shape;7;p43">
            <a:extLst>
              <a:ext uri="{FF2B5EF4-FFF2-40B4-BE49-F238E27FC236}">
                <a16:creationId xmlns:a16="http://schemas.microsoft.com/office/drawing/2014/main" id="{D69E13AB-9D1B-4442-95D3-0878429C9C40}"/>
              </a:ext>
            </a:extLst>
          </p:cNvPr>
          <p:cNvSpPr>
            <a:spLocks noGrp="1"/>
          </p:cNvSpPr>
          <p:nvPr>
            <p:ph type="body" idx="1"/>
          </p:nvPr>
        </p:nvSpPr>
        <p:spPr>
          <a:xfrm>
            <a:off x="330200" y="272235"/>
            <a:ext cx="11655300" cy="296100"/>
          </a:xfrm>
          <a:prstGeom prst="rect">
            <a:avLst/>
          </a:prstGeom>
          <a:noFill/>
          <a:ln>
            <a:noFill/>
          </a:ln>
        </p:spPr>
        <p:txBody>
          <a:bodyPr spcFirstLastPara="1" wrap="square" lIns="0" tIns="0" rIns="0" bIns="0" anchor="ctr">
            <a:noAutofit/>
          </a:bodyPr>
          <a:lstStyle>
            <a:lvl1pPr marL="457200" marR="0" indent="-228600" algn="l">
              <a:lnSpc>
                <a:spcPct val="100000"/>
              </a:lnSpc>
              <a:spcBef>
                <a:spcPts val="0"/>
              </a:spcBef>
              <a:spcAft>
                <a:spcPts val="0"/>
              </a:spcAft>
              <a:buClr>
                <a:srgbClr val="000000"/>
              </a:buClr>
              <a:buSzPts val="1400"/>
              <a:buFont typeface="Arial"/>
              <a:buNone/>
              <a:defRPr sz="1200" b="1" i="0" u="none" cap="none">
                <a:solidFill>
                  <a:srgbClr val="89B4D6"/>
                </a:solidFill>
                <a:latin typeface="Inter"/>
                <a:ea typeface="Inter"/>
                <a:cs typeface="Inter"/>
              </a:defRPr>
            </a:lvl1pPr>
            <a:lvl2pPr marL="914400" marR="0" indent="-228600" algn="l">
              <a:lnSpc>
                <a:spcPct val="100000"/>
              </a:lnSpc>
              <a:spcBef>
                <a:spcPts val="0"/>
              </a:spcBef>
              <a:spcAft>
                <a:spcPts val="0"/>
              </a:spcAft>
              <a:buClr>
                <a:srgbClr val="000000"/>
              </a:buClr>
              <a:buSzPts val="1400"/>
              <a:buFont typeface="Arial"/>
              <a:buNone/>
              <a:defRPr sz="1050" b="0" i="0" u="none" cap="none">
                <a:solidFill>
                  <a:srgbClr val="7F7F7F"/>
                </a:solidFill>
                <a:latin typeface="Arial"/>
                <a:ea typeface="Arial"/>
                <a:cs typeface="Arial"/>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a:endParaRPr/>
          </a:p>
        </p:txBody>
      </p:sp>
      <p:sp>
        <p:nvSpPr>
          <p:cNvPr id="8" name="Google Shape;8;p43">
            <a:extLst>
              <a:ext uri="{FF2B5EF4-FFF2-40B4-BE49-F238E27FC236}">
                <a16:creationId xmlns:a16="http://schemas.microsoft.com/office/drawing/2014/main" id="{CC783599-0657-43D6-9563-765FF7BD06FD}"/>
              </a:ext>
            </a:extLst>
          </p:cNvPr>
          <p:cNvSpPr>
            <a:spLocks noGrp="1"/>
          </p:cNvSpPr>
          <p:nvPr>
            <p:ph type="body" idx="2"/>
          </p:nvPr>
        </p:nvSpPr>
        <p:spPr>
          <a:xfrm>
            <a:off x="330200" y="626802"/>
            <a:ext cx="11655300" cy="847800"/>
          </a:xfrm>
          <a:prstGeom prst="rect">
            <a:avLst/>
          </a:prstGeom>
          <a:noFill/>
          <a:ln>
            <a:noFill/>
          </a:ln>
        </p:spPr>
        <p:txBody>
          <a:bodyPr spcFirstLastPara="1" wrap="square" lIns="0" tIns="0" rIns="0" bIns="0" anchor="ctr">
            <a:noAutofit/>
          </a:bodyPr>
          <a:lstStyle>
            <a:lvl1pPr marL="457200" marR="0" indent="-228600" algn="l">
              <a:lnSpc>
                <a:spcPct val="100000"/>
              </a:lnSpc>
              <a:spcBef>
                <a:spcPts val="0"/>
              </a:spcBef>
              <a:spcAft>
                <a:spcPts val="0"/>
              </a:spcAft>
              <a:buClr>
                <a:srgbClr val="000000"/>
              </a:buClr>
              <a:buSzPts val="1400"/>
              <a:buFont typeface="Arial"/>
              <a:buNone/>
              <a:defRPr sz="3000" b="1" i="0" u="none" cap="none">
                <a:solidFill>
                  <a:srgbClr val="0F172A"/>
                </a:solidFill>
                <a:latin typeface="Poppins"/>
                <a:ea typeface="Poppins"/>
                <a:cs typeface="Poppins"/>
              </a:defRPr>
            </a:lvl1pPr>
            <a:lvl2pPr marL="914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a:endParaRPr/>
          </a:p>
        </p:txBody>
      </p:sp>
      <p:sp>
        <p:nvSpPr>
          <p:cNvPr id="9" name="Google Shape;9;p43">
            <a:extLst>
              <a:ext uri="{FF2B5EF4-FFF2-40B4-BE49-F238E27FC236}">
                <a16:creationId xmlns:a16="http://schemas.microsoft.com/office/drawing/2014/main" id="{979C03F3-333E-4A56-9B47-A5B0F2544E90}"/>
              </a:ext>
            </a:extLst>
          </p:cNvPr>
          <p:cNvSpPr>
            <a:spLocks noGrp="1"/>
          </p:cNvSpPr>
          <p:nvPr>
            <p:ph type="body" idx="3"/>
          </p:nvPr>
        </p:nvSpPr>
        <p:spPr>
          <a:xfrm>
            <a:off x="330199" y="1833756"/>
            <a:ext cx="11655300" cy="4258200"/>
          </a:xfrm>
          <a:prstGeom prst="rect">
            <a:avLst/>
          </a:prstGeom>
          <a:noFill/>
          <a:ln>
            <a:noFill/>
          </a:ln>
        </p:spPr>
        <p:txBody>
          <a:bodyPr spcFirstLastPara="1" wrap="square" lIns="91425" tIns="91425" rIns="91425" bIns="91425" anchor="t">
            <a:normAutofit/>
          </a:bodyPr>
          <a:lstStyle>
            <a:lvl1pPr marL="457200" marR="0" indent="-342900" algn="l">
              <a:lnSpc>
                <a:spcPct val="115000"/>
              </a:lnSpc>
              <a:spcBef>
                <a:spcPts val="0"/>
              </a:spcBef>
              <a:spcAft>
                <a:spcPts val="0"/>
              </a:spcAft>
              <a:buClr>
                <a:srgbClr val="0070C0"/>
              </a:buClr>
              <a:buSzPts val="1800"/>
              <a:buFont typeface="Arial"/>
              <a:buChar char="●"/>
              <a:defRPr sz="1600" b="0" i="0" u="none" cap="none">
                <a:solidFill>
                  <a:srgbClr val="000000"/>
                </a:solidFill>
                <a:latin typeface="Arial"/>
                <a:ea typeface="Arial"/>
                <a:cs typeface="Arial"/>
              </a:defRPr>
            </a:lvl1pPr>
            <a:lvl2pPr marL="9144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6pPr>
            <a:lvl7pPr marL="32004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7pPr>
            <a:lvl8pPr marL="36576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8pPr>
            <a:lvl9pPr marL="41148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9pPr>
          </a:lstStyle>
          <a:p>
            <a:endParaRPr/>
          </a:p>
        </p:txBody>
      </p:sp>
      <p:pic>
        <p:nvPicPr>
          <p:cNvPr id="14" name="Google Shape;10;p43"/>
          <p:cNvPicPr>
            <a:picLocks noChangeAspect="1"/>
          </p:cNvPicPr>
          <p:nvPr/>
        </p:nvPicPr>
        <p:blipFill rotWithShape="1">
          <a:blip r:embed="rId2">
            <a:alphaModFix/>
          </a:blip>
          <a:srcRect l="17291" t="28026" r="16180" b="30886"/>
          <a:stretch/>
        </p:blipFill>
        <p:spPr>
          <a:xfrm>
            <a:off x="11032066" y="6415406"/>
            <a:ext cx="1032934" cy="340717"/>
          </a:xfrm>
          <a:prstGeom prst="rect">
            <a:avLst/>
          </a:prstGeom>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1" preserve="1" userDrawn="1">
  <p:cSld name="Divider Page">
    <p:spTree>
      <p:nvGrpSpPr>
        <p:cNvPr id="1" name=""/>
        <p:cNvGrpSpPr/>
        <p:nvPr/>
      </p:nvGrpSpPr>
      <p:grpSpPr>
        <a:xfrm>
          <a:off x="0" y="0"/>
          <a:ext cx="0" cy="0"/>
          <a:chOff x="0" y="0"/>
          <a:chExt cx="0" cy="0"/>
        </a:xfrm>
      </p:grpSpPr>
      <p:pic>
        <p:nvPicPr>
          <p:cNvPr id="9" name="Google Shape;10;p43"/>
          <p:cNvPicPr>
            <a:picLocks noChangeAspect="1"/>
          </p:cNvPicPr>
          <p:nvPr/>
        </p:nvPicPr>
        <p:blipFill rotWithShape="1">
          <a:blip r:embed="rId2">
            <a:alphaModFix/>
          </a:blip>
          <a:srcRect l="17291" t="28026" r="16180" b="30886"/>
          <a:stretch/>
        </p:blipFill>
        <p:spPr>
          <a:xfrm>
            <a:off x="11032066" y="6415406"/>
            <a:ext cx="1032934" cy="340717"/>
          </a:xfrm>
          <a:prstGeom prst="rect">
            <a:avLst/>
          </a:prstGeom>
          <a:ln>
            <a:noFill/>
          </a:ln>
        </p:spPr>
      </p:pic>
      <p:sp>
        <p:nvSpPr>
          <p:cNvPr id="3" name="Google Shape;598;p23">
            <a:extLst>
              <a:ext uri="{FF2B5EF4-FFF2-40B4-BE49-F238E27FC236}">
                <a16:creationId xmlns:a16="http://schemas.microsoft.com/office/drawing/2014/main" id="{33F2048B-42B8-87D3-6EA7-46420BEE8E8F}"/>
              </a:ext>
            </a:extLst>
          </p:cNvPr>
          <p:cNvSpPr>
            <a:spLocks noGrp="1"/>
          </p:cNvSpPr>
          <p:nvPr/>
        </p:nvSpPr>
        <p:spPr>
          <a:xfrm>
            <a:off x="1" y="1"/>
            <a:ext cx="12192000" cy="6858000"/>
          </a:xfrm>
          <a:prstGeom prst="rect">
            <a:avLst/>
          </a:prstGeom>
          <a:solidFill>
            <a:srgbClr val="5594CF"/>
          </a:solidFill>
          <a:ln>
            <a:noFill/>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Calibri"/>
              <a:ea typeface="Calibri"/>
              <a:cs typeface="Calibri"/>
            </a:endParaRPr>
          </a:p>
        </p:txBody>
      </p:sp>
      <p:sp>
        <p:nvSpPr>
          <p:cNvPr id="4" name="Google Shape;599;p23">
            <a:extLst>
              <a:ext uri="{FF2B5EF4-FFF2-40B4-BE49-F238E27FC236}">
                <a16:creationId xmlns:a16="http://schemas.microsoft.com/office/drawing/2014/main" id="{36272CB6-52A3-2AD4-E10A-B15939BEC421}"/>
              </a:ext>
            </a:extLst>
          </p:cNvPr>
          <p:cNvSpPr>
            <a:spLocks noGrp="1"/>
          </p:cNvSpPr>
          <p:nvPr/>
        </p:nvSpPr>
        <p:spPr>
          <a:xfrm>
            <a:off x="1" y="5468341"/>
            <a:ext cx="12191999" cy="369332"/>
          </a:xfrm>
          <a:prstGeom prst="rect">
            <a:avLst/>
          </a:prstGeom>
          <a:noFill/>
          <a:ln>
            <a:noFill/>
          </a:ln>
        </p:spPr>
        <p:txBody>
          <a:bodyPr spcFirstLastPara="1" wrap="square" lIns="91425" tIns="45700" rIns="91425" bIns="45700" anchor="t">
            <a:spAutoFit/>
          </a:bodyPr>
          <a:lstStyle/>
          <a:p>
            <a:pPr marL="0" marR="0" lvl="0" indent="0" algn="ctr">
              <a:spcBef>
                <a:spcPts val="0"/>
              </a:spcBef>
              <a:spcAft>
                <a:spcPts val="0"/>
              </a:spcAft>
              <a:buNone/>
            </a:pPr>
            <a:r>
              <a:rPr sz="1800">
                <a:solidFill>
                  <a:schemeClr val="lt1"/>
                </a:solidFill>
                <a:latin typeface="Inter Light"/>
                <a:ea typeface="Inter Light"/>
                <a:cs typeface="Inter Light"/>
              </a:rPr>
              <a:t>app.gradias.ai | gradias.ai</a:t>
            </a:r>
          </a:p>
        </p:txBody>
      </p:sp>
      <p:sp>
        <p:nvSpPr>
          <p:cNvPr id="6" name="Google Shape;601;p23">
            <a:extLst>
              <a:ext uri="{FF2B5EF4-FFF2-40B4-BE49-F238E27FC236}">
                <a16:creationId xmlns:a16="http://schemas.microsoft.com/office/drawing/2014/main" id="{317D7568-7BEB-3E6C-345E-26CD824CABAC}"/>
              </a:ext>
            </a:extLst>
          </p:cNvPr>
          <p:cNvSpPr>
            <a:spLocks noGrp="1"/>
          </p:cNvSpPr>
          <p:nvPr/>
        </p:nvSpPr>
        <p:spPr>
          <a:xfrm>
            <a:off x="4112895" y="4146923"/>
            <a:ext cx="3966210" cy="1200329"/>
          </a:xfrm>
          <a:prstGeom prst="rect">
            <a:avLst/>
          </a:prstGeom>
          <a:noFill/>
          <a:ln>
            <a:noFill/>
          </a:ln>
        </p:spPr>
        <p:txBody>
          <a:bodyPr spcFirstLastPara="1" wrap="square" lIns="91425" tIns="45700" rIns="91425" bIns="45700" anchor="t">
            <a:spAutoFit/>
          </a:bodyPr>
          <a:lstStyle/>
          <a:p>
            <a:pPr marL="0" marR="0" lvl="0" indent="0" algn="l">
              <a:spcBef>
                <a:spcPts val="0"/>
              </a:spcBef>
              <a:spcAft>
                <a:spcPts val="0"/>
              </a:spcAft>
              <a:buNone/>
            </a:pPr>
            <a:r>
              <a:rPr sz="7200" b="1">
                <a:solidFill>
                  <a:schemeClr val="lt1"/>
                </a:solidFill>
                <a:latin typeface="Poppins"/>
                <a:ea typeface="Poppins"/>
                <a:cs typeface="Poppins"/>
              </a:rPr>
              <a:t>gradias</a:t>
            </a:r>
          </a:p>
        </p:txBody>
      </p:sp>
      <p:pic>
        <p:nvPicPr>
          <p:cNvPr id="13" name="Google Shape;602;p23"/>
          <p:cNvPicPr>
            <a:picLocks noChangeAspect="1"/>
          </p:cNvPicPr>
          <p:nvPr/>
        </p:nvPicPr>
        <p:blipFill rotWithShape="1">
          <a:blip r:embed="rId3">
            <a:alphaModFix/>
          </a:blip>
          <a:srcRect/>
          <a:stretch/>
        </p:blipFill>
        <p:spPr>
          <a:xfrm>
            <a:off x="4003729" y="883404"/>
            <a:ext cx="4184542" cy="4184542"/>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Google Shape;277;p9">
            <a:extLst>
              <a:ext uri="{FF2B5EF4-FFF2-40B4-BE49-F238E27FC236}">
                <a16:creationId xmlns:a16="http://schemas.microsoft.com/office/drawing/2014/main" id="{42503814-A4B8-443E-8D24-AF5979063D62}"/>
              </a:ext>
            </a:extLst>
          </p:cNvPr>
          <p:cNvSpPr>
            <a:spLocks noGrp="1"/>
          </p:cNvSpPr>
          <p:nvPr>
            <p:ph type="body" idx="1"/>
          </p:nvPr>
        </p:nvSpPr>
        <p:spPr>
          <a:xfrm>
            <a:off x="330200" y="272288"/>
            <a:ext cx="11655298" cy="296037"/>
          </a:xfrm>
          <a:prstGeom prst="rect">
            <a:avLst/>
          </a:prstGeom>
          <a:noFill/>
          <a:ln>
            <a:noFill/>
          </a:ln>
        </p:spPr>
        <p:txBody>
          <a:bodyPr spcFirstLastPara="1" wrap="square" lIns="19050" tIns="0" rIns="19050" bIns="0" anchor="ctr">
            <a:noAutofit/>
          </a:bodyPr>
          <a:lstStyle/>
          <a:p>
            <a:pPr marL="90487" marR="0" lvl="0" indent="-90487" algn="l">
              <a:lnSpc>
                <a:spcPct val="100000"/>
              </a:lnSpc>
              <a:spcBef>
                <a:spcPts val="0"/>
              </a:spcBef>
              <a:spcAft>
                <a:spcPts val="0"/>
              </a:spcAft>
              <a:buSzPts val="1400"/>
              <a:buNone/>
              <a:defRPr sz="1275" b="1">
                <a:solidFill>
                  <a:srgbClr val="009CD2"/>
                </a:solidFill>
                <a:latin typeface="Arial"/>
                <a:ea typeface="Arial"/>
                <a:cs typeface="Arial"/>
              </a:defRPr>
            </a:pPr>
            <a:r>
              <a:rPr sz="1275" b="1">
                <a:solidFill>
                  <a:srgbClr val="009CD2"/>
                </a:solidFill>
                <a:latin typeface="Arial"/>
                <a:ea typeface="Arial"/>
                <a:cs typeface="Arial"/>
              </a:rPr>
              <a:t>Legal and regulatory requirements</a:t>
            </a:r>
            <a:endParaRPr>
              <a:solidFill>
                <a:srgbClr val="1190CB"/>
              </a:solidFill>
              <a:latin typeface="Montserrat SemiBold"/>
              <a:ea typeface="Montserrat SemiBold"/>
              <a:cs typeface="Montserrat SemiBold"/>
            </a:endParaRPr>
          </a:p>
        </p:txBody>
      </p:sp>
      <p:sp>
        <p:nvSpPr>
          <p:cNvPr id="5" name="Text Placeholder 4">
            <a:extLst>
              <a:ext uri="{FF2B5EF4-FFF2-40B4-BE49-F238E27FC236}">
                <a16:creationId xmlns:a16="http://schemas.microsoft.com/office/drawing/2014/main" id="{E5873CC2-2996-1BF5-9EB9-FD6BD621AAAB}"/>
              </a:ext>
            </a:extLst>
          </p:cNvPr>
          <p:cNvSpPr>
            <a:spLocks noGrp="1"/>
          </p:cNvSpPr>
          <p:nvPr>
            <p:ph type="body" idx="2"/>
          </p:nvPr>
        </p:nvSpPr>
        <p:spPr>
          <a:xfrm>
            <a:off x="330200" y="626745"/>
            <a:ext cx="11655298" cy="847852"/>
          </a:xfrm>
        </p:spPr>
        <p:txBody>
          <a:bodyPr wrap="square" lIns="0" tIns="0" rIns="38100" bIns="0" anchor="ctr">
            <a:noAutofit/>
          </a:bodyPr>
          <a:lstStyle/>
          <a:p>
            <a:pPr marL="0" indent="0" algn="l">
              <a:buNone/>
              <a:defRPr sz="2700" b="1">
                <a:solidFill>
                  <a:srgbClr val="121A2E"/>
                </a:solidFill>
                <a:latin typeface="Arial"/>
                <a:ea typeface="Arial"/>
                <a:cs typeface="Arial"/>
              </a:defRPr>
            </a:pPr>
            <a:r>
              <a:rPr sz="2700" b="1" dirty="0">
                <a:solidFill>
                  <a:srgbClr val="121A2E"/>
                </a:solidFill>
                <a:latin typeface="Arial"/>
                <a:ea typeface="Arial"/>
                <a:cs typeface="Arial"/>
              </a:rPr>
              <a:t>AI grading </a:t>
            </a:r>
            <a:r>
              <a:rPr lang="en-GB" sz="2700" b="1" dirty="0">
                <a:solidFill>
                  <a:srgbClr val="121A2E"/>
                </a:solidFill>
                <a:latin typeface="Arial"/>
                <a:ea typeface="Arial"/>
                <a:cs typeface="Arial"/>
              </a:rPr>
              <a:t>is subject to various data privacy and AI related laws, constantly evolving but with repeating patterns of requirements and in general allow such services to be provided</a:t>
            </a:r>
            <a:endParaRPr sz="2700" b="1" dirty="0">
              <a:solidFill>
                <a:srgbClr val="121A2E"/>
              </a:solidFill>
              <a:latin typeface="Arial"/>
              <a:ea typeface="Arial"/>
              <a:cs typeface="Arial"/>
            </a:endParaRPr>
          </a:p>
        </p:txBody>
      </p:sp>
      <p:sp>
        <p:nvSpPr>
          <p:cNvPr id="279" name="Google Shape;279;p9">
            <a:extLst>
              <a:ext uri="{FF2B5EF4-FFF2-40B4-BE49-F238E27FC236}">
                <a16:creationId xmlns:a16="http://schemas.microsoft.com/office/drawing/2014/main" id="{08DC22B0-B55D-4D88-AFCE-7E844EEB7818}"/>
              </a:ext>
            </a:extLst>
          </p:cNvPr>
          <p:cNvSpPr>
            <a:spLocks noGrp="1"/>
          </p:cNvSpPr>
          <p:nvPr/>
        </p:nvSpPr>
        <p:spPr>
          <a:xfrm>
            <a:off x="330200" y="1957600"/>
            <a:ext cx="3690693" cy="519758"/>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Germany</a:t>
            </a:r>
            <a:endParaRPr sz="1400" b="0" i="0" u="none" cap="none">
              <a:solidFill>
                <a:srgbClr val="FFFFFF"/>
              </a:solidFill>
              <a:latin typeface="Arial"/>
              <a:ea typeface="Arial"/>
              <a:cs typeface="Arial"/>
            </a:endParaRPr>
          </a:p>
        </p:txBody>
      </p:sp>
      <p:sp>
        <p:nvSpPr>
          <p:cNvPr id="280" name="Google Shape;280;p9">
            <a:extLst>
              <a:ext uri="{FF2B5EF4-FFF2-40B4-BE49-F238E27FC236}">
                <a16:creationId xmlns:a16="http://schemas.microsoft.com/office/drawing/2014/main" id="{59222012-9FB4-4234-AECC-6780B8101733}"/>
              </a:ext>
            </a:extLst>
          </p:cNvPr>
          <p:cNvSpPr>
            <a:spLocks noGrp="1"/>
          </p:cNvSpPr>
          <p:nvPr/>
        </p:nvSpPr>
        <p:spPr>
          <a:xfrm>
            <a:off x="330200" y="2477357"/>
            <a:ext cx="3690600" cy="3753897"/>
          </a:xfrm>
          <a:prstGeom prst="rect">
            <a:avLst/>
          </a:prstGeom>
          <a:noFill/>
          <a:ln w="9525" cmpd="sng">
            <a:solidFill>
              <a:srgbClr val="1C3052"/>
            </a:solidFill>
            <a:prstDash val="solid"/>
            <a:headEnd type="none" w="sm" len="sm"/>
            <a:tailEnd type="none" w="sm" len="sm"/>
          </a:ln>
        </p:spPr>
        <p:txBody>
          <a:bodyPr spcFirstLastPara="1" wrap="square" lIns="133350" tIns="114300" rIns="133350" bIns="76200" anchor="t">
            <a:noAutofit/>
          </a:bodyPr>
          <a:lstStyle/>
          <a:p>
            <a:pPr marL="0" indent="0" algn="l">
              <a:lnSpc>
                <a:spcPct val="105000"/>
              </a:lnSpc>
              <a:spcAft>
                <a:spcPts val="360"/>
              </a:spcAft>
              <a:buNone/>
              <a:defRPr sz="1425" b="0">
                <a:solidFill>
                  <a:srgbClr val="121A2E"/>
                </a:solidFill>
                <a:latin typeface="Arial"/>
                <a:ea typeface="Arial"/>
                <a:cs typeface="Arial"/>
              </a:defRPr>
            </a:pPr>
            <a:r>
              <a:rPr sz="1425" b="1" dirty="0">
                <a:solidFill>
                  <a:srgbClr val="121A2E"/>
                </a:solidFill>
                <a:latin typeface="Arial"/>
                <a:ea typeface="Arial"/>
                <a:cs typeface="Arial"/>
              </a:rPr>
              <a:t>GDPR: </a:t>
            </a:r>
            <a:r>
              <a:rPr sz="1425" b="0" dirty="0">
                <a:solidFill>
                  <a:srgbClr val="121A2E"/>
                </a:solidFill>
                <a:latin typeface="Arial"/>
                <a:ea typeface="Arial"/>
                <a:cs typeface="Arial"/>
              </a:rPr>
              <a:t>Lawful basis, processor terms, security and a DPIA where required.</a:t>
            </a:r>
          </a:p>
          <a:p>
            <a:pPr marL="0" indent="0" algn="l">
              <a:lnSpc>
                <a:spcPct val="105000"/>
              </a:lnSpc>
              <a:spcAft>
                <a:spcPts val="360"/>
              </a:spcAft>
              <a:buNone/>
              <a:defRPr sz="1425" b="0">
                <a:solidFill>
                  <a:srgbClr val="121A2E"/>
                </a:solidFill>
                <a:latin typeface="Arial"/>
                <a:ea typeface="Arial"/>
                <a:cs typeface="Arial"/>
              </a:defRPr>
            </a:pPr>
            <a:r>
              <a:rPr sz="1425" b="1" dirty="0">
                <a:solidFill>
                  <a:srgbClr val="121A2E"/>
                </a:solidFill>
                <a:latin typeface="Arial"/>
                <a:ea typeface="Arial"/>
                <a:cs typeface="Arial"/>
              </a:rPr>
              <a:t>EU AI Act: </a:t>
            </a:r>
            <a:r>
              <a:rPr sz="1425" b="0" dirty="0">
                <a:solidFill>
                  <a:srgbClr val="121A2E"/>
                </a:solidFill>
                <a:latin typeface="Arial"/>
                <a:ea typeface="Arial"/>
                <a:cs typeface="Arial"/>
              </a:rPr>
              <a:t>Classify the system. Fulfil applicable risk, oversight and conformity duties.</a:t>
            </a:r>
          </a:p>
          <a:p>
            <a:pPr marL="0" indent="0" algn="l">
              <a:lnSpc>
                <a:spcPct val="105000"/>
              </a:lnSpc>
              <a:spcAft>
                <a:spcPts val="0"/>
              </a:spcAft>
              <a:buNone/>
              <a:defRPr sz="1425" b="0">
                <a:solidFill>
                  <a:srgbClr val="121A2E"/>
                </a:solidFill>
                <a:latin typeface="Arial"/>
                <a:ea typeface="Arial"/>
                <a:cs typeface="Arial"/>
              </a:defRPr>
            </a:pPr>
            <a:r>
              <a:rPr sz="1425" b="1" dirty="0">
                <a:solidFill>
                  <a:srgbClr val="121A2E"/>
                </a:solidFill>
                <a:latin typeface="Arial"/>
                <a:ea typeface="Arial"/>
                <a:cs typeface="Arial"/>
              </a:rPr>
              <a:t>Examination law: </a:t>
            </a:r>
            <a:r>
              <a:rPr sz="1425" b="0" dirty="0">
                <a:solidFill>
                  <a:srgbClr val="121A2E"/>
                </a:solidFill>
                <a:latin typeface="Arial"/>
                <a:ea typeface="Arial"/>
                <a:cs typeface="Arial"/>
              </a:rPr>
              <a:t>Preserve the examiner’s own judgment and review process.</a:t>
            </a:r>
          </a:p>
        </p:txBody>
      </p:sp>
      <p:sp>
        <p:nvSpPr>
          <p:cNvPr id="281" name="Google Shape;281;p9">
            <a:extLst>
              <a:ext uri="{FF2B5EF4-FFF2-40B4-BE49-F238E27FC236}">
                <a16:creationId xmlns:a16="http://schemas.microsoft.com/office/drawing/2014/main" id="{05E489CA-D589-4F06-B6CE-EA2E505D389D}"/>
              </a:ext>
            </a:extLst>
          </p:cNvPr>
          <p:cNvSpPr>
            <a:spLocks noGrp="1"/>
          </p:cNvSpPr>
          <p:nvPr/>
        </p:nvSpPr>
        <p:spPr>
          <a:xfrm>
            <a:off x="4109488" y="1957600"/>
            <a:ext cx="3690693" cy="519758"/>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United States</a:t>
            </a:r>
            <a:endParaRPr sz="1400" b="0" i="0" u="none" cap="none">
              <a:solidFill>
                <a:srgbClr val="FFFFFF"/>
              </a:solidFill>
              <a:latin typeface="Arial"/>
              <a:ea typeface="Arial"/>
              <a:cs typeface="Arial"/>
            </a:endParaRPr>
          </a:p>
        </p:txBody>
      </p:sp>
      <p:sp>
        <p:nvSpPr>
          <p:cNvPr id="282" name="Google Shape;282;p9">
            <a:extLst>
              <a:ext uri="{FF2B5EF4-FFF2-40B4-BE49-F238E27FC236}">
                <a16:creationId xmlns:a16="http://schemas.microsoft.com/office/drawing/2014/main" id="{B7238CC7-5973-4107-A0F6-D21F3177A033}"/>
              </a:ext>
            </a:extLst>
          </p:cNvPr>
          <p:cNvSpPr>
            <a:spLocks noGrp="1"/>
          </p:cNvSpPr>
          <p:nvPr/>
        </p:nvSpPr>
        <p:spPr>
          <a:xfrm>
            <a:off x="7888776" y="1957600"/>
            <a:ext cx="3690693" cy="519758"/>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United Kingdom</a:t>
            </a:r>
            <a:endParaRPr sz="1400" b="0" i="0" u="none" cap="none">
              <a:solidFill>
                <a:srgbClr val="FFFFFF"/>
              </a:solidFill>
              <a:latin typeface="Arial"/>
              <a:ea typeface="Arial"/>
              <a:cs typeface="Arial"/>
            </a:endParaRPr>
          </a:p>
        </p:txBody>
      </p:sp>
      <p:sp>
        <p:nvSpPr>
          <p:cNvPr id="283" name="Google Shape;283;p9">
            <a:extLst>
              <a:ext uri="{FF2B5EF4-FFF2-40B4-BE49-F238E27FC236}">
                <a16:creationId xmlns:a16="http://schemas.microsoft.com/office/drawing/2014/main" id="{033FC2E4-5152-4F31-8D2A-55ABD1D81FA3}"/>
              </a:ext>
            </a:extLst>
          </p:cNvPr>
          <p:cNvSpPr>
            <a:spLocks noGrp="1"/>
          </p:cNvSpPr>
          <p:nvPr/>
        </p:nvSpPr>
        <p:spPr>
          <a:xfrm>
            <a:off x="4109488" y="2477357"/>
            <a:ext cx="3690600" cy="3753897"/>
          </a:xfrm>
          <a:prstGeom prst="rect">
            <a:avLst/>
          </a:prstGeom>
          <a:noFill/>
          <a:ln w="9525" cmpd="sng">
            <a:solidFill>
              <a:srgbClr val="1C3052"/>
            </a:solidFill>
            <a:prstDash val="solid"/>
            <a:headEnd type="none" w="sm" len="sm"/>
            <a:tailEnd type="none" w="sm" len="sm"/>
          </a:ln>
        </p:spPr>
        <p:txBody>
          <a:bodyPr spcFirstLastPara="1" wrap="square" lIns="133350" tIns="114300" rIns="133350" bIns="76200" anchor="t">
            <a:noAutofit/>
          </a:bodyPr>
          <a:lstStyle/>
          <a:p>
            <a:pPr marL="0" indent="0" algn="l">
              <a:lnSpc>
                <a:spcPct val="105000"/>
              </a:lnSpc>
              <a:spcAft>
                <a:spcPts val="360"/>
              </a:spcAft>
              <a:buNone/>
              <a:defRPr sz="1425" b="0">
                <a:solidFill>
                  <a:srgbClr val="121A2E"/>
                </a:solidFill>
                <a:latin typeface="Arial"/>
                <a:ea typeface="Arial"/>
                <a:cs typeface="Arial"/>
              </a:defRPr>
            </a:pPr>
            <a:r>
              <a:rPr sz="1425" b="1">
                <a:solidFill>
                  <a:srgbClr val="121A2E"/>
                </a:solidFill>
                <a:latin typeface="Arial"/>
                <a:ea typeface="Arial"/>
                <a:cs typeface="Arial"/>
              </a:rPr>
              <a:t>FERPA: </a:t>
            </a:r>
            <a:r>
              <a:rPr sz="1425" b="0">
                <a:solidFill>
                  <a:srgbClr val="121A2E"/>
                </a:solidFill>
                <a:latin typeface="Arial"/>
                <a:ea typeface="Arial"/>
                <a:cs typeface="Arial"/>
              </a:rPr>
              <a:t>Satisfy disclosure conditions and retain school control over student records.</a:t>
            </a:r>
          </a:p>
          <a:p>
            <a:pPr marL="0" indent="0" algn="l">
              <a:lnSpc>
                <a:spcPct val="105000"/>
              </a:lnSpc>
              <a:spcAft>
                <a:spcPts val="360"/>
              </a:spcAft>
              <a:buNone/>
              <a:defRPr sz="1425" b="0">
                <a:solidFill>
                  <a:srgbClr val="121A2E"/>
                </a:solidFill>
                <a:latin typeface="Arial"/>
                <a:ea typeface="Arial"/>
                <a:cs typeface="Arial"/>
              </a:defRPr>
            </a:pPr>
            <a:r>
              <a:rPr sz="1425" b="1">
                <a:solidFill>
                  <a:srgbClr val="121A2E"/>
                </a:solidFill>
                <a:latin typeface="Arial"/>
                <a:ea typeface="Arial"/>
                <a:cs typeface="Arial"/>
              </a:rPr>
              <a:t>State privacy laws: </a:t>
            </a:r>
            <a:r>
              <a:rPr sz="1425" b="0">
                <a:solidFill>
                  <a:srgbClr val="121A2E"/>
                </a:solidFill>
                <a:latin typeface="Arial"/>
                <a:ea typeface="Arial"/>
                <a:cs typeface="Arial"/>
              </a:rPr>
              <a:t>Restrict data use. Meet security, contract and deletion rules.</a:t>
            </a:r>
          </a:p>
          <a:p>
            <a:pPr marL="0" indent="0" algn="l">
              <a:lnSpc>
                <a:spcPct val="105000"/>
              </a:lnSpc>
              <a:spcAft>
                <a:spcPts val="0"/>
              </a:spcAft>
              <a:buNone/>
              <a:defRPr sz="1425" b="0">
                <a:solidFill>
                  <a:srgbClr val="121A2E"/>
                </a:solidFill>
                <a:latin typeface="Arial"/>
                <a:ea typeface="Arial"/>
                <a:cs typeface="Arial"/>
              </a:defRPr>
            </a:pPr>
            <a:r>
              <a:rPr sz="1425" b="1">
                <a:solidFill>
                  <a:srgbClr val="121A2E"/>
                </a:solidFill>
                <a:latin typeface="Arial"/>
                <a:ea typeface="Arial"/>
                <a:cs typeface="Arial"/>
              </a:rPr>
              <a:t>AI and child privacy: </a:t>
            </a:r>
            <a:r>
              <a:rPr sz="1425" b="0">
                <a:solidFill>
                  <a:srgbClr val="121A2E"/>
                </a:solidFill>
                <a:latin typeface="Arial"/>
                <a:ea typeface="Arial"/>
                <a:cs typeface="Arial"/>
              </a:rPr>
              <a:t>Apply triggered state AI duties and COPPA requirements.</a:t>
            </a:r>
          </a:p>
        </p:txBody>
      </p:sp>
      <p:sp>
        <p:nvSpPr>
          <p:cNvPr id="284" name="Google Shape;284;p9">
            <a:extLst>
              <a:ext uri="{FF2B5EF4-FFF2-40B4-BE49-F238E27FC236}">
                <a16:creationId xmlns:a16="http://schemas.microsoft.com/office/drawing/2014/main" id="{70F4B0DD-CC06-445A-81AB-962000F8FF76}"/>
              </a:ext>
            </a:extLst>
          </p:cNvPr>
          <p:cNvSpPr>
            <a:spLocks noGrp="1"/>
          </p:cNvSpPr>
          <p:nvPr/>
        </p:nvSpPr>
        <p:spPr>
          <a:xfrm>
            <a:off x="7888776" y="2477357"/>
            <a:ext cx="3690600" cy="3753897"/>
          </a:xfrm>
          <a:prstGeom prst="rect">
            <a:avLst/>
          </a:prstGeom>
          <a:noFill/>
          <a:ln w="9525" cmpd="sng">
            <a:solidFill>
              <a:srgbClr val="1C3052"/>
            </a:solidFill>
            <a:prstDash val="solid"/>
            <a:headEnd type="none" w="sm" len="sm"/>
            <a:tailEnd type="none" w="sm" len="sm"/>
          </a:ln>
        </p:spPr>
        <p:txBody>
          <a:bodyPr spcFirstLastPara="1" wrap="square" lIns="133350" tIns="114300" rIns="133350" bIns="76200" anchor="t">
            <a:noAutofit/>
          </a:bodyPr>
          <a:lstStyle/>
          <a:p>
            <a:pPr marL="0" indent="0" algn="l">
              <a:lnSpc>
                <a:spcPct val="105000"/>
              </a:lnSpc>
              <a:spcAft>
                <a:spcPts val="360"/>
              </a:spcAft>
              <a:buNone/>
              <a:defRPr sz="1425" b="0">
                <a:solidFill>
                  <a:srgbClr val="121A2E"/>
                </a:solidFill>
                <a:latin typeface="Arial"/>
                <a:ea typeface="Arial"/>
                <a:cs typeface="Arial"/>
              </a:defRPr>
            </a:pPr>
            <a:r>
              <a:rPr sz="1425" b="1">
                <a:solidFill>
                  <a:srgbClr val="121A2E"/>
                </a:solidFill>
                <a:latin typeface="Arial"/>
                <a:ea typeface="Arial"/>
                <a:cs typeface="Arial"/>
              </a:rPr>
              <a:t>UK GDPR: </a:t>
            </a:r>
            <a:r>
              <a:rPr sz="1425" b="0">
                <a:solidFill>
                  <a:srgbClr val="121A2E"/>
                </a:solidFill>
                <a:latin typeface="Arial"/>
                <a:ea typeface="Arial"/>
                <a:cs typeface="Arial"/>
              </a:rPr>
              <a:t>Lawful basis, processor terms, risk assessment and decision safeguards.</a:t>
            </a:r>
          </a:p>
          <a:p>
            <a:pPr marL="0" indent="0" algn="l">
              <a:lnSpc>
                <a:spcPct val="105000"/>
              </a:lnSpc>
              <a:spcAft>
                <a:spcPts val="360"/>
              </a:spcAft>
              <a:buNone/>
              <a:defRPr sz="1425" b="0">
                <a:solidFill>
                  <a:srgbClr val="121A2E"/>
                </a:solidFill>
                <a:latin typeface="Arial"/>
                <a:ea typeface="Arial"/>
                <a:cs typeface="Arial"/>
              </a:defRPr>
            </a:pPr>
            <a:r>
              <a:rPr sz="1425" b="1">
                <a:solidFill>
                  <a:srgbClr val="121A2E"/>
                </a:solidFill>
                <a:latin typeface="Arial"/>
                <a:ea typeface="Arial"/>
                <a:cs typeface="Arial"/>
              </a:rPr>
              <a:t>Qualification rules: </a:t>
            </a:r>
            <a:r>
              <a:rPr sz="1425" b="0">
                <a:solidFill>
                  <a:srgbClr val="121A2E"/>
                </a:solidFill>
                <a:latin typeface="Arial"/>
                <a:ea typeface="Arial"/>
                <a:cs typeface="Arial"/>
              </a:rPr>
              <a:t>Keep required human marking. Ofqual bars AI as the sole marker.</a:t>
            </a:r>
          </a:p>
          <a:p>
            <a:pPr marL="0" indent="0" algn="l">
              <a:lnSpc>
                <a:spcPct val="105000"/>
              </a:lnSpc>
              <a:spcAft>
                <a:spcPts val="0"/>
              </a:spcAft>
              <a:buNone/>
              <a:defRPr sz="1425" b="0">
                <a:solidFill>
                  <a:srgbClr val="121A2E"/>
                </a:solidFill>
                <a:latin typeface="Arial"/>
                <a:ea typeface="Arial"/>
                <a:cs typeface="Arial"/>
              </a:defRPr>
            </a:pPr>
            <a:r>
              <a:rPr sz="1425" b="1">
                <a:solidFill>
                  <a:srgbClr val="121A2E"/>
                </a:solidFill>
                <a:latin typeface="Arial"/>
                <a:ea typeface="Arial"/>
                <a:cs typeface="Arial"/>
              </a:rPr>
              <a:t>Equality law: </a:t>
            </a:r>
            <a:r>
              <a:rPr sz="1425" b="0">
                <a:solidFill>
                  <a:srgbClr val="121A2E"/>
                </a:solidFill>
                <a:latin typeface="Arial"/>
                <a:ea typeface="Arial"/>
                <a:cs typeface="Arial"/>
              </a:rPr>
              <a:t>Avoid discrimination. Make required adjustments.</a:t>
            </a:r>
          </a:p>
        </p:txBody>
      </p:sp>
    </p:spTree>
    <p:extLst>
      <p:ext uri="{BB962C8B-B14F-4D97-AF65-F5344CB8AC3E}">
        <p14:creationId xmlns:p14="http://schemas.microsoft.com/office/powerpoint/2010/main" val="3156983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FDC75-1C14-4669-16D4-79721196952B}"/>
            </a:ext>
          </a:extLst>
        </p:cNvPr>
        <p:cNvGrpSpPr/>
        <p:nvPr/>
      </p:nvGrpSpPr>
      <p:grpSpPr>
        <a:xfrm>
          <a:off x="0" y="0"/>
          <a:ext cx="0" cy="0"/>
          <a:chOff x="0" y="0"/>
          <a:chExt cx="0" cy="0"/>
        </a:xfrm>
      </p:grpSpPr>
      <p:sp>
        <p:nvSpPr>
          <p:cNvPr id="277" name="Google Shape;277;p9">
            <a:extLst>
              <a:ext uri="{FF2B5EF4-FFF2-40B4-BE49-F238E27FC236}">
                <a16:creationId xmlns:a16="http://schemas.microsoft.com/office/drawing/2014/main" id="{851C3D03-C3AE-1FA7-6DBC-717D8B679EDD}"/>
              </a:ext>
            </a:extLst>
          </p:cNvPr>
          <p:cNvSpPr>
            <a:spLocks noGrp="1"/>
          </p:cNvSpPr>
          <p:nvPr>
            <p:ph type="body" idx="1"/>
          </p:nvPr>
        </p:nvSpPr>
        <p:spPr>
          <a:xfrm>
            <a:off x="330200" y="272288"/>
            <a:ext cx="11655298" cy="296037"/>
          </a:xfrm>
          <a:prstGeom prst="rect">
            <a:avLst/>
          </a:prstGeom>
          <a:noFill/>
          <a:ln>
            <a:noFill/>
          </a:ln>
        </p:spPr>
        <p:txBody>
          <a:bodyPr spcFirstLastPara="1" wrap="square" lIns="19050" tIns="0" rIns="19050" bIns="0" anchor="ctr">
            <a:noAutofit/>
          </a:bodyPr>
          <a:lstStyle/>
          <a:p>
            <a:pPr marL="90487" marR="0" lvl="0" indent="-90487" algn="l">
              <a:lnSpc>
                <a:spcPct val="100000"/>
              </a:lnSpc>
              <a:spcBef>
                <a:spcPts val="0"/>
              </a:spcBef>
              <a:spcAft>
                <a:spcPts val="0"/>
              </a:spcAft>
              <a:buSzPts val="1400"/>
              <a:buNone/>
              <a:defRPr sz="1275" b="1">
                <a:solidFill>
                  <a:srgbClr val="009CD2"/>
                </a:solidFill>
                <a:latin typeface="Arial"/>
                <a:ea typeface="Arial"/>
                <a:cs typeface="Arial"/>
              </a:defRPr>
            </a:pPr>
            <a:r>
              <a:rPr sz="1275" b="1">
                <a:solidFill>
                  <a:srgbClr val="009CD2"/>
                </a:solidFill>
                <a:latin typeface="Arial"/>
                <a:ea typeface="Arial"/>
                <a:cs typeface="Arial"/>
              </a:rPr>
              <a:t>Legal and regulatory requirements</a:t>
            </a:r>
            <a:endParaRPr>
              <a:solidFill>
                <a:srgbClr val="1190CB"/>
              </a:solidFill>
              <a:latin typeface="Montserrat SemiBold"/>
              <a:ea typeface="Montserrat SemiBold"/>
              <a:cs typeface="Montserrat SemiBold"/>
            </a:endParaRPr>
          </a:p>
        </p:txBody>
      </p:sp>
      <p:sp>
        <p:nvSpPr>
          <p:cNvPr id="5" name="Text Placeholder 4">
            <a:extLst>
              <a:ext uri="{FF2B5EF4-FFF2-40B4-BE49-F238E27FC236}">
                <a16:creationId xmlns:a16="http://schemas.microsoft.com/office/drawing/2014/main" id="{B888E9F9-5B11-BF7C-47F8-B0F8A681D394}"/>
              </a:ext>
            </a:extLst>
          </p:cNvPr>
          <p:cNvSpPr>
            <a:spLocks noGrp="1"/>
          </p:cNvSpPr>
          <p:nvPr>
            <p:ph type="body" idx="2"/>
          </p:nvPr>
        </p:nvSpPr>
        <p:spPr>
          <a:xfrm>
            <a:off x="330200" y="626745"/>
            <a:ext cx="11655298" cy="847852"/>
          </a:xfrm>
        </p:spPr>
        <p:txBody>
          <a:bodyPr wrap="square" lIns="0" tIns="0" rIns="38100" bIns="0" anchor="ctr">
            <a:noAutofit/>
          </a:bodyPr>
          <a:lstStyle/>
          <a:p>
            <a:pPr marL="0" indent="0" algn="l">
              <a:buNone/>
              <a:defRPr sz="2700" b="1">
                <a:solidFill>
                  <a:srgbClr val="121A2E"/>
                </a:solidFill>
                <a:latin typeface="Arial"/>
                <a:ea typeface="Arial"/>
                <a:cs typeface="Arial"/>
              </a:defRPr>
            </a:pPr>
            <a:r>
              <a:rPr lang="en-GB" sz="2700" b="1" dirty="0">
                <a:solidFill>
                  <a:srgbClr val="121A2E"/>
                </a:solidFill>
                <a:latin typeface="Arial"/>
                <a:ea typeface="Arial"/>
                <a:cs typeface="Arial"/>
              </a:rPr>
              <a:t>For Gradias we need to comply with key controls and constantly evolve our service and dialogue with entity</a:t>
            </a:r>
            <a:endParaRPr sz="2700" b="1" dirty="0">
              <a:solidFill>
                <a:srgbClr val="121A2E"/>
              </a:solidFill>
              <a:latin typeface="Arial"/>
              <a:ea typeface="Arial"/>
              <a:cs typeface="Arial"/>
            </a:endParaRPr>
          </a:p>
        </p:txBody>
      </p:sp>
      <p:sp>
        <p:nvSpPr>
          <p:cNvPr id="281" name="Google Shape;281;p9">
            <a:extLst>
              <a:ext uri="{FF2B5EF4-FFF2-40B4-BE49-F238E27FC236}">
                <a16:creationId xmlns:a16="http://schemas.microsoft.com/office/drawing/2014/main" id="{EE969B1F-1F14-B778-547F-F17B84A3158F}"/>
              </a:ext>
            </a:extLst>
          </p:cNvPr>
          <p:cNvSpPr>
            <a:spLocks noGrp="1"/>
          </p:cNvSpPr>
          <p:nvPr/>
        </p:nvSpPr>
        <p:spPr>
          <a:xfrm>
            <a:off x="5050265" y="1957600"/>
            <a:ext cx="1640681" cy="519758"/>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75" b="1">
                <a:solidFill>
                  <a:srgbClr val="000000"/>
                </a:solidFill>
                <a:latin typeface="Arial"/>
                <a:ea typeface="Arial"/>
                <a:cs typeface="Arial"/>
              </a:defRPr>
            </a:pPr>
            <a:r>
              <a:rPr lang="en-GB" sz="1875" b="1" i="0" u="none" cap="none" dirty="0">
                <a:solidFill>
                  <a:schemeClr val="bg1"/>
                </a:solidFill>
                <a:latin typeface="Arial"/>
                <a:ea typeface="Arial"/>
                <a:cs typeface="Arial"/>
              </a:rPr>
              <a:t>Source</a:t>
            </a:r>
            <a:endParaRPr sz="1400" b="0" i="0" u="none" cap="none" dirty="0">
              <a:solidFill>
                <a:schemeClr val="bg1"/>
              </a:solidFill>
              <a:latin typeface="Arial"/>
              <a:ea typeface="Arial"/>
              <a:cs typeface="Arial"/>
            </a:endParaRPr>
          </a:p>
        </p:txBody>
      </p:sp>
      <p:sp>
        <p:nvSpPr>
          <p:cNvPr id="2" name="Google Shape;281;p9">
            <a:extLst>
              <a:ext uri="{FF2B5EF4-FFF2-40B4-BE49-F238E27FC236}">
                <a16:creationId xmlns:a16="http://schemas.microsoft.com/office/drawing/2014/main" id="{D4DAF4FA-0B7D-1FFC-05D4-5E8BF1AA0A88}"/>
              </a:ext>
            </a:extLst>
          </p:cNvPr>
          <p:cNvSpPr>
            <a:spLocks noGrp="1"/>
          </p:cNvSpPr>
          <p:nvPr/>
        </p:nvSpPr>
        <p:spPr>
          <a:xfrm>
            <a:off x="6779540" y="1957600"/>
            <a:ext cx="4320000" cy="519758"/>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75" b="1">
                <a:solidFill>
                  <a:srgbClr val="000000"/>
                </a:solidFill>
                <a:latin typeface="Arial"/>
                <a:ea typeface="Arial"/>
                <a:cs typeface="Arial"/>
              </a:defRPr>
            </a:pPr>
            <a:r>
              <a:rPr lang="en-GB" sz="1875" b="1" i="0" u="none" cap="none" dirty="0">
                <a:solidFill>
                  <a:schemeClr val="bg1"/>
                </a:solidFill>
                <a:latin typeface="Arial"/>
                <a:ea typeface="Arial"/>
                <a:cs typeface="Arial"/>
              </a:rPr>
              <a:t>How Gradias will comply</a:t>
            </a:r>
            <a:endParaRPr sz="1400" b="0" i="0" u="none" cap="none" dirty="0">
              <a:solidFill>
                <a:schemeClr val="bg1"/>
              </a:solidFill>
              <a:latin typeface="Arial"/>
              <a:ea typeface="Arial"/>
              <a:cs typeface="Arial"/>
            </a:endParaRPr>
          </a:p>
        </p:txBody>
      </p:sp>
      <p:sp>
        <p:nvSpPr>
          <p:cNvPr id="3" name="Google Shape;281;p9">
            <a:extLst>
              <a:ext uri="{FF2B5EF4-FFF2-40B4-BE49-F238E27FC236}">
                <a16:creationId xmlns:a16="http://schemas.microsoft.com/office/drawing/2014/main" id="{8AB53871-DAF0-4D8E-3AD8-28370930FABF}"/>
              </a:ext>
            </a:extLst>
          </p:cNvPr>
          <p:cNvSpPr>
            <a:spLocks noGrp="1"/>
          </p:cNvSpPr>
          <p:nvPr/>
        </p:nvSpPr>
        <p:spPr>
          <a:xfrm>
            <a:off x="621854" y="1957600"/>
            <a:ext cx="4320000" cy="519758"/>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75" b="1">
                <a:solidFill>
                  <a:srgbClr val="000000"/>
                </a:solidFill>
                <a:latin typeface="Arial"/>
                <a:ea typeface="Arial"/>
                <a:cs typeface="Arial"/>
              </a:defRPr>
            </a:pPr>
            <a:r>
              <a:rPr lang="en-GB" sz="1875" b="1" i="0" u="none" cap="none" dirty="0">
                <a:solidFill>
                  <a:schemeClr val="bg1"/>
                </a:solidFill>
                <a:latin typeface="Arial"/>
                <a:ea typeface="Arial"/>
                <a:cs typeface="Arial"/>
              </a:rPr>
              <a:t>Control</a:t>
            </a:r>
            <a:endParaRPr sz="1400" b="0" i="0" u="none" cap="none" dirty="0">
              <a:solidFill>
                <a:schemeClr val="bg1"/>
              </a:solidFill>
              <a:latin typeface="Arial"/>
              <a:ea typeface="Arial"/>
              <a:cs typeface="Arial"/>
            </a:endParaRPr>
          </a:p>
        </p:txBody>
      </p:sp>
      <p:sp>
        <p:nvSpPr>
          <p:cNvPr id="4" name="Google Shape;281;p9">
            <a:extLst>
              <a:ext uri="{FF2B5EF4-FFF2-40B4-BE49-F238E27FC236}">
                <a16:creationId xmlns:a16="http://schemas.microsoft.com/office/drawing/2014/main" id="{54027D23-A28C-777D-327D-0D4FCBABD961}"/>
              </a:ext>
            </a:extLst>
          </p:cNvPr>
          <p:cNvSpPr>
            <a:spLocks noGrp="1"/>
          </p:cNvSpPr>
          <p:nvPr/>
        </p:nvSpPr>
        <p:spPr>
          <a:xfrm>
            <a:off x="5050265" y="2549616"/>
            <a:ext cx="1640681"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b="0" i="0" u="none" cap="none" dirty="0">
                <a:solidFill>
                  <a:srgbClr val="000000"/>
                </a:solidFill>
                <a:latin typeface="Arial"/>
                <a:ea typeface="Arial"/>
                <a:cs typeface="Arial"/>
              </a:rPr>
              <a:t>GDPR</a:t>
            </a:r>
            <a:endParaRPr sz="1400" b="0" i="0" u="none" cap="none" dirty="0">
              <a:solidFill>
                <a:srgbClr val="000000"/>
              </a:solidFill>
              <a:latin typeface="Arial"/>
              <a:ea typeface="Arial"/>
              <a:cs typeface="Arial"/>
            </a:endParaRPr>
          </a:p>
        </p:txBody>
      </p:sp>
      <p:sp>
        <p:nvSpPr>
          <p:cNvPr id="6" name="Google Shape;281;p9">
            <a:extLst>
              <a:ext uri="{FF2B5EF4-FFF2-40B4-BE49-F238E27FC236}">
                <a16:creationId xmlns:a16="http://schemas.microsoft.com/office/drawing/2014/main" id="{C130A00B-F090-BFB1-DA0E-B316032E039A}"/>
              </a:ext>
            </a:extLst>
          </p:cNvPr>
          <p:cNvSpPr>
            <a:spLocks noGrp="1"/>
          </p:cNvSpPr>
          <p:nvPr/>
        </p:nvSpPr>
        <p:spPr>
          <a:xfrm>
            <a:off x="6779540" y="2549616"/>
            <a:ext cx="4320000"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b="0" i="0" u="none" cap="none" dirty="0">
                <a:solidFill>
                  <a:srgbClr val="000000"/>
                </a:solidFill>
                <a:latin typeface="Arial"/>
                <a:ea typeface="Arial"/>
                <a:cs typeface="Arial"/>
              </a:rPr>
              <a:t>Use standard DPAs with LLM suppliers</a:t>
            </a:r>
            <a:endParaRPr sz="1400" b="0" i="0" u="none" cap="none" dirty="0">
              <a:solidFill>
                <a:srgbClr val="000000"/>
              </a:solidFill>
              <a:latin typeface="Arial"/>
              <a:ea typeface="Arial"/>
              <a:cs typeface="Arial"/>
            </a:endParaRPr>
          </a:p>
        </p:txBody>
      </p:sp>
      <p:sp>
        <p:nvSpPr>
          <p:cNvPr id="7" name="Google Shape;281;p9">
            <a:extLst>
              <a:ext uri="{FF2B5EF4-FFF2-40B4-BE49-F238E27FC236}">
                <a16:creationId xmlns:a16="http://schemas.microsoft.com/office/drawing/2014/main" id="{A198CAA6-B945-DCB5-B7E6-4D59C296D813}"/>
              </a:ext>
            </a:extLst>
          </p:cNvPr>
          <p:cNvSpPr>
            <a:spLocks noGrp="1"/>
          </p:cNvSpPr>
          <p:nvPr/>
        </p:nvSpPr>
        <p:spPr>
          <a:xfrm>
            <a:off x="621854" y="2549616"/>
            <a:ext cx="4320000"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b="1" dirty="0">
                <a:solidFill>
                  <a:srgbClr val="000000"/>
                </a:solidFill>
                <a:latin typeface="Arial"/>
                <a:ea typeface="Arial"/>
                <a:cs typeface="Arial"/>
              </a:rPr>
              <a:t>DPA with sub processors</a:t>
            </a:r>
            <a:endParaRPr sz="1400" b="1" i="0" u="none" cap="none" dirty="0">
              <a:solidFill>
                <a:srgbClr val="000000"/>
              </a:solidFill>
              <a:latin typeface="Arial"/>
              <a:ea typeface="Arial"/>
              <a:cs typeface="Arial"/>
            </a:endParaRPr>
          </a:p>
        </p:txBody>
      </p:sp>
      <p:sp>
        <p:nvSpPr>
          <p:cNvPr id="8" name="Google Shape;281;p9">
            <a:extLst>
              <a:ext uri="{FF2B5EF4-FFF2-40B4-BE49-F238E27FC236}">
                <a16:creationId xmlns:a16="http://schemas.microsoft.com/office/drawing/2014/main" id="{DE9CFA92-38F8-A7A8-E556-720E599F0CEE}"/>
              </a:ext>
            </a:extLst>
          </p:cNvPr>
          <p:cNvSpPr>
            <a:spLocks noGrp="1"/>
          </p:cNvSpPr>
          <p:nvPr/>
        </p:nvSpPr>
        <p:spPr>
          <a:xfrm>
            <a:off x="5050265" y="3069374"/>
            <a:ext cx="1640681"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b="0" i="0" u="none" cap="none" dirty="0">
                <a:solidFill>
                  <a:srgbClr val="000000"/>
                </a:solidFill>
                <a:latin typeface="Arial"/>
                <a:ea typeface="Arial"/>
                <a:cs typeface="Arial"/>
              </a:rPr>
              <a:t>GDPR</a:t>
            </a:r>
            <a:endParaRPr sz="1400" b="0" i="0" u="none" cap="none" dirty="0">
              <a:solidFill>
                <a:srgbClr val="000000"/>
              </a:solidFill>
              <a:latin typeface="Arial"/>
              <a:ea typeface="Arial"/>
              <a:cs typeface="Arial"/>
            </a:endParaRPr>
          </a:p>
        </p:txBody>
      </p:sp>
      <p:sp>
        <p:nvSpPr>
          <p:cNvPr id="9" name="Google Shape;281;p9">
            <a:extLst>
              <a:ext uri="{FF2B5EF4-FFF2-40B4-BE49-F238E27FC236}">
                <a16:creationId xmlns:a16="http://schemas.microsoft.com/office/drawing/2014/main" id="{D32FC5FE-C28B-5522-4073-0FA2B0994BFF}"/>
              </a:ext>
            </a:extLst>
          </p:cNvPr>
          <p:cNvSpPr>
            <a:spLocks noGrp="1"/>
          </p:cNvSpPr>
          <p:nvPr/>
        </p:nvSpPr>
        <p:spPr>
          <a:xfrm>
            <a:off x="6779540" y="3069374"/>
            <a:ext cx="4320000"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dirty="0">
                <a:solidFill>
                  <a:srgbClr val="000000"/>
                </a:solidFill>
                <a:latin typeface="Arial"/>
                <a:ea typeface="Arial"/>
                <a:cs typeface="Arial"/>
              </a:rPr>
              <a:t>Perform</a:t>
            </a:r>
            <a:endParaRPr sz="1400" b="0" i="0" u="none" cap="none" dirty="0">
              <a:solidFill>
                <a:srgbClr val="000000"/>
              </a:solidFill>
              <a:latin typeface="Arial"/>
              <a:ea typeface="Arial"/>
              <a:cs typeface="Arial"/>
            </a:endParaRPr>
          </a:p>
        </p:txBody>
      </p:sp>
      <p:sp>
        <p:nvSpPr>
          <p:cNvPr id="10" name="Google Shape;281;p9">
            <a:extLst>
              <a:ext uri="{FF2B5EF4-FFF2-40B4-BE49-F238E27FC236}">
                <a16:creationId xmlns:a16="http://schemas.microsoft.com/office/drawing/2014/main" id="{BBFF240B-D93B-996F-149D-FE87F21D983D}"/>
              </a:ext>
            </a:extLst>
          </p:cNvPr>
          <p:cNvSpPr>
            <a:spLocks noGrp="1"/>
          </p:cNvSpPr>
          <p:nvPr/>
        </p:nvSpPr>
        <p:spPr>
          <a:xfrm>
            <a:off x="621854" y="3069374"/>
            <a:ext cx="4320000"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b="1" dirty="0">
                <a:solidFill>
                  <a:srgbClr val="000000"/>
                </a:solidFill>
                <a:latin typeface="Arial"/>
                <a:ea typeface="Arial"/>
                <a:cs typeface="Arial"/>
              </a:rPr>
              <a:t>Impact Assessment</a:t>
            </a:r>
            <a:endParaRPr sz="1400" b="1" i="0" u="none" cap="none" dirty="0">
              <a:solidFill>
                <a:srgbClr val="000000"/>
              </a:solidFill>
              <a:latin typeface="Arial"/>
              <a:ea typeface="Arial"/>
              <a:cs typeface="Arial"/>
            </a:endParaRPr>
          </a:p>
        </p:txBody>
      </p:sp>
      <p:sp>
        <p:nvSpPr>
          <p:cNvPr id="11" name="Google Shape;281;p9">
            <a:extLst>
              <a:ext uri="{FF2B5EF4-FFF2-40B4-BE49-F238E27FC236}">
                <a16:creationId xmlns:a16="http://schemas.microsoft.com/office/drawing/2014/main" id="{263A2C5C-1255-81B8-345D-813C53845453}"/>
              </a:ext>
            </a:extLst>
          </p:cNvPr>
          <p:cNvSpPr>
            <a:spLocks noGrp="1"/>
          </p:cNvSpPr>
          <p:nvPr/>
        </p:nvSpPr>
        <p:spPr>
          <a:xfrm>
            <a:off x="5050265" y="3589132"/>
            <a:ext cx="1640681"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b="0" i="0" u="none" cap="none" dirty="0">
                <a:solidFill>
                  <a:srgbClr val="000000"/>
                </a:solidFill>
                <a:latin typeface="Arial"/>
                <a:ea typeface="Arial"/>
                <a:cs typeface="Arial"/>
              </a:rPr>
              <a:t>GDPR</a:t>
            </a:r>
            <a:endParaRPr sz="1400" b="0" i="0" u="none" cap="none" dirty="0">
              <a:solidFill>
                <a:srgbClr val="000000"/>
              </a:solidFill>
              <a:latin typeface="Arial"/>
              <a:ea typeface="Arial"/>
              <a:cs typeface="Arial"/>
            </a:endParaRPr>
          </a:p>
        </p:txBody>
      </p:sp>
      <p:sp>
        <p:nvSpPr>
          <p:cNvPr id="12" name="Google Shape;281;p9">
            <a:extLst>
              <a:ext uri="{FF2B5EF4-FFF2-40B4-BE49-F238E27FC236}">
                <a16:creationId xmlns:a16="http://schemas.microsoft.com/office/drawing/2014/main" id="{8AAE6D6F-C823-5FDB-35F1-1F05DA24C15E}"/>
              </a:ext>
            </a:extLst>
          </p:cNvPr>
          <p:cNvSpPr>
            <a:spLocks noGrp="1"/>
          </p:cNvSpPr>
          <p:nvPr/>
        </p:nvSpPr>
        <p:spPr>
          <a:xfrm>
            <a:off x="6779540" y="3589132"/>
            <a:ext cx="4320000"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b="0" i="0" u="none" cap="none" dirty="0">
                <a:solidFill>
                  <a:srgbClr val="000000"/>
                </a:solidFill>
                <a:latin typeface="Arial"/>
                <a:ea typeface="Arial"/>
                <a:cs typeface="Arial"/>
              </a:rPr>
              <a:t>Via standard terms</a:t>
            </a:r>
            <a:endParaRPr sz="1400" b="0" i="0" u="none" cap="none" dirty="0">
              <a:solidFill>
                <a:srgbClr val="000000"/>
              </a:solidFill>
              <a:latin typeface="Arial"/>
              <a:ea typeface="Arial"/>
              <a:cs typeface="Arial"/>
            </a:endParaRPr>
          </a:p>
        </p:txBody>
      </p:sp>
      <p:sp>
        <p:nvSpPr>
          <p:cNvPr id="13" name="Google Shape;281;p9">
            <a:extLst>
              <a:ext uri="{FF2B5EF4-FFF2-40B4-BE49-F238E27FC236}">
                <a16:creationId xmlns:a16="http://schemas.microsoft.com/office/drawing/2014/main" id="{FBBCC4D7-807C-EEAF-0B44-D631A60E8AB8}"/>
              </a:ext>
            </a:extLst>
          </p:cNvPr>
          <p:cNvSpPr>
            <a:spLocks noGrp="1"/>
          </p:cNvSpPr>
          <p:nvPr/>
        </p:nvSpPr>
        <p:spPr>
          <a:xfrm>
            <a:off x="621854" y="3589132"/>
            <a:ext cx="4320000"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b="1" dirty="0">
                <a:solidFill>
                  <a:srgbClr val="000000"/>
                </a:solidFill>
                <a:latin typeface="Arial"/>
                <a:ea typeface="Arial"/>
                <a:cs typeface="Arial"/>
              </a:rPr>
              <a:t>DPA with School</a:t>
            </a:r>
            <a:endParaRPr sz="1400" b="1" i="0" u="none" cap="none" dirty="0">
              <a:solidFill>
                <a:srgbClr val="000000"/>
              </a:solidFill>
              <a:latin typeface="Arial"/>
              <a:ea typeface="Arial"/>
              <a:cs typeface="Arial"/>
            </a:endParaRPr>
          </a:p>
        </p:txBody>
      </p:sp>
      <p:sp>
        <p:nvSpPr>
          <p:cNvPr id="14" name="Google Shape;281;p9">
            <a:extLst>
              <a:ext uri="{FF2B5EF4-FFF2-40B4-BE49-F238E27FC236}">
                <a16:creationId xmlns:a16="http://schemas.microsoft.com/office/drawing/2014/main" id="{34E81186-7043-B441-B1CE-1B8AB499F892}"/>
              </a:ext>
            </a:extLst>
          </p:cNvPr>
          <p:cNvSpPr>
            <a:spLocks noGrp="1"/>
          </p:cNvSpPr>
          <p:nvPr/>
        </p:nvSpPr>
        <p:spPr>
          <a:xfrm>
            <a:off x="5050265" y="4108890"/>
            <a:ext cx="1640681"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b="0" i="0" u="none" cap="none" dirty="0">
                <a:solidFill>
                  <a:srgbClr val="000000"/>
                </a:solidFill>
                <a:latin typeface="Arial"/>
                <a:ea typeface="Arial"/>
                <a:cs typeface="Arial"/>
              </a:rPr>
              <a:t>GDPR</a:t>
            </a:r>
            <a:endParaRPr sz="1400" b="0" i="0" u="none" cap="none" dirty="0">
              <a:solidFill>
                <a:srgbClr val="000000"/>
              </a:solidFill>
              <a:latin typeface="Arial"/>
              <a:ea typeface="Arial"/>
              <a:cs typeface="Arial"/>
            </a:endParaRPr>
          </a:p>
        </p:txBody>
      </p:sp>
      <p:sp>
        <p:nvSpPr>
          <p:cNvPr id="15" name="Google Shape;281;p9">
            <a:extLst>
              <a:ext uri="{FF2B5EF4-FFF2-40B4-BE49-F238E27FC236}">
                <a16:creationId xmlns:a16="http://schemas.microsoft.com/office/drawing/2014/main" id="{AE14282E-CD9B-3616-664A-5818197EF5DA}"/>
              </a:ext>
            </a:extLst>
          </p:cNvPr>
          <p:cNvSpPr>
            <a:spLocks noGrp="1"/>
          </p:cNvSpPr>
          <p:nvPr/>
        </p:nvSpPr>
        <p:spPr>
          <a:xfrm>
            <a:off x="6779540" y="4108890"/>
            <a:ext cx="4320000"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b="0" i="0" u="none" cap="none" dirty="0">
                <a:solidFill>
                  <a:srgbClr val="000000"/>
                </a:solidFill>
                <a:latin typeface="Arial"/>
                <a:ea typeface="Arial"/>
                <a:cs typeface="Arial"/>
              </a:rPr>
              <a:t>Campaign with support of main authorities</a:t>
            </a:r>
            <a:endParaRPr sz="1400" b="0" i="0" u="none" cap="none" dirty="0">
              <a:solidFill>
                <a:srgbClr val="000000"/>
              </a:solidFill>
              <a:latin typeface="Arial"/>
              <a:ea typeface="Arial"/>
              <a:cs typeface="Arial"/>
            </a:endParaRPr>
          </a:p>
        </p:txBody>
      </p:sp>
      <p:sp>
        <p:nvSpPr>
          <p:cNvPr id="16" name="Google Shape;281;p9">
            <a:extLst>
              <a:ext uri="{FF2B5EF4-FFF2-40B4-BE49-F238E27FC236}">
                <a16:creationId xmlns:a16="http://schemas.microsoft.com/office/drawing/2014/main" id="{58359EE9-BB80-D653-7BC7-96C98160D9F3}"/>
              </a:ext>
            </a:extLst>
          </p:cNvPr>
          <p:cNvSpPr>
            <a:spLocks noGrp="1"/>
          </p:cNvSpPr>
          <p:nvPr/>
        </p:nvSpPr>
        <p:spPr>
          <a:xfrm>
            <a:off x="621854" y="4108890"/>
            <a:ext cx="4320000"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b="1" dirty="0">
                <a:solidFill>
                  <a:srgbClr val="000000"/>
                </a:solidFill>
                <a:latin typeface="Arial"/>
                <a:ea typeface="Arial"/>
                <a:cs typeface="Arial"/>
              </a:rPr>
              <a:t>School authorization</a:t>
            </a:r>
            <a:endParaRPr sz="1400" b="1" i="0" u="none" cap="none" dirty="0">
              <a:solidFill>
                <a:srgbClr val="000000"/>
              </a:solidFill>
              <a:latin typeface="Arial"/>
              <a:ea typeface="Arial"/>
              <a:cs typeface="Arial"/>
            </a:endParaRPr>
          </a:p>
        </p:txBody>
      </p:sp>
      <p:sp>
        <p:nvSpPr>
          <p:cNvPr id="17" name="Google Shape;281;p9">
            <a:extLst>
              <a:ext uri="{FF2B5EF4-FFF2-40B4-BE49-F238E27FC236}">
                <a16:creationId xmlns:a16="http://schemas.microsoft.com/office/drawing/2014/main" id="{4E49445F-5372-A857-8437-B52AACC79459}"/>
              </a:ext>
            </a:extLst>
          </p:cNvPr>
          <p:cNvSpPr>
            <a:spLocks noGrp="1"/>
          </p:cNvSpPr>
          <p:nvPr/>
        </p:nvSpPr>
        <p:spPr>
          <a:xfrm>
            <a:off x="5050265" y="4628648"/>
            <a:ext cx="1640681"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b="0" i="0" u="none" cap="none" dirty="0">
                <a:solidFill>
                  <a:srgbClr val="000000"/>
                </a:solidFill>
                <a:latin typeface="Arial"/>
                <a:ea typeface="Arial"/>
                <a:cs typeface="Arial"/>
              </a:rPr>
              <a:t>AI-Act</a:t>
            </a:r>
            <a:endParaRPr sz="1400" b="0" i="0" u="none" cap="none" dirty="0">
              <a:solidFill>
                <a:srgbClr val="000000"/>
              </a:solidFill>
              <a:latin typeface="Arial"/>
              <a:ea typeface="Arial"/>
              <a:cs typeface="Arial"/>
            </a:endParaRPr>
          </a:p>
        </p:txBody>
      </p:sp>
      <p:sp>
        <p:nvSpPr>
          <p:cNvPr id="18" name="Google Shape;281;p9">
            <a:extLst>
              <a:ext uri="{FF2B5EF4-FFF2-40B4-BE49-F238E27FC236}">
                <a16:creationId xmlns:a16="http://schemas.microsoft.com/office/drawing/2014/main" id="{82DECE19-7C71-CBDD-3FE7-46EE4667BC09}"/>
              </a:ext>
            </a:extLst>
          </p:cNvPr>
          <p:cNvSpPr>
            <a:spLocks noGrp="1"/>
          </p:cNvSpPr>
          <p:nvPr/>
        </p:nvSpPr>
        <p:spPr>
          <a:xfrm>
            <a:off x="6779540" y="4628648"/>
            <a:ext cx="4320000"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b="0" i="0" u="none" cap="none" dirty="0">
                <a:solidFill>
                  <a:srgbClr val="000000"/>
                </a:solidFill>
                <a:latin typeface="Arial"/>
                <a:ea typeface="Arial"/>
                <a:cs typeface="Arial"/>
              </a:rPr>
              <a:t>Use teacher overwrites to assess bias</a:t>
            </a:r>
            <a:endParaRPr sz="1400" b="0" i="0" u="none" cap="none" dirty="0">
              <a:solidFill>
                <a:srgbClr val="000000"/>
              </a:solidFill>
              <a:latin typeface="Arial"/>
              <a:ea typeface="Arial"/>
              <a:cs typeface="Arial"/>
            </a:endParaRPr>
          </a:p>
        </p:txBody>
      </p:sp>
      <p:sp>
        <p:nvSpPr>
          <p:cNvPr id="19" name="Google Shape;281;p9">
            <a:extLst>
              <a:ext uri="{FF2B5EF4-FFF2-40B4-BE49-F238E27FC236}">
                <a16:creationId xmlns:a16="http://schemas.microsoft.com/office/drawing/2014/main" id="{4BFE5C3C-E485-D6F9-A812-B618E35B6C34}"/>
              </a:ext>
            </a:extLst>
          </p:cNvPr>
          <p:cNvSpPr>
            <a:spLocks noGrp="1"/>
          </p:cNvSpPr>
          <p:nvPr/>
        </p:nvSpPr>
        <p:spPr>
          <a:xfrm>
            <a:off x="621854" y="4628648"/>
            <a:ext cx="4320000"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b="1" dirty="0">
                <a:solidFill>
                  <a:srgbClr val="000000"/>
                </a:solidFill>
                <a:latin typeface="Arial"/>
                <a:ea typeface="Arial"/>
                <a:cs typeface="Arial"/>
              </a:rPr>
              <a:t>Evidence Bias free</a:t>
            </a:r>
            <a:endParaRPr sz="1400" b="1" i="0" u="none" cap="none" dirty="0">
              <a:solidFill>
                <a:srgbClr val="000000"/>
              </a:solidFill>
              <a:latin typeface="Arial"/>
              <a:ea typeface="Arial"/>
              <a:cs typeface="Arial"/>
            </a:endParaRPr>
          </a:p>
        </p:txBody>
      </p:sp>
      <p:sp>
        <p:nvSpPr>
          <p:cNvPr id="20" name="Google Shape;281;p9">
            <a:extLst>
              <a:ext uri="{FF2B5EF4-FFF2-40B4-BE49-F238E27FC236}">
                <a16:creationId xmlns:a16="http://schemas.microsoft.com/office/drawing/2014/main" id="{DA7137B8-0F66-E409-AF46-2826D7E999F9}"/>
              </a:ext>
            </a:extLst>
          </p:cNvPr>
          <p:cNvSpPr>
            <a:spLocks noGrp="1"/>
          </p:cNvSpPr>
          <p:nvPr/>
        </p:nvSpPr>
        <p:spPr>
          <a:xfrm>
            <a:off x="5050265" y="5148406"/>
            <a:ext cx="1640681"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b="0" i="0" u="none" cap="none" dirty="0">
                <a:solidFill>
                  <a:srgbClr val="000000"/>
                </a:solidFill>
                <a:latin typeface="Arial"/>
                <a:ea typeface="Arial"/>
                <a:cs typeface="Arial"/>
              </a:rPr>
              <a:t>AI-Act</a:t>
            </a:r>
            <a:endParaRPr sz="1400" b="0" i="0" u="none" cap="none" dirty="0">
              <a:solidFill>
                <a:srgbClr val="000000"/>
              </a:solidFill>
              <a:latin typeface="Arial"/>
              <a:ea typeface="Arial"/>
              <a:cs typeface="Arial"/>
            </a:endParaRPr>
          </a:p>
        </p:txBody>
      </p:sp>
      <p:sp>
        <p:nvSpPr>
          <p:cNvPr id="21" name="Google Shape;281;p9">
            <a:extLst>
              <a:ext uri="{FF2B5EF4-FFF2-40B4-BE49-F238E27FC236}">
                <a16:creationId xmlns:a16="http://schemas.microsoft.com/office/drawing/2014/main" id="{1C300C8C-647D-E1AE-3A16-9A48E0721061}"/>
              </a:ext>
            </a:extLst>
          </p:cNvPr>
          <p:cNvSpPr>
            <a:spLocks noGrp="1"/>
          </p:cNvSpPr>
          <p:nvPr/>
        </p:nvSpPr>
        <p:spPr>
          <a:xfrm>
            <a:off x="6779540" y="5148406"/>
            <a:ext cx="4320000"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b="0" i="0" u="none" cap="none" dirty="0">
                <a:solidFill>
                  <a:srgbClr val="000000"/>
                </a:solidFill>
                <a:latin typeface="Arial"/>
                <a:ea typeface="Arial"/>
                <a:cs typeface="Arial"/>
              </a:rPr>
              <a:t>Evidence teacher is “de facto” always in control</a:t>
            </a:r>
            <a:endParaRPr sz="1400" b="0" i="0" u="none" cap="none" dirty="0">
              <a:solidFill>
                <a:srgbClr val="000000"/>
              </a:solidFill>
              <a:latin typeface="Arial"/>
              <a:ea typeface="Arial"/>
              <a:cs typeface="Arial"/>
            </a:endParaRPr>
          </a:p>
        </p:txBody>
      </p:sp>
      <p:sp>
        <p:nvSpPr>
          <p:cNvPr id="22" name="Google Shape;281;p9">
            <a:extLst>
              <a:ext uri="{FF2B5EF4-FFF2-40B4-BE49-F238E27FC236}">
                <a16:creationId xmlns:a16="http://schemas.microsoft.com/office/drawing/2014/main" id="{E6122D20-90E3-E1C8-41F5-05A354CAD429}"/>
              </a:ext>
            </a:extLst>
          </p:cNvPr>
          <p:cNvSpPr>
            <a:spLocks noGrp="1"/>
          </p:cNvSpPr>
          <p:nvPr/>
        </p:nvSpPr>
        <p:spPr>
          <a:xfrm>
            <a:off x="621854" y="5148406"/>
            <a:ext cx="4320000" cy="519758"/>
          </a:xfrm>
          <a:prstGeom prst="rect">
            <a:avLst/>
          </a:prstGeom>
          <a:solidFill>
            <a:schemeClr val="bg1"/>
          </a:solidFill>
          <a:ln>
            <a:solidFill>
              <a:schemeClr val="bg1"/>
            </a:solidFill>
          </a:ln>
        </p:spPr>
        <p:txBody>
          <a:bodyPr spcFirstLastPara="1" wrap="square" lIns="95250" tIns="38100" rIns="95250" bIns="38100" anchor="ctr">
            <a:noAutofit/>
          </a:bodyPr>
          <a:lstStyle/>
          <a:p>
            <a:pPr marL="0" marR="0" lvl="0" indent="0">
              <a:lnSpc>
                <a:spcPct val="100000"/>
              </a:lnSpc>
              <a:spcBef>
                <a:spcPts val="0"/>
              </a:spcBef>
              <a:spcAft>
                <a:spcPts val="0"/>
              </a:spcAft>
              <a:buClr>
                <a:srgbClr val="000000"/>
              </a:buClr>
              <a:buSzPts val="1600"/>
              <a:buFont typeface="Arial"/>
              <a:buNone/>
              <a:defRPr sz="1875" b="0">
                <a:solidFill>
                  <a:srgbClr val="000000"/>
                </a:solidFill>
                <a:latin typeface="Arial"/>
                <a:ea typeface="Arial"/>
                <a:cs typeface="Arial"/>
              </a:defRPr>
            </a:pPr>
            <a:r>
              <a:rPr lang="en-GB" sz="1875" b="1" dirty="0">
                <a:solidFill>
                  <a:srgbClr val="000000"/>
                </a:solidFill>
                <a:latin typeface="Arial"/>
                <a:ea typeface="Arial"/>
                <a:cs typeface="Arial"/>
              </a:rPr>
              <a:t>Recommendation only</a:t>
            </a:r>
            <a:endParaRPr sz="1400" b="1" i="0" u="none" cap="none" dirty="0">
              <a:solidFill>
                <a:srgbClr val="000000"/>
              </a:solidFill>
              <a:latin typeface="Arial"/>
              <a:ea typeface="Arial"/>
              <a:cs typeface="Arial"/>
            </a:endParaRPr>
          </a:p>
        </p:txBody>
      </p:sp>
    </p:spTree>
    <p:extLst>
      <p:ext uri="{BB962C8B-B14F-4D97-AF65-F5344CB8AC3E}">
        <p14:creationId xmlns:p14="http://schemas.microsoft.com/office/powerpoint/2010/main" val="2553296020"/>
      </p:ext>
    </p:extLst>
  </p:cSld>
  <p:clrMapOvr>
    <a:masterClrMapping/>
  </p:clrMapOvr>
</p:sld>
</file>

<file path=ppt/theme/theme1.xml><?xml version="1.0" encoding="utf-8"?>
<a:theme xmlns:a="http://schemas.openxmlformats.org/drawingml/2006/main" name="Gradias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radias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7A1EE40-4FBB-4728-A86D-76F204907B0B}">
  <we:reference id="wa200010725" version="1.0.0.1" store="en-GB" storeType="OMEX"/>
  <we:alternateReferences>
    <we:reference id="wa200010725" version="1.0.0.1" store="" storeType="OMEX"/>
  </we:alternateReferences>
  <we:properties>
    <we:property name="claude.fileId" value="&quot;852ee17f-e07d-4cc0-8d8a-0057c813a93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1595</Words>
  <Application>Microsoft Office PowerPoint</Application>
  <DocSecurity>0</DocSecurity>
  <PresentationFormat>Widescreen</PresentationFormat>
  <Paragraphs>101</Paragraphs>
  <Slides>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Inter</vt:lpstr>
      <vt:lpstr>Inter Light</vt:lpstr>
      <vt:lpstr>Arial</vt:lpstr>
      <vt:lpstr>Montserrat SemiBold</vt:lpstr>
      <vt:lpstr>Poppins</vt:lpstr>
      <vt:lpstr>Calibri</vt:lpstr>
      <vt:lpstr>Gradias Master</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Michael Burian</cp:lastModifiedBy>
  <cp:revision>4</cp:revision>
  <dcterms:created xsi:type="dcterms:W3CDTF">2026-09-12T08:48:49Z</dcterms:created>
  <dcterms:modified xsi:type="dcterms:W3CDTF">2026-09-12T10:27:10Z</dcterms:modified>
</cp:coreProperties>
</file>